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8" r:id="rId3"/>
    <p:sldId id="299" r:id="rId4"/>
    <p:sldId id="300" r:id="rId5"/>
    <p:sldId id="260" r:id="rId6"/>
    <p:sldId id="281" r:id="rId7"/>
    <p:sldId id="261" r:id="rId8"/>
    <p:sldId id="262" r:id="rId9"/>
    <p:sldId id="257" r:id="rId10"/>
    <p:sldId id="258" r:id="rId11"/>
    <p:sldId id="259" r:id="rId12"/>
    <p:sldId id="263" r:id="rId13"/>
    <p:sldId id="264" r:id="rId14"/>
    <p:sldId id="282" r:id="rId15"/>
    <p:sldId id="289" r:id="rId16"/>
    <p:sldId id="283" r:id="rId17"/>
    <p:sldId id="287" r:id="rId18"/>
    <p:sldId id="288" r:id="rId19"/>
    <p:sldId id="302" r:id="rId20"/>
    <p:sldId id="303" r:id="rId21"/>
    <p:sldId id="273" r:id="rId22"/>
    <p:sldId id="269" r:id="rId23"/>
    <p:sldId id="292" r:id="rId24"/>
    <p:sldId id="265" r:id="rId25"/>
    <p:sldId id="293" r:id="rId26"/>
    <p:sldId id="266" r:id="rId27"/>
    <p:sldId id="267" r:id="rId28"/>
    <p:sldId id="284" r:id="rId29"/>
    <p:sldId id="305" r:id="rId30"/>
    <p:sldId id="271" r:id="rId31"/>
    <p:sldId id="268" r:id="rId32"/>
    <p:sldId id="306" r:id="rId33"/>
    <p:sldId id="285" r:id="rId34"/>
    <p:sldId id="296" r:id="rId35"/>
    <p:sldId id="272" r:id="rId36"/>
    <p:sldId id="294" r:id="rId37"/>
    <p:sldId id="301" r:id="rId38"/>
    <p:sldId id="307" r:id="rId39"/>
    <p:sldId id="274" r:id="rId40"/>
    <p:sldId id="290" r:id="rId41"/>
    <p:sldId id="275" r:id="rId42"/>
    <p:sldId id="276" r:id="rId43"/>
    <p:sldId id="295" r:id="rId44"/>
    <p:sldId id="304" r:id="rId45"/>
    <p:sldId id="277" r:id="rId46"/>
    <p:sldId id="278" r:id="rId47"/>
    <p:sldId id="279" r:id="rId48"/>
    <p:sldId id="297" r:id="rId49"/>
    <p:sldId id="286" r:id="rId50"/>
    <p:sldId id="280" r:id="rId51"/>
    <p:sldId id="308" r:id="rId52"/>
  </p:sldIdLst>
  <p:sldSz cx="12192000" cy="6858000"/>
  <p:notesSz cx="6858000" cy="9144000"/>
  <p:defaultTextStyle>
    <a:defPPr>
      <a:defRPr lang="is-I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B437CD-B141-2AA0-7DB2-403590981A50}" v="351" dt="2025-12-04T13:37:16.961"/>
    <p1510:client id="{35D0FDC9-6F06-4149-678A-BA5CAC61F521}" v="24" dt="2025-12-04T17:11:22.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is-I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is-IS"/>
          </a:p>
        </p:txBody>
      </p:sp>
      <p:sp>
        <p:nvSpPr>
          <p:cNvPr id="4" name="Date Placeholder 3"/>
          <p:cNvSpPr>
            <a:spLocks noGrp="1"/>
          </p:cNvSpPr>
          <p:nvPr>
            <p:ph type="dt" sz="half" idx="10"/>
          </p:nvPr>
        </p:nvSpPr>
        <p:spPr/>
        <p:txBody>
          <a:bodyPr/>
          <a:lstStyle/>
          <a:p>
            <a:fld id="{17DB3530-7515-4B2F-AAC4-38DF0347BCC7}" type="datetimeFigureOut">
              <a:rPr lang="is-IS" smtClean="0"/>
              <a:t>4.12.2025</a:t>
            </a:fld>
            <a:endParaRPr lang="is-IS"/>
          </a:p>
        </p:txBody>
      </p:sp>
      <p:sp>
        <p:nvSpPr>
          <p:cNvPr id="5" name="Footer Placeholder 4"/>
          <p:cNvSpPr>
            <a:spLocks noGrp="1"/>
          </p:cNvSpPr>
          <p:nvPr>
            <p:ph type="ftr" sz="quarter" idx="11"/>
          </p:nvPr>
        </p:nvSpPr>
        <p:spPr/>
        <p:txBody>
          <a:bodyPr/>
          <a:lstStyle/>
          <a:p>
            <a:endParaRPr lang="is-IS"/>
          </a:p>
        </p:txBody>
      </p:sp>
      <p:sp>
        <p:nvSpPr>
          <p:cNvPr id="6" name="Slide Number Placeholder 5"/>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1251450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s-IS"/>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Date Placeholder 3"/>
          <p:cNvSpPr>
            <a:spLocks noGrp="1"/>
          </p:cNvSpPr>
          <p:nvPr>
            <p:ph type="dt" sz="half" idx="10"/>
          </p:nvPr>
        </p:nvSpPr>
        <p:spPr/>
        <p:txBody>
          <a:bodyPr/>
          <a:lstStyle/>
          <a:p>
            <a:fld id="{17DB3530-7515-4B2F-AAC4-38DF0347BCC7}" type="datetimeFigureOut">
              <a:rPr lang="is-IS" smtClean="0"/>
              <a:t>4.12.2025</a:t>
            </a:fld>
            <a:endParaRPr lang="is-IS"/>
          </a:p>
        </p:txBody>
      </p:sp>
      <p:sp>
        <p:nvSpPr>
          <p:cNvPr id="5" name="Footer Placeholder 4"/>
          <p:cNvSpPr>
            <a:spLocks noGrp="1"/>
          </p:cNvSpPr>
          <p:nvPr>
            <p:ph type="ftr" sz="quarter" idx="11"/>
          </p:nvPr>
        </p:nvSpPr>
        <p:spPr/>
        <p:txBody>
          <a:bodyPr/>
          <a:lstStyle/>
          <a:p>
            <a:endParaRPr lang="is-IS"/>
          </a:p>
        </p:txBody>
      </p:sp>
      <p:sp>
        <p:nvSpPr>
          <p:cNvPr id="6" name="Slide Number Placeholder 5"/>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271040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is-I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DB3530-7515-4B2F-AAC4-38DF0347BCC7}" type="datetimeFigureOut">
              <a:rPr lang="is-IS" smtClean="0"/>
              <a:t>4.12.2025</a:t>
            </a:fld>
            <a:endParaRPr lang="is-IS"/>
          </a:p>
        </p:txBody>
      </p:sp>
      <p:sp>
        <p:nvSpPr>
          <p:cNvPr id="5" name="Footer Placeholder 4"/>
          <p:cNvSpPr>
            <a:spLocks noGrp="1"/>
          </p:cNvSpPr>
          <p:nvPr>
            <p:ph type="ftr" sz="quarter" idx="11"/>
          </p:nvPr>
        </p:nvSpPr>
        <p:spPr/>
        <p:txBody>
          <a:bodyPr/>
          <a:lstStyle/>
          <a:p>
            <a:endParaRPr lang="is-IS"/>
          </a:p>
        </p:txBody>
      </p:sp>
      <p:sp>
        <p:nvSpPr>
          <p:cNvPr id="6" name="Slide Number Placeholder 5"/>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005393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s-I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5" name="Date Placeholder 4"/>
          <p:cNvSpPr>
            <a:spLocks noGrp="1"/>
          </p:cNvSpPr>
          <p:nvPr>
            <p:ph type="dt" sz="half" idx="10"/>
          </p:nvPr>
        </p:nvSpPr>
        <p:spPr/>
        <p:txBody>
          <a:bodyPr/>
          <a:lstStyle/>
          <a:p>
            <a:fld id="{17DB3530-7515-4B2F-AAC4-38DF0347BCC7}" type="datetimeFigureOut">
              <a:rPr lang="is-IS" smtClean="0"/>
              <a:t>4.12.2025</a:t>
            </a:fld>
            <a:endParaRPr lang="is-IS"/>
          </a:p>
        </p:txBody>
      </p:sp>
      <p:sp>
        <p:nvSpPr>
          <p:cNvPr id="6" name="Footer Placeholder 5"/>
          <p:cNvSpPr>
            <a:spLocks noGrp="1"/>
          </p:cNvSpPr>
          <p:nvPr>
            <p:ph type="ftr" sz="quarter" idx="11"/>
          </p:nvPr>
        </p:nvSpPr>
        <p:spPr/>
        <p:txBody>
          <a:bodyPr/>
          <a:lstStyle/>
          <a:p>
            <a:endParaRPr lang="is-IS"/>
          </a:p>
        </p:txBody>
      </p:sp>
      <p:sp>
        <p:nvSpPr>
          <p:cNvPr id="7" name="Slide Number Placeholder 6"/>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2908489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is-I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7" name="Date Placeholder 6"/>
          <p:cNvSpPr>
            <a:spLocks noGrp="1"/>
          </p:cNvSpPr>
          <p:nvPr>
            <p:ph type="dt" sz="half" idx="10"/>
          </p:nvPr>
        </p:nvSpPr>
        <p:spPr/>
        <p:txBody>
          <a:bodyPr/>
          <a:lstStyle/>
          <a:p>
            <a:fld id="{17DB3530-7515-4B2F-AAC4-38DF0347BCC7}" type="datetimeFigureOut">
              <a:rPr lang="is-IS" smtClean="0"/>
              <a:t>4.12.2025</a:t>
            </a:fld>
            <a:endParaRPr lang="is-IS"/>
          </a:p>
        </p:txBody>
      </p:sp>
      <p:sp>
        <p:nvSpPr>
          <p:cNvPr id="8" name="Footer Placeholder 7"/>
          <p:cNvSpPr>
            <a:spLocks noGrp="1"/>
          </p:cNvSpPr>
          <p:nvPr>
            <p:ph type="ftr" sz="quarter" idx="11"/>
          </p:nvPr>
        </p:nvSpPr>
        <p:spPr/>
        <p:txBody>
          <a:bodyPr/>
          <a:lstStyle/>
          <a:p>
            <a:endParaRPr lang="is-IS"/>
          </a:p>
        </p:txBody>
      </p:sp>
      <p:sp>
        <p:nvSpPr>
          <p:cNvPr id="9" name="Slide Number Placeholder 8"/>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993045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s-IS"/>
          </a:p>
        </p:txBody>
      </p:sp>
      <p:sp>
        <p:nvSpPr>
          <p:cNvPr id="3" name="Date Placeholder 2"/>
          <p:cNvSpPr>
            <a:spLocks noGrp="1"/>
          </p:cNvSpPr>
          <p:nvPr>
            <p:ph type="dt" sz="half" idx="10"/>
          </p:nvPr>
        </p:nvSpPr>
        <p:spPr/>
        <p:txBody>
          <a:bodyPr/>
          <a:lstStyle/>
          <a:p>
            <a:fld id="{17DB3530-7515-4B2F-AAC4-38DF0347BCC7}" type="datetimeFigureOut">
              <a:rPr lang="is-IS" smtClean="0"/>
              <a:t>4.12.2025</a:t>
            </a:fld>
            <a:endParaRPr lang="is-IS"/>
          </a:p>
        </p:txBody>
      </p:sp>
      <p:sp>
        <p:nvSpPr>
          <p:cNvPr id="4" name="Footer Placeholder 3"/>
          <p:cNvSpPr>
            <a:spLocks noGrp="1"/>
          </p:cNvSpPr>
          <p:nvPr>
            <p:ph type="ftr" sz="quarter" idx="11"/>
          </p:nvPr>
        </p:nvSpPr>
        <p:spPr/>
        <p:txBody>
          <a:bodyPr/>
          <a:lstStyle/>
          <a:p>
            <a:endParaRPr lang="is-IS"/>
          </a:p>
        </p:txBody>
      </p:sp>
      <p:sp>
        <p:nvSpPr>
          <p:cNvPr id="5" name="Slide Number Placeholder 4"/>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665595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DB3530-7515-4B2F-AAC4-38DF0347BCC7}" type="datetimeFigureOut">
              <a:rPr lang="is-IS" smtClean="0"/>
              <a:t>4.12.2025</a:t>
            </a:fld>
            <a:endParaRPr lang="is-IS"/>
          </a:p>
        </p:txBody>
      </p:sp>
      <p:sp>
        <p:nvSpPr>
          <p:cNvPr id="3" name="Footer Placeholder 2"/>
          <p:cNvSpPr>
            <a:spLocks noGrp="1"/>
          </p:cNvSpPr>
          <p:nvPr>
            <p:ph type="ftr" sz="quarter" idx="11"/>
          </p:nvPr>
        </p:nvSpPr>
        <p:spPr/>
        <p:txBody>
          <a:bodyPr/>
          <a:lstStyle/>
          <a:p>
            <a:endParaRPr lang="is-IS"/>
          </a:p>
        </p:txBody>
      </p:sp>
      <p:sp>
        <p:nvSpPr>
          <p:cNvPr id="4" name="Slide Number Placeholder 3"/>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967134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s-I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DB3530-7515-4B2F-AAC4-38DF0347BCC7}" type="datetimeFigureOut">
              <a:rPr lang="is-IS" smtClean="0"/>
              <a:t>4.12.2025</a:t>
            </a:fld>
            <a:endParaRPr lang="is-IS"/>
          </a:p>
        </p:txBody>
      </p:sp>
      <p:sp>
        <p:nvSpPr>
          <p:cNvPr id="6" name="Footer Placeholder 5"/>
          <p:cNvSpPr>
            <a:spLocks noGrp="1"/>
          </p:cNvSpPr>
          <p:nvPr>
            <p:ph type="ftr" sz="quarter" idx="11"/>
          </p:nvPr>
        </p:nvSpPr>
        <p:spPr/>
        <p:txBody>
          <a:bodyPr/>
          <a:lstStyle/>
          <a:p>
            <a:endParaRPr lang="is-IS"/>
          </a:p>
        </p:txBody>
      </p:sp>
      <p:sp>
        <p:nvSpPr>
          <p:cNvPr id="7" name="Slide Number Placeholder 6"/>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1023685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is-I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s-I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DB3530-7515-4B2F-AAC4-38DF0347BCC7}" type="datetimeFigureOut">
              <a:rPr lang="is-IS" smtClean="0"/>
              <a:t>4.12.2025</a:t>
            </a:fld>
            <a:endParaRPr lang="is-IS"/>
          </a:p>
        </p:txBody>
      </p:sp>
      <p:sp>
        <p:nvSpPr>
          <p:cNvPr id="6" name="Footer Placeholder 5"/>
          <p:cNvSpPr>
            <a:spLocks noGrp="1"/>
          </p:cNvSpPr>
          <p:nvPr>
            <p:ph type="ftr" sz="quarter" idx="11"/>
          </p:nvPr>
        </p:nvSpPr>
        <p:spPr/>
        <p:txBody>
          <a:bodyPr/>
          <a:lstStyle/>
          <a:p>
            <a:endParaRPr lang="is-IS"/>
          </a:p>
        </p:txBody>
      </p:sp>
      <p:sp>
        <p:nvSpPr>
          <p:cNvPr id="7" name="Slide Number Placeholder 6"/>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076231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s-IS"/>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Date Placeholder 3"/>
          <p:cNvSpPr>
            <a:spLocks noGrp="1"/>
          </p:cNvSpPr>
          <p:nvPr>
            <p:ph type="dt" sz="half" idx="10"/>
          </p:nvPr>
        </p:nvSpPr>
        <p:spPr/>
        <p:txBody>
          <a:bodyPr/>
          <a:lstStyle/>
          <a:p>
            <a:fld id="{17DB3530-7515-4B2F-AAC4-38DF0347BCC7}" type="datetimeFigureOut">
              <a:rPr lang="is-IS" smtClean="0"/>
              <a:t>4.12.2025</a:t>
            </a:fld>
            <a:endParaRPr lang="is-IS"/>
          </a:p>
        </p:txBody>
      </p:sp>
      <p:sp>
        <p:nvSpPr>
          <p:cNvPr id="5" name="Footer Placeholder 4"/>
          <p:cNvSpPr>
            <a:spLocks noGrp="1"/>
          </p:cNvSpPr>
          <p:nvPr>
            <p:ph type="ftr" sz="quarter" idx="11"/>
          </p:nvPr>
        </p:nvSpPr>
        <p:spPr/>
        <p:txBody>
          <a:bodyPr/>
          <a:lstStyle/>
          <a:p>
            <a:endParaRPr lang="is-IS"/>
          </a:p>
        </p:txBody>
      </p:sp>
      <p:sp>
        <p:nvSpPr>
          <p:cNvPr id="6" name="Slide Number Placeholder 5"/>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329886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is-I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Date Placeholder 3"/>
          <p:cNvSpPr>
            <a:spLocks noGrp="1"/>
          </p:cNvSpPr>
          <p:nvPr>
            <p:ph type="dt" sz="half" idx="10"/>
          </p:nvPr>
        </p:nvSpPr>
        <p:spPr/>
        <p:txBody>
          <a:bodyPr/>
          <a:lstStyle/>
          <a:p>
            <a:fld id="{17DB3530-7515-4B2F-AAC4-38DF0347BCC7}" type="datetimeFigureOut">
              <a:rPr lang="is-IS" smtClean="0"/>
              <a:t>4.12.2025</a:t>
            </a:fld>
            <a:endParaRPr lang="is-IS"/>
          </a:p>
        </p:txBody>
      </p:sp>
      <p:sp>
        <p:nvSpPr>
          <p:cNvPr id="5" name="Footer Placeholder 4"/>
          <p:cNvSpPr>
            <a:spLocks noGrp="1"/>
          </p:cNvSpPr>
          <p:nvPr>
            <p:ph type="ftr" sz="quarter" idx="11"/>
          </p:nvPr>
        </p:nvSpPr>
        <p:spPr/>
        <p:txBody>
          <a:bodyPr/>
          <a:lstStyle/>
          <a:p>
            <a:endParaRPr lang="is-IS"/>
          </a:p>
        </p:txBody>
      </p:sp>
      <p:sp>
        <p:nvSpPr>
          <p:cNvPr id="6" name="Slide Number Placeholder 5"/>
          <p:cNvSpPr>
            <a:spLocks noGrp="1"/>
          </p:cNvSpPr>
          <p:nvPr>
            <p:ph type="sldNum" sz="quarter" idx="12"/>
          </p:nvPr>
        </p:nvSpPr>
        <p:spPr/>
        <p:txBody>
          <a:bodyPr/>
          <a:lstStyle/>
          <a:p>
            <a:fld id="{B0047A03-3328-4F76-AC13-050E1DABDAEC}" type="slidenum">
              <a:rPr lang="is-IS" smtClean="0"/>
              <a:t>‹#›</a:t>
            </a:fld>
            <a:endParaRPr lang="is-IS"/>
          </a:p>
        </p:txBody>
      </p:sp>
    </p:spTree>
    <p:extLst>
      <p:ext uri="{BB962C8B-B14F-4D97-AF65-F5344CB8AC3E}">
        <p14:creationId xmlns:p14="http://schemas.microsoft.com/office/powerpoint/2010/main" val="2481543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is-I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s-I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DB3530-7515-4B2F-AAC4-38DF0347BCC7}" type="datetimeFigureOut">
              <a:rPr lang="is-IS" smtClean="0"/>
              <a:t>4.12.2025</a:t>
            </a:fld>
            <a:endParaRPr lang="is-I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s-I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047A03-3328-4F76-AC13-050E1DABDAEC}" type="slidenum">
              <a:rPr lang="is-IS" smtClean="0"/>
              <a:t>‹#›</a:t>
            </a:fld>
            <a:endParaRPr lang="is-IS"/>
          </a:p>
        </p:txBody>
      </p:sp>
    </p:spTree>
    <p:extLst>
      <p:ext uri="{BB962C8B-B14F-4D97-AF65-F5344CB8AC3E}">
        <p14:creationId xmlns:p14="http://schemas.microsoft.com/office/powerpoint/2010/main" val="1216870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s-I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is-IS" dirty="0"/>
              <a:t>50 ÁHRIFAMIKLIR </a:t>
            </a:r>
            <a:br>
              <a:rPr lang="is-IS" dirty="0"/>
            </a:br>
            <a:r>
              <a:rPr lang="is-IS" dirty="0"/>
              <a:t>EINSTAKLINGAR Í SÖGUNNI</a:t>
            </a:r>
          </a:p>
        </p:txBody>
      </p:sp>
      <p:sp>
        <p:nvSpPr>
          <p:cNvPr id="3" name="Subtitle 2"/>
          <p:cNvSpPr>
            <a:spLocks noGrp="1"/>
          </p:cNvSpPr>
          <p:nvPr>
            <p:ph type="subTitle" idx="1"/>
          </p:nvPr>
        </p:nvSpPr>
        <p:spPr/>
        <p:txBody>
          <a:bodyPr vert="horz" lIns="91440" tIns="45720" rIns="91440" bIns="45720" rtlCol="0" anchor="t">
            <a:normAutofit/>
          </a:bodyPr>
          <a:lstStyle/>
          <a:p>
            <a:r>
              <a:rPr lang="is-IS" dirty="0"/>
              <a:t>MS 2025</a:t>
            </a:r>
            <a:endParaRPr lang="en-US" dirty="0"/>
          </a:p>
        </p:txBody>
      </p:sp>
    </p:spTree>
    <p:extLst>
      <p:ext uri="{BB962C8B-B14F-4D97-AF65-F5344CB8AC3E}">
        <p14:creationId xmlns:p14="http://schemas.microsoft.com/office/powerpoint/2010/main" val="4237944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621" y="31255"/>
            <a:ext cx="10515600" cy="1325563"/>
          </a:xfrm>
        </p:spPr>
        <p:txBody>
          <a:bodyPr/>
          <a:lstStyle/>
          <a:p>
            <a:r>
              <a:rPr lang="is-IS">
                <a:latin typeface="Arial Black" panose="020B0A04020102020204" pitchFamily="34" charset="0"/>
              </a:rPr>
              <a:t>Sókrates</a:t>
            </a:r>
          </a:p>
        </p:txBody>
      </p:sp>
      <p:pic>
        <p:nvPicPr>
          <p:cNvPr id="2050" name="Picture 2" descr="A bust of Socrat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54691" y="677995"/>
            <a:ext cx="4254083" cy="5672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30621" y="1356818"/>
            <a:ext cx="7024070" cy="4524315"/>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Sókrates</a:t>
            </a:r>
            <a:r>
              <a:rPr lang="is-IS">
                <a:latin typeface="Arial" panose="020B0604020202020204" pitchFamily="34" charset="0"/>
                <a:cs typeface="Arial" panose="020B0604020202020204" pitchFamily="34" charset="0"/>
              </a:rPr>
              <a:t> (u.þ.b. 470/469-399 f. Kr.) var </a:t>
            </a:r>
            <a:r>
              <a:rPr lang="is-IS" b="1">
                <a:latin typeface="Arial" panose="020B0604020202020204" pitchFamily="34" charset="0"/>
                <a:cs typeface="Arial" panose="020B0604020202020204" pitchFamily="34" charset="0"/>
              </a:rPr>
              <a:t>grískur</a:t>
            </a:r>
            <a:r>
              <a:rPr lang="is-IS">
                <a:latin typeface="Arial" panose="020B0604020202020204" pitchFamily="34" charset="0"/>
                <a:cs typeface="Arial" panose="020B0604020202020204" pitchFamily="34" charset="0"/>
              </a:rPr>
              <a:t> heimspekingur sem er almennt talinn faðir vestrænnar heimspeki. Allt sem við vitum um heimspeki Sókratesar er í gegnum skrif lærisveina hans einkum </a:t>
            </a:r>
            <a:r>
              <a:rPr lang="is-IS" b="1">
                <a:latin typeface="Arial" panose="020B0604020202020204" pitchFamily="34" charset="0"/>
                <a:cs typeface="Arial" panose="020B0604020202020204" pitchFamily="34" charset="0"/>
              </a:rPr>
              <a:t>Platóns</a:t>
            </a:r>
            <a:r>
              <a:rPr lang="is-IS">
                <a:latin typeface="Arial" panose="020B0604020202020204" pitchFamily="34" charset="0"/>
                <a:cs typeface="Arial" panose="020B0604020202020204" pitchFamily="34" charset="0"/>
              </a:rPr>
              <a:t>. Hann var fæddur í </a:t>
            </a:r>
            <a:r>
              <a:rPr lang="is-IS" b="1">
                <a:latin typeface="Arial" panose="020B0604020202020204" pitchFamily="34" charset="0"/>
                <a:cs typeface="Arial" panose="020B0604020202020204" pitchFamily="34" charset="0"/>
              </a:rPr>
              <a:t>Aþenu</a:t>
            </a:r>
            <a:r>
              <a:rPr lang="is-IS">
                <a:latin typeface="Arial" panose="020B0604020202020204" pitchFamily="34" charset="0"/>
                <a:cs typeface="Arial" panose="020B0604020202020204" pitchFamily="34" charset="0"/>
              </a:rPr>
              <a:t> og lifði á gullaldarskeiði borgarinnar. Forverar Sókratesar höfðu pælt meira í eðli alheimsins en Sókratesi var meira hugleikin mannleg hegðun. Hann er jafnframt upphafsmaður gagnrýnnar hugsunar en fyrir vikið varð hann óvinsæll af ráðamönnum í Aþenu. Gamanleikjaskáldið </a:t>
            </a:r>
            <a:r>
              <a:rPr lang="is-IS" b="1">
                <a:latin typeface="Arial" panose="020B0604020202020204" pitchFamily="34" charset="0"/>
                <a:cs typeface="Arial" panose="020B0604020202020204" pitchFamily="34" charset="0"/>
              </a:rPr>
              <a:t>Aristófanis</a:t>
            </a:r>
            <a:r>
              <a:rPr lang="is-IS">
                <a:latin typeface="Arial" panose="020B0604020202020204" pitchFamily="34" charset="0"/>
                <a:cs typeface="Arial" panose="020B0604020202020204" pitchFamily="34" charset="0"/>
              </a:rPr>
              <a:t> samdi leikritið </a:t>
            </a:r>
            <a:r>
              <a:rPr lang="is-IS" b="1">
                <a:latin typeface="Arial" panose="020B0604020202020204" pitchFamily="34" charset="0"/>
                <a:cs typeface="Arial" panose="020B0604020202020204" pitchFamily="34" charset="0"/>
              </a:rPr>
              <a:t>Skýin</a:t>
            </a:r>
            <a:r>
              <a:rPr lang="is-IS">
                <a:latin typeface="Arial" panose="020B0604020202020204" pitchFamily="34" charset="0"/>
                <a:cs typeface="Arial" panose="020B0604020202020204" pitchFamily="34" charset="0"/>
              </a:rPr>
              <a:t> (423 f.Kr.) þar sem hann hafði Sókrates að háði. Að lokum var hann handtekinn og dæmdur fyrir að spilla ungdómnum í Aþenu árið 399 f.Kr. Hann var dæmdur til að taka inn </a:t>
            </a:r>
            <a:r>
              <a:rPr lang="is-IS" b="1">
                <a:latin typeface="Arial" panose="020B0604020202020204" pitchFamily="34" charset="0"/>
                <a:cs typeface="Arial" panose="020B0604020202020204" pitchFamily="34" charset="0"/>
              </a:rPr>
              <a:t>eitur – óðjurtarseyði -</a:t>
            </a:r>
            <a:r>
              <a:rPr lang="is-IS">
                <a:latin typeface="Arial" panose="020B0604020202020204" pitchFamily="34" charset="0"/>
                <a:cs typeface="Arial" panose="020B0604020202020204" pitchFamily="34" charset="0"/>
              </a:rPr>
              <a:t> og dó.</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Sókrates var giftur og átti þrjú börn. Kona hans hét </a:t>
            </a:r>
            <a:r>
              <a:rPr lang="is-IS" b="1">
                <a:latin typeface="Arial" panose="020B0604020202020204" pitchFamily="34" charset="0"/>
                <a:cs typeface="Arial" panose="020B0604020202020204" pitchFamily="34" charset="0"/>
              </a:rPr>
              <a:t>Xanþippa</a:t>
            </a:r>
            <a:r>
              <a:rPr lang="is-IS">
                <a:latin typeface="Arial" panose="020B0604020202020204" pitchFamily="34" charset="0"/>
                <a:cs typeface="Arial" panose="020B0604020202020204" pitchFamily="34" charset="0"/>
              </a:rPr>
              <a:t> en henni var lýst sem strangri og stundum skapvondri. Honum er eignað að hafa sagt: „Það eina sem ég veit er að ég veit ekki neitt“.</a:t>
            </a:r>
          </a:p>
        </p:txBody>
      </p:sp>
    </p:spTree>
    <p:extLst>
      <p:ext uri="{BB962C8B-B14F-4D97-AF65-F5344CB8AC3E}">
        <p14:creationId xmlns:p14="http://schemas.microsoft.com/office/powerpoint/2010/main" val="3883709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1433"/>
            <a:ext cx="10515600" cy="1325563"/>
          </a:xfrm>
        </p:spPr>
        <p:txBody>
          <a:bodyPr/>
          <a:lstStyle/>
          <a:p>
            <a:r>
              <a:rPr lang="is-IS">
                <a:latin typeface="Arial Black" panose="020B0A04020102020204" pitchFamily="34" charset="0"/>
              </a:rPr>
              <a:t>Platón</a:t>
            </a:r>
          </a:p>
        </p:txBody>
      </p:sp>
      <p:pic>
        <p:nvPicPr>
          <p:cNvPr id="3076" name="Picture 4" descr="Plato Silanion Musei Capitolini MC1377.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50911" y="948690"/>
            <a:ext cx="3668110" cy="55021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8200" y="948690"/>
            <a:ext cx="6847490" cy="535531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Platón</a:t>
            </a:r>
            <a:r>
              <a:rPr lang="is-IS">
                <a:latin typeface="Arial" panose="020B0604020202020204" pitchFamily="34" charset="0"/>
                <a:cs typeface="Arial" panose="020B0604020202020204" pitchFamily="34" charset="0"/>
              </a:rPr>
              <a:t> (428/427-348/347 f. Kr.) var </a:t>
            </a:r>
            <a:r>
              <a:rPr lang="is-IS" b="1">
                <a:latin typeface="Arial" panose="020B0604020202020204" pitchFamily="34" charset="0"/>
                <a:cs typeface="Arial" panose="020B0604020202020204" pitchFamily="34" charset="0"/>
              </a:rPr>
              <a:t>grískur</a:t>
            </a:r>
            <a:r>
              <a:rPr lang="is-IS">
                <a:latin typeface="Arial" panose="020B0604020202020204" pitchFamily="34" charset="0"/>
                <a:cs typeface="Arial" panose="020B0604020202020204" pitchFamily="34" charset="0"/>
              </a:rPr>
              <a:t> heimspekingur og þekktasti lærisveinn </a:t>
            </a:r>
            <a:r>
              <a:rPr lang="is-IS" b="1">
                <a:latin typeface="Arial" panose="020B0604020202020204" pitchFamily="34" charset="0"/>
                <a:cs typeface="Arial" panose="020B0604020202020204" pitchFamily="34" charset="0"/>
              </a:rPr>
              <a:t>Sókratesar</a:t>
            </a:r>
            <a:r>
              <a:rPr lang="is-IS">
                <a:latin typeface="Arial" panose="020B0604020202020204" pitchFamily="34" charset="0"/>
                <a:cs typeface="Arial" panose="020B0604020202020204" pitchFamily="34" charset="0"/>
              </a:rPr>
              <a:t>. Elstu varðveittu heimspekirit heims eru verk Platóns. Í verkum Platóns er Sókrates jafnan í aðalhlutverki en umdeilanlegt er hvað var frá Sókratesi sjálfum og hvað frá Platóni. Platón samdi 24 samræður og frægast eru </a:t>
            </a:r>
            <a:r>
              <a:rPr lang="is-IS" b="1">
                <a:latin typeface="Arial" panose="020B0604020202020204" pitchFamily="34" charset="0"/>
                <a:cs typeface="Arial" panose="020B0604020202020204" pitchFamily="34" charset="0"/>
              </a:rPr>
              <a:t>Málsvörn Sókratesar</a:t>
            </a:r>
            <a:r>
              <a:rPr lang="is-IS">
                <a:latin typeface="Arial" panose="020B0604020202020204" pitchFamily="34" charset="0"/>
                <a:cs typeface="Arial" panose="020B0604020202020204" pitchFamily="34" charset="0"/>
              </a:rPr>
              <a:t>, þar sem er að finna varnarræðu Sókratesar við réttarhöld sín, </a:t>
            </a:r>
            <a:r>
              <a:rPr lang="is-IS" b="1">
                <a:latin typeface="Arial" panose="020B0604020202020204" pitchFamily="34" charset="0"/>
                <a:cs typeface="Arial" panose="020B0604020202020204" pitchFamily="34" charset="0"/>
              </a:rPr>
              <a:t>Ríkið</a:t>
            </a:r>
            <a:r>
              <a:rPr lang="is-IS">
                <a:latin typeface="Arial" panose="020B0604020202020204" pitchFamily="34" charset="0"/>
                <a:cs typeface="Arial" panose="020B0604020202020204" pitchFamily="34" charset="0"/>
              </a:rPr>
              <a:t>, sem fjallar aðallega um eðli réttlætisins, og </a:t>
            </a:r>
            <a:r>
              <a:rPr lang="is-IS" b="1">
                <a:latin typeface="Arial" panose="020B0604020202020204" pitchFamily="34" charset="0"/>
                <a:cs typeface="Arial" panose="020B0604020202020204" pitchFamily="34" charset="0"/>
              </a:rPr>
              <a:t>Samdrykkjan</a:t>
            </a:r>
            <a:r>
              <a:rPr lang="is-IS">
                <a:latin typeface="Arial" panose="020B0604020202020204" pitchFamily="34" charset="0"/>
                <a:cs typeface="Arial" panose="020B0604020202020204" pitchFamily="34" charset="0"/>
              </a:rPr>
              <a:t> þar sem ástin er umfjöllunarefnið. Aðrar samræður heita m.a. </a:t>
            </a:r>
            <a:r>
              <a:rPr lang="is-IS" i="1">
                <a:latin typeface="Arial" panose="020B0604020202020204" pitchFamily="34" charset="0"/>
                <a:cs typeface="Arial" panose="020B0604020202020204" pitchFamily="34" charset="0"/>
              </a:rPr>
              <a:t>Faídon</a:t>
            </a:r>
            <a:r>
              <a:rPr lang="is-IS">
                <a:latin typeface="Arial" panose="020B0604020202020204" pitchFamily="34" charset="0"/>
                <a:cs typeface="Arial" panose="020B0604020202020204" pitchFamily="34" charset="0"/>
              </a:rPr>
              <a:t>, </a:t>
            </a:r>
            <a:r>
              <a:rPr lang="is-IS" i="1">
                <a:latin typeface="Arial" panose="020B0604020202020204" pitchFamily="34" charset="0"/>
                <a:cs typeface="Arial" panose="020B0604020202020204" pitchFamily="34" charset="0"/>
              </a:rPr>
              <a:t>Lakkes</a:t>
            </a:r>
            <a:r>
              <a:rPr lang="is-IS">
                <a:latin typeface="Arial" panose="020B0604020202020204" pitchFamily="34" charset="0"/>
                <a:cs typeface="Arial" panose="020B0604020202020204" pitchFamily="34" charset="0"/>
              </a:rPr>
              <a:t>, </a:t>
            </a:r>
            <a:r>
              <a:rPr lang="is-IS" i="1">
                <a:latin typeface="Arial" panose="020B0604020202020204" pitchFamily="34" charset="0"/>
                <a:cs typeface="Arial" panose="020B0604020202020204" pitchFamily="34" charset="0"/>
              </a:rPr>
              <a:t>Evþýfrón</a:t>
            </a:r>
            <a:r>
              <a:rPr lang="is-IS">
                <a:latin typeface="Arial" panose="020B0604020202020204" pitchFamily="34" charset="0"/>
                <a:cs typeface="Arial" panose="020B0604020202020204" pitchFamily="34" charset="0"/>
              </a:rPr>
              <a:t>, </a:t>
            </a:r>
            <a:r>
              <a:rPr lang="is-IS" i="1">
                <a:latin typeface="Arial" panose="020B0604020202020204" pitchFamily="34" charset="0"/>
                <a:cs typeface="Arial" panose="020B0604020202020204" pitchFamily="34" charset="0"/>
              </a:rPr>
              <a:t>Þeaítetos</a:t>
            </a:r>
            <a:r>
              <a:rPr lang="is-IS">
                <a:latin typeface="Arial" panose="020B0604020202020204" pitchFamily="34" charset="0"/>
                <a:cs typeface="Arial" panose="020B0604020202020204" pitchFamily="34" charset="0"/>
              </a:rPr>
              <a:t>, </a:t>
            </a:r>
            <a:r>
              <a:rPr lang="is-IS" i="1">
                <a:latin typeface="Arial" panose="020B0604020202020204" pitchFamily="34" charset="0"/>
                <a:cs typeface="Arial" panose="020B0604020202020204" pitchFamily="34" charset="0"/>
              </a:rPr>
              <a:t>Parmaneídes</a:t>
            </a:r>
            <a:r>
              <a:rPr lang="is-IS">
                <a:latin typeface="Arial" panose="020B0604020202020204" pitchFamily="34" charset="0"/>
                <a:cs typeface="Arial" panose="020B0604020202020204" pitchFamily="34" charset="0"/>
              </a:rPr>
              <a:t> og </a:t>
            </a:r>
            <a:r>
              <a:rPr lang="is-IS" i="1">
                <a:latin typeface="Arial" panose="020B0604020202020204" pitchFamily="34" charset="0"/>
                <a:cs typeface="Arial" panose="020B0604020202020204" pitchFamily="34" charset="0"/>
              </a:rPr>
              <a:t>Tímaíos</a:t>
            </a:r>
            <a:r>
              <a:rPr lang="is-IS">
                <a:latin typeface="Arial" panose="020B0604020202020204" pitchFamily="34" charset="0"/>
                <a:cs typeface="Arial" panose="020B0604020202020204" pitchFamily="34" charset="0"/>
              </a:rPr>
              <a:t>.</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Hann kom á fót skóla sem kallaðist </a:t>
            </a:r>
            <a:r>
              <a:rPr lang="is-IS" b="1">
                <a:latin typeface="Arial" panose="020B0604020202020204" pitchFamily="34" charset="0"/>
                <a:cs typeface="Arial" panose="020B0604020202020204" pitchFamily="34" charset="0"/>
              </a:rPr>
              <a:t>Akademía</a:t>
            </a:r>
            <a:r>
              <a:rPr lang="is-IS">
                <a:latin typeface="Arial" panose="020B0604020202020204" pitchFamily="34" charset="0"/>
                <a:cs typeface="Arial" panose="020B0604020202020204" pitchFamily="34" charset="0"/>
              </a:rPr>
              <a:t> eftir húsinu þar sem hann bjó en af því er hugtakið akademía dregið.</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Þekktasta kenning Platóns er </a:t>
            </a:r>
            <a:r>
              <a:rPr lang="is-IS" b="1">
                <a:latin typeface="Arial" panose="020B0604020202020204" pitchFamily="34" charset="0"/>
                <a:cs typeface="Arial" panose="020B0604020202020204" pitchFamily="34" charset="0"/>
              </a:rPr>
              <a:t>frummyndakenningin</a:t>
            </a:r>
            <a:r>
              <a:rPr lang="is-IS">
                <a:latin typeface="Arial" panose="020B0604020202020204" pitchFamily="34" charset="0"/>
                <a:cs typeface="Arial" panose="020B0604020202020204" pitchFamily="34" charset="0"/>
              </a:rPr>
              <a:t> en samkvæmt henni er efnisheimurinn okkar aðeins léleg eftirliking af óbreytanlegum óhlutbundnum frummyndum sem eru utan tíma og rúms og verða ekki skynjaðar með skynfærum en sem mögulegt er að kanna og skilja með hugsun.</a:t>
            </a:r>
          </a:p>
        </p:txBody>
      </p:sp>
    </p:spTree>
    <p:extLst>
      <p:ext uri="{BB962C8B-B14F-4D97-AF65-F5344CB8AC3E}">
        <p14:creationId xmlns:p14="http://schemas.microsoft.com/office/powerpoint/2010/main" val="2807320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179" y="0"/>
            <a:ext cx="10904620" cy="1325563"/>
          </a:xfrm>
        </p:spPr>
        <p:txBody>
          <a:bodyPr/>
          <a:lstStyle/>
          <a:p>
            <a:r>
              <a:rPr lang="is-IS">
                <a:latin typeface="Arial Black" panose="020B0A04020102020204" pitchFamily="34" charset="0"/>
              </a:rPr>
              <a:t>Aristóteles</a:t>
            </a:r>
          </a:p>
        </p:txBody>
      </p:sp>
      <p:pic>
        <p:nvPicPr>
          <p:cNvPr id="4100" name="Picture 4" descr="Aristotle Altemps Inv8575.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42747" y="1090862"/>
            <a:ext cx="4056175" cy="543020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9179" y="1357646"/>
            <a:ext cx="7393568" cy="4524315"/>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Aristóteles</a:t>
            </a:r>
            <a:r>
              <a:rPr lang="is-IS">
                <a:latin typeface="Arial" panose="020B0604020202020204" pitchFamily="34" charset="0"/>
                <a:cs typeface="Arial" panose="020B0604020202020204" pitchFamily="34" charset="0"/>
              </a:rPr>
              <a:t> (384-322 f.Kr) var </a:t>
            </a:r>
            <a:r>
              <a:rPr lang="is-IS" b="1">
                <a:latin typeface="Arial" panose="020B0604020202020204" pitchFamily="34" charset="0"/>
                <a:cs typeface="Arial" panose="020B0604020202020204" pitchFamily="34" charset="0"/>
              </a:rPr>
              <a:t>grískur</a:t>
            </a:r>
            <a:r>
              <a:rPr lang="is-IS">
                <a:latin typeface="Arial" panose="020B0604020202020204" pitchFamily="34" charset="0"/>
                <a:cs typeface="Arial" panose="020B0604020202020204" pitchFamily="34" charset="0"/>
              </a:rPr>
              <a:t> heimspekingur sem var fæddur í Makedónísku borginni </a:t>
            </a:r>
            <a:r>
              <a:rPr lang="is-IS" b="1">
                <a:latin typeface="Arial" panose="020B0604020202020204" pitchFamily="34" charset="0"/>
                <a:cs typeface="Arial" panose="020B0604020202020204" pitchFamily="34" charset="0"/>
              </a:rPr>
              <a:t>Stagíru</a:t>
            </a:r>
            <a:r>
              <a:rPr lang="is-IS">
                <a:latin typeface="Arial" panose="020B0604020202020204" pitchFamily="34" charset="0"/>
                <a:cs typeface="Arial" panose="020B0604020202020204" pitchFamily="34" charset="0"/>
              </a:rPr>
              <a:t>. Faðir hans, </a:t>
            </a:r>
            <a:r>
              <a:rPr lang="is-IS" b="1">
                <a:latin typeface="Arial" panose="020B0604020202020204" pitchFamily="34" charset="0"/>
                <a:cs typeface="Arial" panose="020B0604020202020204" pitchFamily="34" charset="0"/>
              </a:rPr>
              <a:t>Nikomakkus</a:t>
            </a:r>
            <a:r>
              <a:rPr lang="is-IS">
                <a:latin typeface="Arial" panose="020B0604020202020204" pitchFamily="34" charset="0"/>
                <a:cs typeface="Arial" panose="020B0604020202020204" pitchFamily="34" charset="0"/>
              </a:rPr>
              <a:t>, var hirðlæknir Makedóníukonungs og vegna þeirra tengsla varð Aristóteles síðar einkakennari </a:t>
            </a:r>
            <a:r>
              <a:rPr lang="is-IS" b="1">
                <a:latin typeface="Arial" panose="020B0604020202020204" pitchFamily="34" charset="0"/>
                <a:cs typeface="Arial" panose="020B0604020202020204" pitchFamily="34" charset="0"/>
              </a:rPr>
              <a:t>Alexanders mikla</a:t>
            </a:r>
            <a:r>
              <a:rPr lang="is-IS">
                <a:latin typeface="Arial" panose="020B0604020202020204" pitchFamily="34" charset="0"/>
                <a:cs typeface="Arial" panose="020B0604020202020204" pitchFamily="34" charset="0"/>
              </a:rPr>
              <a:t>. Sem ungur maður nam hann við </a:t>
            </a:r>
            <a:r>
              <a:rPr lang="is-IS" b="1">
                <a:latin typeface="Arial" panose="020B0604020202020204" pitchFamily="34" charset="0"/>
                <a:cs typeface="Arial" panose="020B0604020202020204" pitchFamily="34" charset="0"/>
              </a:rPr>
              <a:t>Akademíu</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Platóns</a:t>
            </a:r>
            <a:r>
              <a:rPr lang="is-IS">
                <a:latin typeface="Arial" panose="020B0604020202020204" pitchFamily="34" charset="0"/>
                <a:cs typeface="Arial" panose="020B0604020202020204" pitchFamily="34" charset="0"/>
              </a:rPr>
              <a:t> og er því lærisveinn hans. Hann stofnaði síðar sinn eigin skóla, </a:t>
            </a:r>
            <a:r>
              <a:rPr lang="is-IS" b="1">
                <a:latin typeface="Arial" panose="020B0604020202020204" pitchFamily="34" charset="0"/>
                <a:cs typeface="Arial" panose="020B0604020202020204" pitchFamily="34" charset="0"/>
              </a:rPr>
              <a:t>Lýkeion</a:t>
            </a:r>
            <a:r>
              <a:rPr lang="is-IS">
                <a:latin typeface="Arial" panose="020B0604020202020204" pitchFamily="34" charset="0"/>
                <a:cs typeface="Arial" panose="020B0604020202020204" pitchFamily="34" charset="0"/>
              </a:rPr>
              <a:t>. Þó Aristóteles væri lærisveinn Platóns þá var hann ósammála sumu af því sem Platón hélt fram m.a. hugmynd Platóns um að heimurinn væri tvískiptur, sjá frummyndakenningin. Aristóteles taldi að hægt væri að skilja heiminn með rannsóknum og tilraunum. Hann var gríðarlega afkastamikill á mörgum ólíkum sviðum s.s. rökfræði, eðlisfræði, veðurfræði og siðfræði. Kenningar Aristóteles voru varðveittar meðal araba og voru grunnur að vísindalegum skilningi manna í Evrópu í kjölfar endurreisnarinnar á 15. öld og í raun alveg fram á 19. öld þega kenningar hans fóru að láta undan fyrir nýrri þekkingu. Hans þekktustu verk eru </a:t>
            </a:r>
            <a:r>
              <a:rPr lang="is-IS" b="1">
                <a:latin typeface="Arial" panose="020B0604020202020204" pitchFamily="34" charset="0"/>
                <a:cs typeface="Arial" panose="020B0604020202020204" pitchFamily="34" charset="0"/>
              </a:rPr>
              <a:t>Siðfræði Níkomakkusar</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Stjórnspeki</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Um</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skáldskaparlistina</a:t>
            </a:r>
            <a:r>
              <a:rPr lang="is-I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84102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a:latin typeface="Arial Black" panose="020B0A04020102020204" pitchFamily="34" charset="0"/>
              </a:rPr>
              <a:t>Alexander mikli</a:t>
            </a:r>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9903" y="1573664"/>
            <a:ext cx="6528855" cy="3909615"/>
          </a:xfrm>
        </p:spPr>
      </p:pic>
      <p:sp>
        <p:nvSpPr>
          <p:cNvPr id="7" name="TextBox 6"/>
          <p:cNvSpPr txBox="1"/>
          <p:nvPr/>
        </p:nvSpPr>
        <p:spPr>
          <a:xfrm>
            <a:off x="7367055" y="1512961"/>
            <a:ext cx="4227786"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Alexander mikli </a:t>
            </a:r>
            <a:r>
              <a:rPr lang="is-IS">
                <a:latin typeface="Arial" panose="020B0604020202020204" pitchFamily="34" charset="0"/>
                <a:cs typeface="Arial" panose="020B0604020202020204" pitchFamily="34" charset="0"/>
              </a:rPr>
              <a:t>(356-323 f. Kr.) var konungur </a:t>
            </a:r>
            <a:r>
              <a:rPr lang="is-IS" b="1">
                <a:latin typeface="Arial" panose="020B0604020202020204" pitchFamily="34" charset="0"/>
                <a:cs typeface="Arial" panose="020B0604020202020204" pitchFamily="34" charset="0"/>
              </a:rPr>
              <a:t>Makedóníu</a:t>
            </a:r>
            <a:r>
              <a:rPr lang="is-IS">
                <a:latin typeface="Arial" panose="020B0604020202020204" pitchFamily="34" charset="0"/>
                <a:cs typeface="Arial" panose="020B0604020202020204" pitchFamily="34" charset="0"/>
              </a:rPr>
              <a:t> frá 336 til dauðadags. </a:t>
            </a:r>
            <a:r>
              <a:rPr lang="is-IS" b="1">
                <a:latin typeface="Arial" panose="020B0604020202020204" pitchFamily="34" charset="0"/>
                <a:cs typeface="Arial" panose="020B0604020202020204" pitchFamily="34" charset="0"/>
              </a:rPr>
              <a:t>Aristóteles</a:t>
            </a:r>
            <a:r>
              <a:rPr lang="is-IS">
                <a:latin typeface="Arial" panose="020B0604020202020204" pitchFamily="34" charset="0"/>
                <a:cs typeface="Arial" panose="020B0604020202020204" pitchFamily="34" charset="0"/>
              </a:rPr>
              <a:t> var einkakennari hans. Í herferðum 334-323 lagði hann undir sig allt ríki </a:t>
            </a:r>
            <a:r>
              <a:rPr lang="is-IS" b="1">
                <a:latin typeface="Arial" panose="020B0604020202020204" pitchFamily="34" charset="0"/>
                <a:cs typeface="Arial" panose="020B0604020202020204" pitchFamily="34" charset="0"/>
              </a:rPr>
              <a:t>Persa</a:t>
            </a:r>
            <a:r>
              <a:rPr lang="is-IS">
                <a:latin typeface="Arial" panose="020B0604020202020204" pitchFamily="34" charset="0"/>
                <a:cs typeface="Arial" panose="020B0604020202020204" pitchFamily="34" charset="0"/>
              </a:rPr>
              <a:t> og gerði ríki sitt að risaveldi. Í Egyptalandi lét hann reisa borgina </a:t>
            </a:r>
            <a:r>
              <a:rPr lang="is-IS" b="1">
                <a:latin typeface="Arial" panose="020B0604020202020204" pitchFamily="34" charset="0"/>
                <a:cs typeface="Arial" panose="020B0604020202020204" pitchFamily="34" charset="0"/>
              </a:rPr>
              <a:t>Alexandríu</a:t>
            </a:r>
            <a:r>
              <a:rPr lang="is-IS">
                <a:latin typeface="Arial" panose="020B0604020202020204" pitchFamily="34" charset="0"/>
                <a:cs typeface="Arial" panose="020B0604020202020204" pitchFamily="34" charset="0"/>
              </a:rPr>
              <a:t>. Hans þekktustu sigrar voru orusturnar við </a:t>
            </a:r>
            <a:r>
              <a:rPr lang="is-IS" b="1">
                <a:latin typeface="Arial" panose="020B0604020202020204" pitchFamily="34" charset="0"/>
                <a:cs typeface="Arial" panose="020B0604020202020204" pitchFamily="34" charset="0"/>
              </a:rPr>
              <a:t>Issus</a:t>
            </a:r>
            <a:r>
              <a:rPr lang="is-IS">
                <a:latin typeface="Arial" panose="020B0604020202020204" pitchFamily="34" charset="0"/>
                <a:cs typeface="Arial" panose="020B0604020202020204" pitchFamily="34" charset="0"/>
              </a:rPr>
              <a:t> 333 og </a:t>
            </a:r>
            <a:r>
              <a:rPr lang="is-IS" b="1">
                <a:latin typeface="Arial" panose="020B0604020202020204" pitchFamily="34" charset="0"/>
                <a:cs typeface="Arial" panose="020B0604020202020204" pitchFamily="34" charset="0"/>
              </a:rPr>
              <a:t>Gaugamela</a:t>
            </a:r>
            <a:r>
              <a:rPr lang="is-IS">
                <a:latin typeface="Arial" panose="020B0604020202020204" pitchFamily="34" charset="0"/>
                <a:cs typeface="Arial" panose="020B0604020202020204" pitchFamily="34" charset="0"/>
              </a:rPr>
              <a:t> 331. Með sigrum hans breiddist grísk menning víða um Mið-Austurlönd og til Egyptalands. Alexander dó óvænt 32 ára árið 323 f. Kr.</a:t>
            </a:r>
          </a:p>
          <a:p>
            <a:r>
              <a:rPr lang="is-IS">
                <a:latin typeface="Arial" panose="020B0604020202020204" pitchFamily="34" charset="0"/>
                <a:cs typeface="Arial" panose="020B0604020202020204" pitchFamily="34" charset="0"/>
              </a:rPr>
              <a:t>Fræg er sagan af því þegar hann hjó á hnútinn sem </a:t>
            </a:r>
            <a:r>
              <a:rPr lang="is-IS" b="1">
                <a:latin typeface="Arial" panose="020B0604020202020204" pitchFamily="34" charset="0"/>
                <a:cs typeface="Arial" panose="020B0604020202020204" pitchFamily="34" charset="0"/>
              </a:rPr>
              <a:t>Gordías</a:t>
            </a:r>
            <a:r>
              <a:rPr lang="is-IS">
                <a:latin typeface="Arial" panose="020B0604020202020204" pitchFamily="34" charset="0"/>
                <a:cs typeface="Arial" panose="020B0604020202020204" pitchFamily="34" charset="0"/>
              </a:rPr>
              <a:t> hafði hnýtt; en fram að því hann enginn geta leyst hnútinn.</a:t>
            </a:r>
          </a:p>
        </p:txBody>
      </p:sp>
    </p:spTree>
    <p:extLst>
      <p:ext uri="{BB962C8B-B14F-4D97-AF65-F5344CB8AC3E}">
        <p14:creationId xmlns:p14="http://schemas.microsoft.com/office/powerpoint/2010/main" val="287346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1367" y="1825625"/>
            <a:ext cx="3830108" cy="383010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is-IS">
                <a:latin typeface="Arial Black" panose="020B0A04020102020204" pitchFamily="34" charset="0"/>
              </a:rPr>
              <a:t>Hannibal</a:t>
            </a:r>
          </a:p>
        </p:txBody>
      </p:sp>
      <p:sp>
        <p:nvSpPr>
          <p:cNvPr id="3" name="Content Placeholder 2"/>
          <p:cNvSpPr>
            <a:spLocks noGrp="1"/>
          </p:cNvSpPr>
          <p:nvPr>
            <p:ph idx="1"/>
          </p:nvPr>
        </p:nvSpPr>
        <p:spPr>
          <a:xfrm>
            <a:off x="838200" y="1825625"/>
            <a:ext cx="7543800" cy="4134908"/>
          </a:xfrm>
        </p:spPr>
        <p:txBody>
          <a:bodyPr>
            <a:normAutofit/>
          </a:bodyPr>
          <a:lstStyle/>
          <a:p>
            <a:pPr marL="0" indent="0">
              <a:buNone/>
            </a:pPr>
            <a:r>
              <a:rPr lang="is-IS" sz="1800" b="1">
                <a:latin typeface="Arial" panose="020B0604020202020204" pitchFamily="34" charset="0"/>
                <a:cs typeface="Arial" panose="020B0604020202020204" pitchFamily="34" charset="0"/>
              </a:rPr>
              <a:t>Hannibal Barca </a:t>
            </a:r>
            <a:r>
              <a:rPr lang="is-IS" sz="1800">
                <a:latin typeface="Arial" panose="020B0604020202020204" pitchFamily="34" charset="0"/>
                <a:cs typeface="Arial" panose="020B0604020202020204" pitchFamily="34" charset="0"/>
              </a:rPr>
              <a:t>(247-183 f. Kr) var </a:t>
            </a:r>
            <a:r>
              <a:rPr lang="is-IS" sz="1800" b="1">
                <a:latin typeface="Arial" panose="020B0604020202020204" pitchFamily="34" charset="0"/>
                <a:cs typeface="Arial" panose="020B0604020202020204" pitchFamily="34" charset="0"/>
              </a:rPr>
              <a:t>karþverskur</a:t>
            </a:r>
            <a:r>
              <a:rPr lang="is-IS" sz="1800">
                <a:latin typeface="Arial" panose="020B0604020202020204" pitchFamily="34" charset="0"/>
                <a:cs typeface="Arial" panose="020B0604020202020204" pitchFamily="34" charset="0"/>
              </a:rPr>
              <a:t> hershöfðingi. Hann var sonur hershöfðingjans </a:t>
            </a:r>
            <a:r>
              <a:rPr lang="is-IS" sz="1800" b="1">
                <a:latin typeface="Arial" panose="020B0604020202020204" pitchFamily="34" charset="0"/>
                <a:cs typeface="Arial" panose="020B0604020202020204" pitchFamily="34" charset="0"/>
              </a:rPr>
              <a:t>Hamilkars Barca</a:t>
            </a:r>
            <a:r>
              <a:rPr lang="is-IS" sz="1800">
                <a:latin typeface="Arial" panose="020B0604020202020204" pitchFamily="34" charset="0"/>
                <a:cs typeface="Arial" panose="020B0604020202020204" pitchFamily="34" charset="0"/>
              </a:rPr>
              <a:t>. Hann var landstjóri Karþverja á </a:t>
            </a:r>
            <a:r>
              <a:rPr lang="is-IS" sz="1800" b="1">
                <a:latin typeface="Arial" panose="020B0604020202020204" pitchFamily="34" charset="0"/>
                <a:cs typeface="Arial" panose="020B0604020202020204" pitchFamily="34" charset="0"/>
              </a:rPr>
              <a:t>Spáni</a:t>
            </a:r>
            <a:r>
              <a:rPr lang="is-IS" sz="1800">
                <a:latin typeface="Arial" panose="020B0604020202020204" pitchFamily="34" charset="0"/>
                <a:cs typeface="Arial" panose="020B0604020202020204" pitchFamily="34" charset="0"/>
              </a:rPr>
              <a:t> 221 f. Kr og vann skömmu síðar borgina </a:t>
            </a:r>
            <a:r>
              <a:rPr lang="is-IS" sz="1800" b="1">
                <a:latin typeface="Arial" panose="020B0604020202020204" pitchFamily="34" charset="0"/>
                <a:cs typeface="Arial" panose="020B0604020202020204" pitchFamily="34" charset="0"/>
              </a:rPr>
              <a:t>Sagúntum</a:t>
            </a:r>
            <a:r>
              <a:rPr lang="is-IS" sz="1800">
                <a:latin typeface="Arial" panose="020B0604020202020204" pitchFamily="34" charset="0"/>
                <a:cs typeface="Arial" panose="020B0604020202020204" pitchFamily="34" charset="0"/>
              </a:rPr>
              <a:t> er naut verndar Rómverja. Þar með hófst </a:t>
            </a:r>
            <a:r>
              <a:rPr lang="is-IS" sz="1800" b="1">
                <a:latin typeface="Arial" panose="020B0604020202020204" pitchFamily="34" charset="0"/>
                <a:cs typeface="Arial" panose="020B0604020202020204" pitchFamily="34" charset="0"/>
              </a:rPr>
              <a:t>annað</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púnverska stríðið </a:t>
            </a:r>
            <a:r>
              <a:rPr lang="is-IS" sz="1800">
                <a:latin typeface="Arial" panose="020B0604020202020204" pitchFamily="34" charset="0"/>
                <a:cs typeface="Arial" panose="020B0604020202020204" pitchFamily="34" charset="0"/>
              </a:rPr>
              <a:t>(218-201 f. Kr). Hannibal vann marga glæsta sigra í stríðinu og varð frægur fyrir að fara með her yfir </a:t>
            </a:r>
            <a:r>
              <a:rPr lang="is-IS" sz="1800" b="1">
                <a:latin typeface="Arial" panose="020B0604020202020204" pitchFamily="34" charset="0"/>
                <a:cs typeface="Arial" panose="020B0604020202020204" pitchFamily="34" charset="0"/>
              </a:rPr>
              <a:t>Alpana</a:t>
            </a:r>
            <a:r>
              <a:rPr lang="is-IS" sz="1800">
                <a:latin typeface="Arial" panose="020B0604020202020204" pitchFamily="34" charset="0"/>
                <a:cs typeface="Arial" panose="020B0604020202020204" pitchFamily="34" charset="0"/>
              </a:rPr>
              <a:t> og ráðast inn í sjálft Rómarveldi. Með í þeim herleiðangri hafði hann m.a. </a:t>
            </a:r>
            <a:r>
              <a:rPr lang="is-IS" sz="1800" b="1">
                <a:latin typeface="Arial" panose="020B0604020202020204" pitchFamily="34" charset="0"/>
                <a:cs typeface="Arial" panose="020B0604020202020204" pitchFamily="34" charset="0"/>
              </a:rPr>
              <a:t>stríðs</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fíla</a:t>
            </a:r>
            <a:r>
              <a:rPr lang="is-IS" sz="1800">
                <a:latin typeface="Arial" panose="020B0604020202020204" pitchFamily="34" charset="0"/>
                <a:cs typeface="Arial" panose="020B0604020202020204" pitchFamily="34" charset="0"/>
              </a:rPr>
              <a:t>. Stærsta sigurinn vann Hannibal í orustunni við </a:t>
            </a:r>
            <a:r>
              <a:rPr lang="is-IS" sz="1800" b="1">
                <a:latin typeface="Arial" panose="020B0604020202020204" pitchFamily="34" charset="0"/>
                <a:cs typeface="Arial" panose="020B0604020202020204" pitchFamily="34" charset="0"/>
              </a:rPr>
              <a:t>Cannae</a:t>
            </a:r>
            <a:r>
              <a:rPr lang="is-IS" sz="1800">
                <a:latin typeface="Arial" panose="020B0604020202020204" pitchFamily="34" charset="0"/>
                <a:cs typeface="Arial" panose="020B0604020202020204" pitchFamily="34" charset="0"/>
              </a:rPr>
              <a:t> 216 f. Kr.. Eftir að Rómverjar réðust gegn Karþagóborg fór að halla undan fæti og árið 202 unnu Rómverjar, undir stjórn </a:t>
            </a:r>
            <a:r>
              <a:rPr lang="is-IS" sz="1800" b="1">
                <a:latin typeface="Arial" panose="020B0604020202020204" pitchFamily="34" charset="0"/>
                <a:cs typeface="Arial" panose="020B0604020202020204" pitchFamily="34" charset="0"/>
              </a:rPr>
              <a:t>Skipíó</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Afríkanus</a:t>
            </a:r>
            <a:r>
              <a:rPr lang="is-IS" sz="1800">
                <a:latin typeface="Arial" panose="020B0604020202020204" pitchFamily="34" charset="0"/>
                <a:cs typeface="Arial" panose="020B0604020202020204" pitchFamily="34" charset="0"/>
              </a:rPr>
              <a:t>, lokasigur við </a:t>
            </a:r>
            <a:r>
              <a:rPr lang="is-IS" sz="1800" b="1">
                <a:latin typeface="Arial" panose="020B0604020202020204" pitchFamily="34" charset="0"/>
                <a:cs typeface="Arial" panose="020B0604020202020204" pitchFamily="34" charset="0"/>
              </a:rPr>
              <a:t>Zama</a:t>
            </a:r>
            <a:r>
              <a:rPr lang="is-IS" sz="1800">
                <a:latin typeface="Arial" panose="020B0604020202020204" pitchFamily="34" charset="0"/>
                <a:cs typeface="Arial" panose="020B0604020202020204" pitchFamily="34" charset="0"/>
              </a:rPr>
              <a:t> á norður strönd Afríku (Túnis í dag). Eftir það var Hannibal </a:t>
            </a:r>
            <a:r>
              <a:rPr lang="is-IS" sz="1800" b="1">
                <a:latin typeface="Arial" panose="020B0604020202020204" pitchFamily="34" charset="0"/>
                <a:cs typeface="Arial" panose="020B0604020202020204" pitchFamily="34" charset="0"/>
              </a:rPr>
              <a:t>kjörinn</a:t>
            </a:r>
            <a:r>
              <a:rPr lang="is-IS" sz="1800">
                <a:latin typeface="Arial" panose="020B0604020202020204" pitchFamily="34" charset="0"/>
                <a:cs typeface="Arial" panose="020B0604020202020204" pitchFamily="34" charset="0"/>
              </a:rPr>
              <a:t> æðsti embættismaðaur í </a:t>
            </a:r>
            <a:r>
              <a:rPr lang="is-IS" sz="1800" b="1">
                <a:latin typeface="Arial" panose="020B0604020202020204" pitchFamily="34" charset="0"/>
                <a:cs typeface="Arial" panose="020B0604020202020204" pitchFamily="34" charset="0"/>
              </a:rPr>
              <a:t>Karþagó</a:t>
            </a:r>
            <a:r>
              <a:rPr lang="is-IS" sz="1800">
                <a:latin typeface="Arial" panose="020B0604020202020204" pitchFamily="34" charset="0"/>
                <a:cs typeface="Arial" panose="020B0604020202020204" pitchFamily="34" charset="0"/>
              </a:rPr>
              <a:t> og hóf umbætur á stjórnarfari borgarinnar í lýðræðisanda. Hann flúði undan Rómverjum og fyrirfór sér í Litlu Asíu árið 183 f. Kr. </a:t>
            </a:r>
          </a:p>
        </p:txBody>
      </p:sp>
    </p:spTree>
    <p:extLst>
      <p:ext uri="{BB962C8B-B14F-4D97-AF65-F5344CB8AC3E}">
        <p14:creationId xmlns:p14="http://schemas.microsoft.com/office/powerpoint/2010/main" val="3560572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3350"/>
            <a:ext cx="10515600" cy="1325563"/>
          </a:xfrm>
        </p:spPr>
        <p:txBody>
          <a:bodyPr>
            <a:normAutofit/>
          </a:bodyPr>
          <a:lstStyle/>
          <a:p>
            <a:r>
              <a:rPr lang="is-IS">
                <a:latin typeface="Arial Black" panose="020B0A04020102020204" pitchFamily="34" charset="0"/>
              </a:rPr>
              <a:t>Júlíus Sesar</a:t>
            </a:r>
          </a:p>
        </p:txBody>
      </p:sp>
      <p:pic>
        <p:nvPicPr>
          <p:cNvPr id="4" name="Picture 2" descr="César (13667960455).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004343"/>
            <a:ext cx="3317631" cy="52542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54062" y="1004343"/>
            <a:ext cx="7537938" cy="5632311"/>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Gaius Júlíus Sesar </a:t>
            </a:r>
            <a:r>
              <a:rPr lang="is-IS">
                <a:latin typeface="Arial" panose="020B0604020202020204" pitchFamily="34" charset="0"/>
                <a:cs typeface="Arial" panose="020B0604020202020204" pitchFamily="34" charset="0"/>
              </a:rPr>
              <a:t>(100-44 f. Kr.) var rómverskur hershöfðingi og stjórnmálamaður. Hann var þó </a:t>
            </a:r>
            <a:r>
              <a:rPr lang="is-IS" b="1">
                <a:latin typeface="Arial" panose="020B0604020202020204" pitchFamily="34" charset="0"/>
                <a:cs typeface="Arial" panose="020B0604020202020204" pitchFamily="34" charset="0"/>
              </a:rPr>
              <a:t>ekki</a:t>
            </a:r>
            <a:r>
              <a:rPr lang="is-IS">
                <a:latin typeface="Arial" panose="020B0604020202020204" pitchFamily="34" charset="0"/>
                <a:cs typeface="Arial" panose="020B0604020202020204" pitchFamily="34" charset="0"/>
              </a:rPr>
              <a:t> fyrsti keisari Rómarveldis en lagði grunninn að því. Sem hershöfðingi leiddi hann heri Rómar til sigurs gegn </a:t>
            </a:r>
            <a:r>
              <a:rPr lang="is-IS" b="1">
                <a:latin typeface="Arial" panose="020B0604020202020204" pitchFamily="34" charset="0"/>
                <a:cs typeface="Arial" panose="020B0604020202020204" pitchFamily="34" charset="0"/>
              </a:rPr>
              <a:t>Göllum</a:t>
            </a:r>
            <a:r>
              <a:rPr lang="is-IS">
                <a:latin typeface="Arial" panose="020B0604020202020204" pitchFamily="34" charset="0"/>
                <a:cs typeface="Arial" panose="020B0604020202020204" pitchFamily="34" charset="0"/>
              </a:rPr>
              <a:t> árið 51 f. Kr. (og ritaði </a:t>
            </a:r>
            <a:r>
              <a:rPr lang="is-IS" b="1">
                <a:latin typeface="Arial" panose="020B0604020202020204" pitchFamily="34" charset="0"/>
                <a:cs typeface="Arial" panose="020B0604020202020204" pitchFamily="34" charset="0"/>
              </a:rPr>
              <a:t>Gallastríðið</a:t>
            </a:r>
            <a:r>
              <a:rPr lang="is-IS">
                <a:latin typeface="Arial" panose="020B0604020202020204" pitchFamily="34" charset="0"/>
                <a:cs typeface="Arial" panose="020B0604020202020204" pitchFamily="34" charset="0"/>
              </a:rPr>
              <a:t> eða </a:t>
            </a:r>
            <a:r>
              <a:rPr lang="is-IS" i="1">
                <a:latin typeface="Arial" panose="020B0604020202020204" pitchFamily="34" charset="0"/>
                <a:cs typeface="Arial" panose="020B0604020202020204" pitchFamily="34" charset="0"/>
              </a:rPr>
              <a:t>Bellum Gallicum</a:t>
            </a:r>
            <a:r>
              <a:rPr lang="is-IS">
                <a:latin typeface="Arial" panose="020B0604020202020204" pitchFamily="34" charset="0"/>
                <a:cs typeface="Arial" panose="020B0604020202020204" pitchFamily="34" charset="0"/>
              </a:rPr>
              <a:t>) og jók þannig mikið við veldi Rómar. Hann var fyrstur rómversku hershöfðingjanna til að halda yfir Rínarfljót auk þess að gera innrás á Bretlandseyjar. Í langan tíma hafði Róm verið lýðveldi en valdabarátta fárra manna varð til þess að Júlíus Sesar komst til valda sem einræðisherra í Róm árið 49 f. Kr. Árið 60 f. Kr. myndaði hann ásamt </a:t>
            </a:r>
            <a:r>
              <a:rPr lang="is-IS" b="1">
                <a:latin typeface="Arial" panose="020B0604020202020204" pitchFamily="34" charset="0"/>
                <a:cs typeface="Arial" panose="020B0604020202020204" pitchFamily="34" charset="0"/>
              </a:rPr>
              <a:t>Krassus</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Pompejus</a:t>
            </a:r>
            <a:r>
              <a:rPr lang="is-IS">
                <a:latin typeface="Arial" panose="020B0604020202020204" pitchFamily="34" charset="0"/>
                <a:cs typeface="Arial" panose="020B0604020202020204" pitchFamily="34" charset="0"/>
              </a:rPr>
              <a:t> mikla hina svo nefndu </a:t>
            </a:r>
            <a:r>
              <a:rPr lang="is-IS" b="1">
                <a:latin typeface="Arial" panose="020B0604020202020204" pitchFamily="34" charset="0"/>
                <a:cs typeface="Arial" panose="020B0604020202020204" pitchFamily="34" charset="0"/>
              </a:rPr>
              <a:t>Þrímenningastjórn</a:t>
            </a:r>
            <a:r>
              <a:rPr lang="is-IS">
                <a:latin typeface="Arial" panose="020B0604020202020204" pitchFamily="34" charset="0"/>
                <a:cs typeface="Arial" panose="020B0604020202020204" pitchFamily="34" charset="0"/>
              </a:rPr>
              <a:t> í Róm. Eftir dauða Krassusar ákvað Pompejus að ganga til liðs við </a:t>
            </a:r>
            <a:r>
              <a:rPr lang="is-IS" b="1">
                <a:latin typeface="Arial" panose="020B0604020202020204" pitchFamily="34" charset="0"/>
                <a:cs typeface="Arial" panose="020B0604020202020204" pitchFamily="34" charset="0"/>
              </a:rPr>
              <a:t>Öldungaráðið </a:t>
            </a:r>
            <a:r>
              <a:rPr lang="is-IS">
                <a:latin typeface="Arial" panose="020B0604020202020204" pitchFamily="34" charset="0"/>
                <a:cs typeface="Arial" panose="020B0604020202020204" pitchFamily="34" charset="0"/>
              </a:rPr>
              <a:t>(</a:t>
            </a:r>
            <a:r>
              <a:rPr lang="is-IS" i="1">
                <a:latin typeface="Arial" panose="020B0604020202020204" pitchFamily="34" charset="0"/>
                <a:cs typeface="Arial" panose="020B0604020202020204" pitchFamily="34" charset="0"/>
              </a:rPr>
              <a:t>Senatus</a:t>
            </a:r>
            <a:r>
              <a:rPr lang="is-IS">
                <a:latin typeface="Arial" panose="020B0604020202020204" pitchFamily="34" charset="0"/>
                <a:cs typeface="Arial" panose="020B0604020202020204" pitchFamily="34" charset="0"/>
              </a:rPr>
              <a:t>) sem vildi stöðva framsókn Sesars. Árið 49 f. Kr. hélt Sesar yfir </a:t>
            </a:r>
            <a:r>
              <a:rPr lang="is-IS" b="1">
                <a:latin typeface="Arial" panose="020B0604020202020204" pitchFamily="34" charset="0"/>
                <a:cs typeface="Arial" panose="020B0604020202020204" pitchFamily="34" charset="0"/>
              </a:rPr>
              <a:t>Rúbíkon</a:t>
            </a:r>
            <a:r>
              <a:rPr lang="is-IS">
                <a:latin typeface="Arial" panose="020B0604020202020204" pitchFamily="34" charset="0"/>
                <a:cs typeface="Arial" panose="020B0604020202020204" pitchFamily="34" charset="0"/>
              </a:rPr>
              <a:t> fljótið og á að hafa sagt </a:t>
            </a:r>
            <a:r>
              <a:rPr lang="is-IS" b="1">
                <a:latin typeface="Arial" panose="020B0604020202020204" pitchFamily="34" charset="0"/>
                <a:cs typeface="Arial" panose="020B0604020202020204" pitchFamily="34" charset="0"/>
              </a:rPr>
              <a:t>Teningunum er kastað </a:t>
            </a:r>
            <a:r>
              <a:rPr lang="is-IS" i="1">
                <a:latin typeface="Arial" panose="020B0604020202020204" pitchFamily="34" charset="0"/>
                <a:cs typeface="Arial" panose="020B0604020202020204" pitchFamily="34" charset="0"/>
              </a:rPr>
              <a:t>(alea iacta esta).</a:t>
            </a:r>
            <a:r>
              <a:rPr lang="is-IS">
                <a:latin typeface="Arial" panose="020B0604020202020204" pitchFamily="34" charset="0"/>
                <a:cs typeface="Arial" panose="020B0604020202020204" pitchFamily="34" charset="0"/>
              </a:rPr>
              <a:t> Ekki var aftur snúið og borgarastyrjöld braust út sem Sesar sigraði. Sem leiðtogi Rómar gerði hann ýmsar endurbætur m.a. á tímatalinu með innleiðingu </a:t>
            </a:r>
            <a:r>
              <a:rPr lang="is-IS" b="1">
                <a:latin typeface="Arial" panose="020B0604020202020204" pitchFamily="34" charset="0"/>
                <a:cs typeface="Arial" panose="020B0604020202020204" pitchFamily="34" charset="0"/>
              </a:rPr>
              <a:t>júlíanska tímatalsins</a:t>
            </a:r>
            <a:r>
              <a:rPr lang="is-IS">
                <a:latin typeface="Arial" panose="020B0604020202020204" pitchFamily="34" charset="0"/>
                <a:cs typeface="Arial" panose="020B0604020202020204" pitchFamily="34" charset="0"/>
              </a:rPr>
              <a:t>. Þann </a:t>
            </a:r>
            <a:r>
              <a:rPr lang="is-IS" b="1">
                <a:latin typeface="Arial" panose="020B0604020202020204" pitchFamily="34" charset="0"/>
                <a:cs typeface="Arial" panose="020B0604020202020204" pitchFamily="34" charset="0"/>
              </a:rPr>
              <a:t>15. mars 44 </a:t>
            </a:r>
            <a:r>
              <a:rPr lang="is-IS">
                <a:latin typeface="Arial" panose="020B0604020202020204" pitchFamily="34" charset="0"/>
                <a:cs typeface="Arial" panose="020B0604020202020204" pitchFamily="34" charset="0"/>
              </a:rPr>
              <a:t>f. Kr. ákváðu hópur öldunga, undir forystu </a:t>
            </a:r>
            <a:r>
              <a:rPr lang="is-IS" b="1">
                <a:latin typeface="Arial" panose="020B0604020202020204" pitchFamily="34" charset="0"/>
                <a:cs typeface="Arial" panose="020B0604020202020204" pitchFamily="34" charset="0"/>
              </a:rPr>
              <a:t>Markúsar Brútusar</a:t>
            </a:r>
            <a:r>
              <a:rPr lang="is-IS">
                <a:latin typeface="Arial" panose="020B0604020202020204" pitchFamily="34" charset="0"/>
                <a:cs typeface="Arial" panose="020B0604020202020204" pitchFamily="34" charset="0"/>
              </a:rPr>
              <a:t>, að ráða Sesar af dögum. Ættleiddur erfingi hans </a:t>
            </a:r>
            <a:r>
              <a:rPr lang="is-IS" b="1">
                <a:latin typeface="Arial" panose="020B0604020202020204" pitchFamily="34" charset="0"/>
                <a:cs typeface="Arial" panose="020B0604020202020204" pitchFamily="34" charset="0"/>
              </a:rPr>
              <a:t>Oktavíus</a:t>
            </a:r>
            <a:r>
              <a:rPr lang="is-IS">
                <a:latin typeface="Arial" panose="020B0604020202020204" pitchFamily="34" charset="0"/>
                <a:cs typeface="Arial" panose="020B0604020202020204" pitchFamily="34" charset="0"/>
              </a:rPr>
              <a:t> (síðar Ágústus) hélt borgarastríðinu áfram og komst að lokum til valda sem fyrsti keisari Rómar.</a:t>
            </a:r>
          </a:p>
        </p:txBody>
      </p:sp>
    </p:spTree>
    <p:extLst>
      <p:ext uri="{BB962C8B-B14F-4D97-AF65-F5344CB8AC3E}">
        <p14:creationId xmlns:p14="http://schemas.microsoft.com/office/powerpoint/2010/main" val="3850258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is-IS">
                <a:latin typeface="Arial Black" panose="020B0A04020102020204" pitchFamily="34" charset="0"/>
              </a:rPr>
              <a:t>Ágústus</a:t>
            </a:r>
          </a:p>
        </p:txBody>
      </p:sp>
      <p:pic>
        <p:nvPicPr>
          <p:cNvPr id="1028" name="Picture 4" descr="Statue-Augustus.jp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321090"/>
            <a:ext cx="3281587" cy="49223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938784" y="1321090"/>
            <a:ext cx="6688015"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Gaius Oktavíus </a:t>
            </a:r>
            <a:r>
              <a:rPr lang="is-IS">
                <a:latin typeface="Arial" panose="020B0604020202020204" pitchFamily="34" charset="0"/>
                <a:cs typeface="Arial" panose="020B0604020202020204" pitchFamily="34" charset="0"/>
              </a:rPr>
              <a:t>(63 f. Kr.- 14 e. Kr.) var </a:t>
            </a:r>
            <a:r>
              <a:rPr lang="is-IS" b="1">
                <a:latin typeface="Arial" panose="020B0604020202020204" pitchFamily="34" charset="0"/>
                <a:cs typeface="Arial" panose="020B0604020202020204" pitchFamily="34" charset="0"/>
              </a:rPr>
              <a:t>fyrsti</a:t>
            </a:r>
            <a:r>
              <a:rPr lang="is-IS">
                <a:latin typeface="Arial" panose="020B0604020202020204" pitchFamily="34" charset="0"/>
                <a:cs typeface="Arial" panose="020B0604020202020204" pitchFamily="34" charset="0"/>
              </a:rPr>
              <a:t> keisari Rómar undir nafninu heiðursnafnbótinni </a:t>
            </a:r>
            <a:r>
              <a:rPr lang="is-IS" b="1">
                <a:latin typeface="Arial" panose="020B0604020202020204" pitchFamily="34" charset="0"/>
                <a:cs typeface="Arial" panose="020B0604020202020204" pitchFamily="34" charset="0"/>
              </a:rPr>
              <a:t>Ágústus</a:t>
            </a:r>
            <a:r>
              <a:rPr lang="is-IS">
                <a:latin typeface="Arial" panose="020B0604020202020204" pitchFamily="34" charset="0"/>
                <a:cs typeface="Arial" panose="020B0604020202020204" pitchFamily="34" charset="0"/>
              </a:rPr>
              <a:t>. Ömmubróðir hans var </a:t>
            </a:r>
            <a:r>
              <a:rPr lang="is-IS" b="1">
                <a:latin typeface="Arial" panose="020B0604020202020204" pitchFamily="34" charset="0"/>
                <a:cs typeface="Arial" panose="020B0604020202020204" pitchFamily="34" charset="0"/>
              </a:rPr>
              <a:t>Júlíus Sesar </a:t>
            </a:r>
            <a:r>
              <a:rPr lang="is-IS">
                <a:latin typeface="Arial" panose="020B0604020202020204" pitchFamily="34" charset="0"/>
                <a:cs typeface="Arial" panose="020B0604020202020204" pitchFamily="34" charset="0"/>
              </a:rPr>
              <a:t>sem ættleiddi hann. Ágústus myndaði seinni </a:t>
            </a:r>
            <a:r>
              <a:rPr lang="is-IS" b="1">
                <a:latin typeface="Arial" panose="020B0604020202020204" pitchFamily="34" charset="0"/>
                <a:cs typeface="Arial" panose="020B0604020202020204" pitchFamily="34" charset="0"/>
              </a:rPr>
              <a:t>þrímenningastjórnina</a:t>
            </a:r>
            <a:r>
              <a:rPr lang="is-IS">
                <a:latin typeface="Arial" panose="020B0604020202020204" pitchFamily="34" charset="0"/>
                <a:cs typeface="Arial" panose="020B0604020202020204" pitchFamily="34" charset="0"/>
              </a:rPr>
              <a:t> ásamt </a:t>
            </a:r>
            <a:r>
              <a:rPr lang="is-IS" b="1">
                <a:latin typeface="Arial" panose="020B0604020202020204" pitchFamily="34" charset="0"/>
                <a:cs typeface="Arial" panose="020B0604020202020204" pitchFamily="34" charset="0"/>
              </a:rPr>
              <a:t>Markús Antóníusi </a:t>
            </a:r>
            <a:r>
              <a:rPr lang="is-IS">
                <a:latin typeface="Arial" panose="020B0604020202020204" pitchFamily="34" charset="0"/>
                <a:cs typeface="Arial" panose="020B0604020202020204" pitchFamily="34" charset="0"/>
              </a:rPr>
              <a:t>og </a:t>
            </a:r>
            <a:r>
              <a:rPr lang="is-IS" b="1">
                <a:latin typeface="Arial" panose="020B0604020202020204" pitchFamily="34" charset="0"/>
                <a:cs typeface="Arial" panose="020B0604020202020204" pitchFamily="34" charset="0"/>
              </a:rPr>
              <a:t>Markúsi Lepidus </a:t>
            </a:r>
            <a:r>
              <a:rPr lang="is-IS">
                <a:latin typeface="Arial" panose="020B0604020202020204" pitchFamily="34" charset="0"/>
                <a:cs typeface="Arial" panose="020B0604020202020204" pitchFamily="34" charset="0"/>
              </a:rPr>
              <a:t>til að hefna dauða Sesar, sem þeim tókst við sjóorustuna við </a:t>
            </a:r>
            <a:r>
              <a:rPr lang="is-IS" b="1">
                <a:latin typeface="Arial" panose="020B0604020202020204" pitchFamily="34" charset="0"/>
                <a:cs typeface="Arial" panose="020B0604020202020204" pitchFamily="34" charset="0"/>
              </a:rPr>
              <a:t>Filippí</a:t>
            </a:r>
            <a:r>
              <a:rPr lang="is-IS">
                <a:latin typeface="Arial" panose="020B0604020202020204" pitchFamily="34" charset="0"/>
                <a:cs typeface="Arial" panose="020B0604020202020204" pitchFamily="34" charset="0"/>
              </a:rPr>
              <a:t>. Þrímenningastjórnin ríkti sem herforingjastjórn í nokkur ár en liðaðist að lokum í sundur. Markús Lepídus fór í útlegð og Markús Antoníus framdi sjálfsmorð eftir að hafa beðið ósigur fyrir herjum Ágústusar við </a:t>
            </a:r>
            <a:r>
              <a:rPr lang="is-IS" b="1">
                <a:latin typeface="Arial" panose="020B0604020202020204" pitchFamily="34" charset="0"/>
                <a:cs typeface="Arial" panose="020B0604020202020204" pitchFamily="34" charset="0"/>
              </a:rPr>
              <a:t>Aktíum</a:t>
            </a:r>
            <a:r>
              <a:rPr lang="is-IS">
                <a:latin typeface="Arial" panose="020B0604020202020204" pitchFamily="34" charset="0"/>
                <a:cs typeface="Arial" panose="020B0604020202020204" pitchFamily="34" charset="0"/>
              </a:rPr>
              <a:t> árið 31 f. Kr. Ágústus varð einræðisherra en endurreisti þó helstu stofnanir gamla lýðveldisins. Hann kallaði sig </a:t>
            </a:r>
            <a:r>
              <a:rPr lang="is-IS" i="1">
                <a:latin typeface="Arial" panose="020B0604020202020204" pitchFamily="34" charset="0"/>
                <a:cs typeface="Arial" panose="020B0604020202020204" pitchFamily="34" charset="0"/>
              </a:rPr>
              <a:t>Princeps Vicitatis </a:t>
            </a:r>
            <a:r>
              <a:rPr lang="is-IS">
                <a:latin typeface="Arial" panose="020B0604020202020204" pitchFamily="34" charset="0"/>
                <a:cs typeface="Arial" panose="020B0604020202020204" pitchFamily="34" charset="0"/>
              </a:rPr>
              <a:t>eða fyrsta borgara ríkisins. Á valdatíma hans stækkaði Rómarveldi mikið en átti þó ekki í neinu meiri háttar stríðið við nágranna sína, tímabil sem hefur verið kallaður Rómverski friðurinn eða </a:t>
            </a:r>
            <a:r>
              <a:rPr lang="is-IS" b="1">
                <a:latin typeface="Arial" panose="020B0604020202020204" pitchFamily="34" charset="0"/>
                <a:cs typeface="Arial" panose="020B0604020202020204" pitchFamily="34" charset="0"/>
              </a:rPr>
              <a:t>Pax</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Romana</a:t>
            </a:r>
            <a:r>
              <a:rPr lang="is-IS">
                <a:latin typeface="Arial" panose="020B0604020202020204" pitchFamily="34" charset="0"/>
                <a:cs typeface="Arial" panose="020B0604020202020204" pitchFamily="34" charset="0"/>
              </a:rPr>
              <a:t>. Hann endurbætti innviði Rómarveldis umtalsvert með byggingu vega og sendiboða. Hann dó árið 14 og við tók stjúpsonur hans og ættleiddur arftaki </a:t>
            </a:r>
            <a:r>
              <a:rPr lang="is-IS" b="1">
                <a:latin typeface="Arial" panose="020B0604020202020204" pitchFamily="34" charset="0"/>
                <a:cs typeface="Arial" panose="020B0604020202020204" pitchFamily="34" charset="0"/>
              </a:rPr>
              <a:t>Tíberíus</a:t>
            </a:r>
            <a:r>
              <a:rPr lang="is-I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675960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is-IS">
                <a:latin typeface="Arial Black" panose="020B0A04020102020204" pitchFamily="34" charset="0"/>
              </a:rPr>
              <a:t>Jesús kristur</a:t>
            </a:r>
          </a:p>
        </p:txBody>
      </p:sp>
      <p:sp>
        <p:nvSpPr>
          <p:cNvPr id="3" name="Content Placeholder 2"/>
          <p:cNvSpPr>
            <a:spLocks noGrp="1"/>
          </p:cNvSpPr>
          <p:nvPr>
            <p:ph idx="1"/>
          </p:nvPr>
        </p:nvSpPr>
        <p:spPr>
          <a:xfrm>
            <a:off x="725214" y="1325563"/>
            <a:ext cx="7197944" cy="5560344"/>
          </a:xfrm>
        </p:spPr>
        <p:txBody>
          <a:bodyPr>
            <a:normAutofit/>
          </a:bodyPr>
          <a:lstStyle/>
          <a:p>
            <a:pPr marL="0" indent="0">
              <a:buNone/>
            </a:pPr>
            <a:r>
              <a:rPr lang="is-IS" sz="1800" b="1">
                <a:latin typeface="Arial" panose="020B0604020202020204" pitchFamily="34" charset="0"/>
                <a:cs typeface="Arial" panose="020B0604020202020204" pitchFamily="34" charset="0"/>
              </a:rPr>
              <a:t>Jesús</a:t>
            </a:r>
            <a:r>
              <a:rPr lang="is-IS" sz="1800">
                <a:latin typeface="Arial" panose="020B0604020202020204" pitchFamily="34" charset="0"/>
                <a:cs typeface="Arial" panose="020B0604020202020204" pitchFamily="34" charset="0"/>
              </a:rPr>
              <a:t> er sonur </a:t>
            </a:r>
            <a:r>
              <a:rPr lang="is-IS" sz="1800" b="1">
                <a:latin typeface="Arial" panose="020B0604020202020204" pitchFamily="34" charset="0"/>
                <a:cs typeface="Arial" panose="020B0604020202020204" pitchFamily="34" charset="0"/>
              </a:rPr>
              <a:t>Guðs</a:t>
            </a:r>
            <a:r>
              <a:rPr lang="is-IS" sz="1800">
                <a:latin typeface="Arial" panose="020B0604020202020204" pitchFamily="34" charset="0"/>
                <a:cs typeface="Arial" panose="020B0604020202020204" pitchFamily="34" charset="0"/>
              </a:rPr>
              <a:t> og </a:t>
            </a:r>
            <a:r>
              <a:rPr lang="is-IS" sz="1800" b="1">
                <a:latin typeface="Arial" panose="020B0604020202020204" pitchFamily="34" charset="0"/>
                <a:cs typeface="Arial" panose="020B0604020202020204" pitchFamily="34" charset="0"/>
              </a:rPr>
              <a:t>Maríu meyjar</a:t>
            </a:r>
            <a:r>
              <a:rPr lang="is-IS" sz="1800">
                <a:latin typeface="Arial" panose="020B0604020202020204" pitchFamily="34" charset="0"/>
                <a:cs typeface="Arial" panose="020B0604020202020204" pitchFamily="34" charset="0"/>
              </a:rPr>
              <a:t>. Hann er í kristnum trúarbrögðum einn hinna þriggja guða ásamt Drottni og heilögum anda. Jesús hefur að öllum líkindum verið fæddur á tímabilinu 8-4 f. Kr og líflátinn um páskaleytið um árið 30 e. Kr. </a:t>
            </a:r>
            <a:r>
              <a:rPr lang="is-IS" sz="1800" b="1">
                <a:latin typeface="Arial" panose="020B0604020202020204" pitchFamily="34" charset="0"/>
                <a:cs typeface="Arial" panose="020B0604020202020204" pitchFamily="34" charset="0"/>
              </a:rPr>
              <a:t>Gabríel erkiengill </a:t>
            </a:r>
            <a:r>
              <a:rPr lang="is-IS" sz="1800">
                <a:latin typeface="Arial" panose="020B0604020202020204" pitchFamily="34" charset="0"/>
                <a:cs typeface="Arial" panose="020B0604020202020204" pitchFamily="34" charset="0"/>
              </a:rPr>
              <a:t>birtist Maríu og boðaði henni þær fréttir að hún bæri Jesú undir belti. Samkvæmt Jólaguðspjallinu fóru Jósef og María til </a:t>
            </a:r>
            <a:r>
              <a:rPr lang="is-IS" sz="1800" b="1">
                <a:latin typeface="Arial" panose="020B0604020202020204" pitchFamily="34" charset="0"/>
                <a:cs typeface="Arial" panose="020B0604020202020204" pitchFamily="34" charset="0"/>
              </a:rPr>
              <a:t>Betlhem</a:t>
            </a:r>
            <a:r>
              <a:rPr lang="is-IS" sz="1800">
                <a:latin typeface="Arial" panose="020B0604020202020204" pitchFamily="34" charset="0"/>
                <a:cs typeface="Arial" panose="020B0604020202020204" pitchFamily="34" charset="0"/>
              </a:rPr>
              <a:t> til að skrá sig, samkvæmt boðum </a:t>
            </a:r>
            <a:r>
              <a:rPr lang="is-IS" sz="1800" b="1">
                <a:latin typeface="Arial" panose="020B0604020202020204" pitchFamily="34" charset="0"/>
                <a:cs typeface="Arial" panose="020B0604020202020204" pitchFamily="34" charset="0"/>
              </a:rPr>
              <a:t>Ágústusar</a:t>
            </a:r>
            <a:r>
              <a:rPr lang="is-IS" sz="1800">
                <a:latin typeface="Arial" panose="020B0604020202020204" pitchFamily="34" charset="0"/>
                <a:cs typeface="Arial" panose="020B0604020202020204" pitchFamily="34" charset="0"/>
              </a:rPr>
              <a:t> keisara, og þar fæddist Jesú, í jötu í fjárhúsi. Vitringarnir þrír leituðu hann uppi og færðu gjafir – gull, reykelsi og mirru. </a:t>
            </a:r>
          </a:p>
          <a:p>
            <a:pPr marL="0" indent="0">
              <a:buNone/>
            </a:pPr>
            <a:r>
              <a:rPr lang="is-IS" sz="1800">
                <a:latin typeface="Arial" panose="020B0604020202020204" pitchFamily="34" charset="0"/>
                <a:cs typeface="Arial" panose="020B0604020202020204" pitchFamily="34" charset="0"/>
              </a:rPr>
              <a:t>Jesús ólst upp í </a:t>
            </a:r>
            <a:r>
              <a:rPr lang="is-IS" sz="1800" b="1">
                <a:latin typeface="Arial" panose="020B0604020202020204" pitchFamily="34" charset="0"/>
                <a:cs typeface="Arial" panose="020B0604020202020204" pitchFamily="34" charset="0"/>
              </a:rPr>
              <a:t>Nasaret</a:t>
            </a:r>
            <a:r>
              <a:rPr lang="is-IS" sz="1800">
                <a:latin typeface="Arial" panose="020B0604020202020204" pitchFamily="34" charset="0"/>
                <a:cs typeface="Arial" panose="020B0604020202020204" pitchFamily="34" charset="0"/>
              </a:rPr>
              <a:t> með foreldrum sínum </a:t>
            </a:r>
            <a:r>
              <a:rPr lang="is-IS" sz="1800" b="1">
                <a:latin typeface="Arial" panose="020B0604020202020204" pitchFamily="34" charset="0"/>
                <a:cs typeface="Arial" panose="020B0604020202020204" pitchFamily="34" charset="0"/>
              </a:rPr>
              <a:t>Jósef</a:t>
            </a:r>
            <a:r>
              <a:rPr lang="is-IS" sz="1800">
                <a:latin typeface="Arial" panose="020B0604020202020204" pitchFamily="34" charset="0"/>
                <a:cs typeface="Arial" panose="020B0604020202020204" pitchFamily="34" charset="0"/>
              </a:rPr>
              <a:t> og Maríu. Var skírður af </a:t>
            </a:r>
            <a:r>
              <a:rPr lang="is-IS" sz="1800" b="1">
                <a:latin typeface="Arial" panose="020B0604020202020204" pitchFamily="34" charset="0"/>
                <a:cs typeface="Arial" panose="020B0604020202020204" pitchFamily="34" charset="0"/>
              </a:rPr>
              <a:t>Jóhannesi skírara </a:t>
            </a:r>
            <a:r>
              <a:rPr lang="is-IS" sz="1800">
                <a:latin typeface="Arial" panose="020B0604020202020204" pitchFamily="34" charset="0"/>
                <a:cs typeface="Arial" panose="020B0604020202020204" pitchFamily="34" charset="0"/>
              </a:rPr>
              <a:t>og hóf starf sitt eftir það og starfaði í um þrjú ár aðallega í </a:t>
            </a:r>
            <a:r>
              <a:rPr lang="is-IS" sz="1800" b="1">
                <a:latin typeface="Arial" panose="020B0604020202020204" pitchFamily="34" charset="0"/>
                <a:cs typeface="Arial" panose="020B0604020202020204" pitchFamily="34" charset="0"/>
              </a:rPr>
              <a:t>Galíleu</a:t>
            </a:r>
            <a:r>
              <a:rPr lang="is-IS" sz="1800">
                <a:latin typeface="Arial" panose="020B0604020202020204" pitchFamily="34" charset="0"/>
                <a:cs typeface="Arial" panose="020B0604020202020204" pitchFamily="34" charset="0"/>
              </a:rPr>
              <a:t> en líka í </a:t>
            </a:r>
            <a:r>
              <a:rPr lang="is-IS" sz="1800" b="1">
                <a:latin typeface="Arial" panose="020B0604020202020204" pitchFamily="34" charset="0"/>
                <a:cs typeface="Arial" panose="020B0604020202020204" pitchFamily="34" charset="0"/>
              </a:rPr>
              <a:t>Jerúsalem</a:t>
            </a:r>
            <a:r>
              <a:rPr lang="is-IS" sz="1800">
                <a:latin typeface="Arial" panose="020B0604020202020204" pitchFamily="34" charset="0"/>
                <a:cs typeface="Arial" panose="020B0604020202020204" pitchFamily="34" charset="0"/>
              </a:rPr>
              <a:t> þar sem hann var að lokum svikinn og líflátinn. Hann gerði kraftaverk, s.s. í </a:t>
            </a:r>
            <a:r>
              <a:rPr lang="is-IS" sz="1800" b="1">
                <a:latin typeface="Arial" panose="020B0604020202020204" pitchFamily="34" charset="0"/>
                <a:cs typeface="Arial" panose="020B0604020202020204" pitchFamily="34" charset="0"/>
              </a:rPr>
              <a:t>brúðkaupinu í Kana </a:t>
            </a:r>
            <a:r>
              <a:rPr lang="is-IS" sz="1800">
                <a:latin typeface="Arial" panose="020B0604020202020204" pitchFamily="34" charset="0"/>
                <a:cs typeface="Arial" panose="020B0604020202020204" pitchFamily="34" charset="0"/>
              </a:rPr>
              <a:t>– það fyrsta – þegar hann breytti vatni í vín. Eitt kraftaverk hans var að vekja </a:t>
            </a:r>
            <a:r>
              <a:rPr lang="is-IS" sz="1800" b="1">
                <a:latin typeface="Arial" panose="020B0604020202020204" pitchFamily="34" charset="0"/>
                <a:cs typeface="Arial" panose="020B0604020202020204" pitchFamily="34" charset="0"/>
              </a:rPr>
              <a:t>Lasarus</a:t>
            </a:r>
            <a:r>
              <a:rPr lang="is-IS" sz="1800">
                <a:latin typeface="Arial" panose="020B0604020202020204" pitchFamily="34" charset="0"/>
                <a:cs typeface="Arial" panose="020B0604020202020204" pitchFamily="34" charset="0"/>
              </a:rPr>
              <a:t> upp frá dauðum.</a:t>
            </a:r>
          </a:p>
        </p:txBody>
      </p:sp>
      <p:pic>
        <p:nvPicPr>
          <p:cNvPr id="12290" name="Picture 2" descr="Image result for jesus chri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3158" y="803316"/>
            <a:ext cx="4140506" cy="5603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395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a:latin typeface="Arial Black" panose="020B0A04020102020204" pitchFamily="34" charset="0"/>
              </a:rPr>
              <a:t>Múhameð</a:t>
            </a:r>
          </a:p>
        </p:txBody>
      </p:sp>
      <p:sp>
        <p:nvSpPr>
          <p:cNvPr id="3" name="Content Placeholder 2"/>
          <p:cNvSpPr>
            <a:spLocks noGrp="1"/>
          </p:cNvSpPr>
          <p:nvPr>
            <p:ph idx="1"/>
          </p:nvPr>
        </p:nvSpPr>
        <p:spPr>
          <a:xfrm>
            <a:off x="838200" y="1825625"/>
            <a:ext cx="7202214" cy="5152691"/>
          </a:xfrm>
        </p:spPr>
        <p:txBody>
          <a:bodyPr>
            <a:normAutofit/>
          </a:bodyPr>
          <a:lstStyle/>
          <a:p>
            <a:pPr marL="0" indent="0">
              <a:buNone/>
            </a:pPr>
            <a:r>
              <a:rPr lang="is-IS" sz="1800" b="1">
                <a:latin typeface="Arial" panose="020B0604020202020204" pitchFamily="34" charset="0"/>
                <a:cs typeface="Arial" panose="020B0604020202020204" pitchFamily="34" charset="0"/>
              </a:rPr>
              <a:t>Múhameð spámaður </a:t>
            </a:r>
            <a:r>
              <a:rPr lang="is-IS" sz="1800">
                <a:latin typeface="Arial" panose="020B0604020202020204" pitchFamily="34" charset="0"/>
                <a:cs typeface="Arial" panose="020B0604020202020204" pitchFamily="34" charset="0"/>
              </a:rPr>
              <a:t>(570-632) var arabískur spámaður og stofnandi </a:t>
            </a:r>
            <a:r>
              <a:rPr lang="is-IS" sz="1800" b="1">
                <a:latin typeface="Arial" panose="020B0604020202020204" pitchFamily="34" charset="0"/>
                <a:cs typeface="Arial" panose="020B0604020202020204" pitchFamily="34" charset="0"/>
              </a:rPr>
              <a:t>íslam</a:t>
            </a:r>
            <a:r>
              <a:rPr lang="is-IS" sz="1800">
                <a:latin typeface="Arial" panose="020B0604020202020204" pitchFamily="34" charset="0"/>
                <a:cs typeface="Arial" panose="020B0604020202020204" pitchFamily="34" charset="0"/>
              </a:rPr>
              <a:t>. Hann var fæddur í </a:t>
            </a:r>
            <a:r>
              <a:rPr lang="is-IS" sz="1800" b="1">
                <a:latin typeface="Arial" panose="020B0604020202020204" pitchFamily="34" charset="0"/>
                <a:cs typeface="Arial" panose="020B0604020202020204" pitchFamily="34" charset="0"/>
              </a:rPr>
              <a:t>Mekku</a:t>
            </a:r>
            <a:r>
              <a:rPr lang="is-IS" sz="1800">
                <a:latin typeface="Arial" panose="020B0604020202020204" pitchFamily="34" charset="0"/>
                <a:cs typeface="Arial" panose="020B0604020202020204" pitchFamily="34" charset="0"/>
              </a:rPr>
              <a:t> og var af ættbálki Kuraysh (</a:t>
            </a:r>
            <a:r>
              <a:rPr lang="is-IS" sz="1800" b="1">
                <a:latin typeface="Arial" panose="020B0604020202020204" pitchFamily="34" charset="0"/>
                <a:cs typeface="Arial" panose="020B0604020202020204" pitchFamily="34" charset="0"/>
              </a:rPr>
              <a:t>Quarashi</a:t>
            </a:r>
            <a:r>
              <a:rPr lang="is-IS" sz="1800">
                <a:latin typeface="Arial" panose="020B0604020202020204" pitchFamily="34" charset="0"/>
                <a:cs typeface="Arial" panose="020B0604020202020204" pitchFamily="34" charset="0"/>
              </a:rPr>
              <a:t>) sem var voldugasti ættbálkurinn og réð yfir helgidómnum </a:t>
            </a:r>
            <a:r>
              <a:rPr lang="is-IS" sz="1800" b="1">
                <a:latin typeface="Arial" panose="020B0604020202020204" pitchFamily="34" charset="0"/>
                <a:cs typeface="Arial" panose="020B0604020202020204" pitchFamily="34" charset="0"/>
              </a:rPr>
              <a:t>Kaaba</a:t>
            </a:r>
            <a:r>
              <a:rPr lang="is-IS" sz="1800">
                <a:latin typeface="Arial" panose="020B0604020202020204" pitchFamily="34" charset="0"/>
                <a:cs typeface="Arial" panose="020B0604020202020204" pitchFamily="34" charset="0"/>
              </a:rPr>
              <a:t>; sem var tilbeðinn af þjóðbálkum á Arabíuskaga á þessum tíma. Árið 610 birtist </a:t>
            </a:r>
            <a:r>
              <a:rPr lang="is-IS" sz="1800" b="1">
                <a:latin typeface="Arial" panose="020B0604020202020204" pitchFamily="34" charset="0"/>
                <a:cs typeface="Arial" panose="020B0604020202020204" pitchFamily="34" charset="0"/>
              </a:rPr>
              <a:t>Gabríel erkiengill </a:t>
            </a:r>
            <a:r>
              <a:rPr lang="is-IS" sz="1800">
                <a:latin typeface="Arial" panose="020B0604020202020204" pitchFamily="34" charset="0"/>
                <a:cs typeface="Arial" panose="020B0604020202020204" pitchFamily="34" charset="0"/>
              </a:rPr>
              <a:t>honum og tilkynnti honum að hann væri sendiboði guðsins </a:t>
            </a:r>
            <a:r>
              <a:rPr lang="is-IS" sz="1800" b="1">
                <a:latin typeface="Arial" panose="020B0604020202020204" pitchFamily="34" charset="0"/>
                <a:cs typeface="Arial" panose="020B0604020202020204" pitchFamily="34" charset="0"/>
              </a:rPr>
              <a:t>Allah</a:t>
            </a:r>
            <a:r>
              <a:rPr lang="is-IS" sz="1800">
                <a:latin typeface="Arial" panose="020B0604020202020204" pitchFamily="34" charset="0"/>
                <a:cs typeface="Arial" panose="020B0604020202020204" pitchFamily="34" charset="0"/>
              </a:rPr>
              <a:t>. Múhameð taldi hlutverk sitt vera að fullkomna verk fyrri spámanna s.s. Móse og Jesús Krists. Hann taldi sig upphaflega vera hluta af gyðing- og kristindómi og lét fylgjendur sína snúa til </a:t>
            </a:r>
            <a:r>
              <a:rPr lang="is-IS" sz="1800" b="1">
                <a:latin typeface="Arial" panose="020B0604020202020204" pitchFamily="34" charset="0"/>
                <a:cs typeface="Arial" panose="020B0604020202020204" pitchFamily="34" charset="0"/>
              </a:rPr>
              <a:t>Jerúsalem</a:t>
            </a:r>
            <a:r>
              <a:rPr lang="is-IS" sz="1800">
                <a:latin typeface="Arial" panose="020B0604020202020204" pitchFamily="34" charset="0"/>
                <a:cs typeface="Arial" panose="020B0604020202020204" pitchFamily="34" charset="0"/>
              </a:rPr>
              <a:t> til bæna til að byrja með. En eftir að Gyðingar höfnuðu boðskap hans lét hann fylgjendur sína snúa sér til </a:t>
            </a:r>
            <a:r>
              <a:rPr lang="is-IS" sz="1800" b="1">
                <a:latin typeface="Arial" panose="020B0604020202020204" pitchFamily="34" charset="0"/>
                <a:cs typeface="Arial" panose="020B0604020202020204" pitchFamily="34" charset="0"/>
              </a:rPr>
              <a:t>Kaaba</a:t>
            </a:r>
            <a:r>
              <a:rPr lang="is-IS" sz="1800">
                <a:latin typeface="Arial" panose="020B0604020202020204" pitchFamily="34" charset="0"/>
                <a:cs typeface="Arial" panose="020B0604020202020204" pitchFamily="34" charset="0"/>
              </a:rPr>
              <a:t> í Mekku. </a:t>
            </a:r>
          </a:p>
          <a:p>
            <a:pPr marL="0" indent="0">
              <a:buNone/>
            </a:pPr>
            <a:endParaRPr lang="is-IS" sz="1800">
              <a:latin typeface="Arial" panose="020B0604020202020204" pitchFamily="34" charset="0"/>
              <a:cs typeface="Arial" panose="020B0604020202020204" pitchFamily="34" charset="0"/>
            </a:endParaRPr>
          </a:p>
          <a:p>
            <a:pPr marL="0" indent="0">
              <a:buNone/>
            </a:pPr>
            <a:r>
              <a:rPr lang="is-IS" sz="1800">
                <a:latin typeface="Arial" panose="020B0604020202020204" pitchFamily="34" charset="0"/>
                <a:cs typeface="Arial" panose="020B0604020202020204" pitchFamily="34" charset="0"/>
              </a:rPr>
              <a:t>Árið 622 flúði hann Mekku til </a:t>
            </a:r>
            <a:r>
              <a:rPr lang="is-IS" sz="1800" b="1">
                <a:latin typeface="Arial" panose="020B0604020202020204" pitchFamily="34" charset="0"/>
                <a:cs typeface="Arial" panose="020B0604020202020204" pitchFamily="34" charset="0"/>
              </a:rPr>
              <a:t>Medínu</a:t>
            </a:r>
            <a:r>
              <a:rPr lang="is-IS" sz="1800">
                <a:latin typeface="Arial" panose="020B0604020202020204" pitchFamily="34" charset="0"/>
                <a:cs typeface="Arial" panose="020B0604020202020204" pitchFamily="34" charset="0"/>
              </a:rPr>
              <a:t> og miða múslimar flótta hans sem upphafspunkt </a:t>
            </a:r>
            <a:r>
              <a:rPr lang="is-IS" sz="1800" b="1">
                <a:latin typeface="Arial" panose="020B0604020202020204" pitchFamily="34" charset="0"/>
                <a:cs typeface="Arial" panose="020B0604020202020204" pitchFamily="34" charset="0"/>
              </a:rPr>
              <a:t>tímatals</a:t>
            </a:r>
            <a:r>
              <a:rPr lang="is-IS" sz="1800">
                <a:latin typeface="Arial" panose="020B0604020202020204" pitchFamily="34" charset="0"/>
                <a:cs typeface="Arial" panose="020B0604020202020204" pitchFamily="34" charset="0"/>
              </a:rPr>
              <a:t> þeirra. Hann náði Mekku aftur með hervaldi 630 og hóf útbreiðslu boðskaps síns að krafti og við dauða sinn 632 hafði hann náð stórum hluta Arabíuskagans á sitt vald.</a:t>
            </a:r>
          </a:p>
        </p:txBody>
      </p:sp>
      <p:pic>
        <p:nvPicPr>
          <p:cNvPr id="7170" name="Picture 2" descr="https://upload.wikimedia.org/wikipedia/commons/thumb/9/99/The_Prophet_Muhammad_and_the_Muslim_Army_at_the_Battle_of_Uhud%2C_from_the_Siyer-i_Nebi%2C_1595.jpg/220px-The_Prophet_Muhammad_and_the_Muslim_Army_at_the_Battle_of_Uhud%2C_from_the_Siyer-i_Nebi%2C_159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7935" y="487880"/>
            <a:ext cx="3717402" cy="5897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336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a:latin typeface="Arial Black" panose="020B0A04020102020204" pitchFamily="34" charset="0"/>
              </a:rPr>
              <a:t>Búddha</a:t>
            </a:r>
          </a:p>
        </p:txBody>
      </p:sp>
      <p:sp>
        <p:nvSpPr>
          <p:cNvPr id="3" name="Content Placeholder 2"/>
          <p:cNvSpPr>
            <a:spLocks noGrp="1"/>
          </p:cNvSpPr>
          <p:nvPr>
            <p:ph idx="1"/>
          </p:nvPr>
        </p:nvSpPr>
        <p:spPr>
          <a:xfrm>
            <a:off x="838200" y="1825625"/>
            <a:ext cx="6681952" cy="3913023"/>
          </a:xfrm>
        </p:spPr>
        <p:txBody>
          <a:bodyPr>
            <a:normAutofit/>
          </a:bodyPr>
          <a:lstStyle/>
          <a:p>
            <a:pPr marL="0" indent="0">
              <a:buNone/>
            </a:pPr>
            <a:r>
              <a:rPr lang="is-IS" sz="1800" b="1">
                <a:latin typeface="Arial" panose="020B0604020202020204" pitchFamily="34" charset="0"/>
                <a:cs typeface="Arial" panose="020B0604020202020204" pitchFamily="34" charset="0"/>
              </a:rPr>
              <a:t>Búddha</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Siddharta Gautama</a:t>
            </a:r>
            <a:r>
              <a:rPr lang="is-IS" sz="1800">
                <a:latin typeface="Arial" panose="020B0604020202020204" pitchFamily="34" charset="0"/>
                <a:cs typeface="Arial" panose="020B0604020202020204" pitchFamily="34" charset="0"/>
              </a:rPr>
              <a:t>) (563-483 f. Kr.) var prins af norður </a:t>
            </a:r>
            <a:r>
              <a:rPr lang="is-IS" sz="1800" b="1">
                <a:latin typeface="Arial" panose="020B0604020202020204" pitchFamily="34" charset="0"/>
                <a:cs typeface="Arial" panose="020B0604020202020204" pitchFamily="34" charset="0"/>
              </a:rPr>
              <a:t>indverskri</a:t>
            </a:r>
            <a:r>
              <a:rPr lang="is-IS" sz="1800">
                <a:latin typeface="Arial" panose="020B0604020202020204" pitchFamily="34" charset="0"/>
                <a:cs typeface="Arial" panose="020B0604020202020204" pitchFamily="34" charset="0"/>
              </a:rPr>
              <a:t> furstaætt sem gerðist heimspekingur og trúarleiðtogi. Hann var kvæntur og átti son þegar hann ákvað að yfirgefa fjölskyldu sína og hástéttarlíf 29 ára gamall og hefja leit að sannleikanum um tilveru mannsins. Hann öðlaðist loks þann skilning eftir að hafa látið af fyrri líferni. Þar með varð hann </a:t>
            </a:r>
            <a:r>
              <a:rPr lang="is-IS" sz="1800" b="1">
                <a:latin typeface="Arial" panose="020B0604020202020204" pitchFamily="34" charset="0"/>
                <a:cs typeface="Arial" panose="020B0604020202020204" pitchFamily="34" charset="0"/>
              </a:rPr>
              <a:t>búddha</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hinn upplýsti</a:t>
            </a:r>
            <a:r>
              <a:rPr lang="is-IS" sz="1800">
                <a:latin typeface="Arial" panose="020B0604020202020204" pitchFamily="34" charset="0"/>
                <a:cs typeface="Arial" panose="020B0604020202020204" pitchFamily="34" charset="0"/>
              </a:rPr>
              <a:t>“). Hann eyddi restinni af ævi sinni í að boða hinn nýja sið, búddhisma.</a:t>
            </a:r>
          </a:p>
        </p:txBody>
      </p:sp>
      <p:pic>
        <p:nvPicPr>
          <p:cNvPr id="15362" name="Picture 2" descr="Buddha in Sarnath Museum (Dhammajak Mutr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2040" y="583077"/>
            <a:ext cx="4370223" cy="5593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65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949" y="0"/>
            <a:ext cx="10515600" cy="1325563"/>
          </a:xfrm>
        </p:spPr>
        <p:txBody>
          <a:bodyPr>
            <a:normAutofit/>
          </a:bodyPr>
          <a:lstStyle/>
          <a:p>
            <a:r>
              <a:rPr lang="is-IS">
                <a:latin typeface="Arial Black" panose="020B0A04020102020204" pitchFamily="34" charset="0"/>
              </a:rPr>
              <a:t>Atli Húnakonungur</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37555" y="1208550"/>
            <a:ext cx="4289173" cy="5254237"/>
          </a:xfrm>
        </p:spPr>
      </p:pic>
      <p:sp>
        <p:nvSpPr>
          <p:cNvPr id="5" name="TextBox 4"/>
          <p:cNvSpPr txBox="1"/>
          <p:nvPr/>
        </p:nvSpPr>
        <p:spPr>
          <a:xfrm>
            <a:off x="5004262" y="1512916"/>
            <a:ext cx="6583680" cy="258532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Atli Húnakonungur </a:t>
            </a:r>
            <a:r>
              <a:rPr lang="is-IS">
                <a:latin typeface="Arial" panose="020B0604020202020204" pitchFamily="34" charset="0"/>
                <a:cs typeface="Arial" panose="020B0604020202020204" pitchFamily="34" charset="0"/>
              </a:rPr>
              <a:t>var leiðtogi </a:t>
            </a:r>
            <a:r>
              <a:rPr lang="is-IS" b="1">
                <a:latin typeface="Arial" panose="020B0604020202020204" pitchFamily="34" charset="0"/>
                <a:cs typeface="Arial" panose="020B0604020202020204" pitchFamily="34" charset="0"/>
              </a:rPr>
              <a:t>Húna</a:t>
            </a:r>
            <a:r>
              <a:rPr lang="is-IS">
                <a:latin typeface="Arial" panose="020B0604020202020204" pitchFamily="34" charset="0"/>
                <a:cs typeface="Arial" panose="020B0604020202020204" pitchFamily="34" charset="0"/>
              </a:rPr>
              <a:t>, sem voru hjarð- og hestamannaþjóð uppruninn í </a:t>
            </a:r>
            <a:r>
              <a:rPr lang="is-IS" b="1">
                <a:latin typeface="Arial" panose="020B0604020202020204" pitchFamily="34" charset="0"/>
                <a:cs typeface="Arial" panose="020B0604020202020204" pitchFamily="34" charset="0"/>
              </a:rPr>
              <a:t>Mongólíu</a:t>
            </a:r>
            <a:r>
              <a:rPr lang="is-IS">
                <a:latin typeface="Arial" panose="020B0604020202020204" pitchFamily="34" charset="0"/>
                <a:cs typeface="Arial" panose="020B0604020202020204" pitchFamily="34" charset="0"/>
              </a:rPr>
              <a:t> sem á 4. öld e. Kr. Réðust inn í suðaustur Evrópu og gersigruðu </a:t>
            </a:r>
            <a:r>
              <a:rPr lang="is-IS" b="1">
                <a:latin typeface="Arial" panose="020B0604020202020204" pitchFamily="34" charset="0"/>
                <a:cs typeface="Arial" panose="020B0604020202020204" pitchFamily="34" charset="0"/>
              </a:rPr>
              <a:t>Gota</a:t>
            </a:r>
            <a:r>
              <a:rPr lang="is-IS">
                <a:latin typeface="Arial" panose="020B0604020202020204" pitchFamily="34" charset="0"/>
                <a:cs typeface="Arial" panose="020B0604020202020204" pitchFamily="34" charset="0"/>
              </a:rPr>
              <a:t> árið 375 sem þá bjuggu þar sem nú er S-Rússland. Eftir 400 settust Húnar að á sléttunum við </a:t>
            </a:r>
            <a:r>
              <a:rPr lang="is-IS" b="1">
                <a:latin typeface="Arial" panose="020B0604020202020204" pitchFamily="34" charset="0"/>
                <a:cs typeface="Arial" panose="020B0604020202020204" pitchFamily="34" charset="0"/>
              </a:rPr>
              <a:t>Dóná</a:t>
            </a:r>
            <a:r>
              <a:rPr lang="is-IS">
                <a:latin typeface="Arial" panose="020B0604020202020204" pitchFamily="34" charset="0"/>
                <a:cs typeface="Arial" panose="020B0604020202020204" pitchFamily="34" charset="0"/>
              </a:rPr>
              <a:t>, þar sem nú er Ungverjaland. Rómaveldi og germönsku þjóðunum stóð mikill hætta af Húnum einkum meðal </a:t>
            </a:r>
            <a:r>
              <a:rPr lang="is-IS" b="1">
                <a:latin typeface="Arial" panose="020B0604020202020204" pitchFamily="34" charset="0"/>
                <a:cs typeface="Arial" panose="020B0604020202020204" pitchFamily="34" charset="0"/>
              </a:rPr>
              <a:t>Attila</a:t>
            </a:r>
            <a:r>
              <a:rPr lang="is-IS">
                <a:latin typeface="Arial" panose="020B0604020202020204" pitchFamily="34" charset="0"/>
                <a:cs typeface="Arial" panose="020B0604020202020204" pitchFamily="34" charset="0"/>
              </a:rPr>
              <a:t> eða </a:t>
            </a:r>
            <a:r>
              <a:rPr lang="is-IS" b="1">
                <a:latin typeface="Arial" panose="020B0604020202020204" pitchFamily="34" charset="0"/>
                <a:cs typeface="Arial" panose="020B0604020202020204" pitchFamily="34" charset="0"/>
              </a:rPr>
              <a:t>Atli</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Húnakonungur</a:t>
            </a:r>
            <a:r>
              <a:rPr lang="is-IS">
                <a:latin typeface="Arial" panose="020B0604020202020204" pitchFamily="34" charset="0"/>
                <a:cs typeface="Arial" panose="020B0604020202020204" pitchFamily="34" charset="0"/>
              </a:rPr>
              <a:t> fór með völd en eftir ósigur hans við </a:t>
            </a:r>
            <a:r>
              <a:rPr lang="is-IS" b="1">
                <a:latin typeface="Arial" panose="020B0604020202020204" pitchFamily="34" charset="0"/>
                <a:cs typeface="Arial" panose="020B0604020202020204" pitchFamily="34" charset="0"/>
              </a:rPr>
              <a:t>Katalánsvelli</a:t>
            </a:r>
            <a:r>
              <a:rPr lang="is-IS">
                <a:latin typeface="Arial" panose="020B0604020202020204" pitchFamily="34" charset="0"/>
                <a:cs typeface="Arial" panose="020B0604020202020204" pitchFamily="34" charset="0"/>
              </a:rPr>
              <a:t> árið </a:t>
            </a:r>
            <a:r>
              <a:rPr lang="is-IS" b="1">
                <a:latin typeface="Arial" panose="020B0604020202020204" pitchFamily="34" charset="0"/>
                <a:cs typeface="Arial" panose="020B0604020202020204" pitchFamily="34" charset="0"/>
              </a:rPr>
              <a:t>451</a:t>
            </a:r>
            <a:r>
              <a:rPr lang="is-IS">
                <a:latin typeface="Arial" panose="020B0604020202020204" pitchFamily="34" charset="0"/>
                <a:cs typeface="Arial" panose="020B0604020202020204" pitchFamily="34" charset="0"/>
              </a:rPr>
              <a:t> og lát hans 453 leystist Húnaveldið upp.</a:t>
            </a:r>
          </a:p>
        </p:txBody>
      </p:sp>
    </p:spTree>
    <p:extLst>
      <p:ext uri="{BB962C8B-B14F-4D97-AF65-F5344CB8AC3E}">
        <p14:creationId xmlns:p14="http://schemas.microsoft.com/office/powerpoint/2010/main" val="2663381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is-IS">
                <a:latin typeface="Arial Black" panose="020B0A04020102020204" pitchFamily="34" charset="0"/>
              </a:rPr>
              <a:t>Karlamagnús</a:t>
            </a:r>
          </a:p>
        </p:txBody>
      </p:sp>
      <p:sp>
        <p:nvSpPr>
          <p:cNvPr id="3" name="Content Placeholder 2"/>
          <p:cNvSpPr>
            <a:spLocks noGrp="1"/>
          </p:cNvSpPr>
          <p:nvPr>
            <p:ph idx="1"/>
          </p:nvPr>
        </p:nvSpPr>
        <p:spPr>
          <a:xfrm>
            <a:off x="6096000" y="1480458"/>
            <a:ext cx="5819775" cy="4676775"/>
          </a:xfrm>
        </p:spPr>
        <p:txBody>
          <a:bodyPr>
            <a:normAutofit/>
          </a:bodyPr>
          <a:lstStyle/>
          <a:p>
            <a:pPr marL="0" indent="0">
              <a:buNone/>
            </a:pPr>
            <a:r>
              <a:rPr lang="is-IS" sz="1800" b="1">
                <a:latin typeface="Arial" panose="020B0604020202020204" pitchFamily="34" charset="0"/>
                <a:cs typeface="Arial" panose="020B0604020202020204" pitchFamily="34" charset="0"/>
              </a:rPr>
              <a:t>Karlamagnús</a:t>
            </a:r>
            <a:r>
              <a:rPr lang="is-IS" sz="1800">
                <a:latin typeface="Arial" panose="020B0604020202020204" pitchFamily="34" charset="0"/>
                <a:cs typeface="Arial" panose="020B0604020202020204" pitchFamily="34" charset="0"/>
              </a:rPr>
              <a:t> eða </a:t>
            </a:r>
            <a:r>
              <a:rPr lang="is-IS" sz="1800" b="1">
                <a:latin typeface="Arial" panose="020B0604020202020204" pitchFamily="34" charset="0"/>
                <a:cs typeface="Arial" panose="020B0604020202020204" pitchFamily="34" charset="0"/>
              </a:rPr>
              <a:t>Karl mikli </a:t>
            </a:r>
            <a:r>
              <a:rPr lang="is-IS" sz="1800">
                <a:latin typeface="Arial" panose="020B0604020202020204" pitchFamily="34" charset="0"/>
                <a:cs typeface="Arial" panose="020B0604020202020204" pitchFamily="34" charset="0"/>
              </a:rPr>
              <a:t>(magnus merkir mikli) (742-814) var konungur </a:t>
            </a:r>
            <a:r>
              <a:rPr lang="is-IS" sz="1800" b="1">
                <a:latin typeface="Arial" panose="020B0604020202020204" pitchFamily="34" charset="0"/>
                <a:cs typeface="Arial" panose="020B0604020202020204" pitchFamily="34" charset="0"/>
              </a:rPr>
              <a:t>Frankaríkis</a:t>
            </a:r>
            <a:r>
              <a:rPr lang="is-IS" sz="1800">
                <a:latin typeface="Arial" panose="020B0604020202020204" pitchFamily="34" charset="0"/>
                <a:cs typeface="Arial" panose="020B0604020202020204" pitchFamily="34" charset="0"/>
              </a:rPr>
              <a:t> frá 768 og tók við af föður sínum </a:t>
            </a:r>
            <a:r>
              <a:rPr lang="is-IS" sz="1800" b="1">
                <a:latin typeface="Arial" panose="020B0604020202020204" pitchFamily="34" charset="0"/>
                <a:cs typeface="Arial" panose="020B0604020202020204" pitchFamily="34" charset="0"/>
              </a:rPr>
              <a:t>Pepín litla </a:t>
            </a:r>
            <a:r>
              <a:rPr lang="is-IS" sz="1800">
                <a:latin typeface="Arial" panose="020B0604020202020204" pitchFamily="34" charset="0"/>
                <a:cs typeface="Arial" panose="020B0604020202020204" pitchFamily="34" charset="0"/>
              </a:rPr>
              <a:t>og jók mjög við landssvæði ríkisins. Hann lagði undir sig ríki </a:t>
            </a:r>
            <a:r>
              <a:rPr lang="is-IS" sz="1800" b="1">
                <a:latin typeface="Arial" panose="020B0604020202020204" pitchFamily="34" charset="0"/>
                <a:cs typeface="Arial" panose="020B0604020202020204" pitchFamily="34" charset="0"/>
              </a:rPr>
              <a:t>Saxa</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Langbarða</a:t>
            </a:r>
            <a:r>
              <a:rPr lang="is-IS" sz="1800">
                <a:latin typeface="Arial" panose="020B0604020202020204" pitchFamily="34" charset="0"/>
                <a:cs typeface="Arial" panose="020B0604020202020204" pitchFamily="34" charset="0"/>
              </a:rPr>
              <a:t> á Ítalíu auk þess að gera landsvæði Tékka, Sorba og Vitsa að skattlendum. Á </a:t>
            </a:r>
            <a:r>
              <a:rPr lang="is-IS" sz="1800" b="1">
                <a:latin typeface="Arial" panose="020B0604020202020204" pitchFamily="34" charset="0"/>
                <a:cs typeface="Arial" panose="020B0604020202020204" pitchFamily="34" charset="0"/>
              </a:rPr>
              <a:t>jólanótt</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árið 800 </a:t>
            </a:r>
            <a:r>
              <a:rPr lang="is-IS" sz="1800">
                <a:latin typeface="Arial" panose="020B0604020202020204" pitchFamily="34" charset="0"/>
                <a:cs typeface="Arial" panose="020B0604020202020204" pitchFamily="34" charset="0"/>
              </a:rPr>
              <a:t>lét hann </a:t>
            </a:r>
            <a:r>
              <a:rPr lang="is-IS" sz="1800" b="1">
                <a:latin typeface="Arial" panose="020B0604020202020204" pitchFamily="34" charset="0"/>
                <a:cs typeface="Arial" panose="020B0604020202020204" pitchFamily="34" charset="0"/>
              </a:rPr>
              <a:t>Leó</a:t>
            </a:r>
            <a:r>
              <a:rPr lang="is-IS" sz="1800">
                <a:latin typeface="Arial" panose="020B0604020202020204" pitchFamily="34" charset="0"/>
                <a:cs typeface="Arial" panose="020B0604020202020204" pitchFamily="34" charset="0"/>
              </a:rPr>
              <a:t> páfa krýna sig </a:t>
            </a:r>
            <a:r>
              <a:rPr lang="is-IS" sz="1800" b="1">
                <a:latin typeface="Arial" panose="020B0604020202020204" pitchFamily="34" charset="0"/>
                <a:cs typeface="Arial" panose="020B0604020202020204" pitchFamily="34" charset="0"/>
              </a:rPr>
              <a:t>Rómarkeisara</a:t>
            </a:r>
            <a:r>
              <a:rPr lang="is-IS" sz="1800">
                <a:latin typeface="Arial" panose="020B0604020202020204" pitchFamily="34" charset="0"/>
                <a:cs typeface="Arial" panose="020B0604020202020204" pitchFamily="34" charset="0"/>
              </a:rPr>
              <a:t> í Péturskirkjunni í Róm. Hann studdist mjög við kirkjuna og kvaddi helstu lærdómsmenn hennar til hirðar sinnar í </a:t>
            </a:r>
            <a:r>
              <a:rPr lang="is-IS" sz="1800" b="1">
                <a:latin typeface="Arial" panose="020B0604020202020204" pitchFamily="34" charset="0"/>
                <a:cs typeface="Arial" panose="020B0604020202020204" pitchFamily="34" charset="0"/>
              </a:rPr>
              <a:t>Aachen</a:t>
            </a:r>
            <a:r>
              <a:rPr lang="is-IS" sz="1800">
                <a:latin typeface="Arial" panose="020B0604020202020204" pitchFamily="34" charset="0"/>
                <a:cs typeface="Arial" panose="020B0604020202020204" pitchFamily="34" charset="0"/>
              </a:rPr>
              <a:t> (nú Þýskalandi); og varð borgin miðstöð lista og menningarlífs í ríkinu, kallað </a:t>
            </a:r>
            <a:r>
              <a:rPr lang="is-IS" sz="1800" b="1">
                <a:latin typeface="Arial" panose="020B0604020202020204" pitchFamily="34" charset="0"/>
                <a:cs typeface="Arial" panose="020B0604020202020204" pitchFamily="34" charset="0"/>
              </a:rPr>
              <a:t>karlungalistar</a:t>
            </a:r>
            <a:r>
              <a:rPr lang="is-IS" sz="1800">
                <a:latin typeface="Arial" panose="020B0604020202020204" pitchFamily="34" charset="0"/>
                <a:cs typeface="Arial" panose="020B0604020202020204" pitchFamily="34" charset="0"/>
              </a:rPr>
              <a:t>. Í tíð Karlamagnús hófst </a:t>
            </a:r>
            <a:r>
              <a:rPr lang="is-IS" sz="1800" b="1">
                <a:latin typeface="Arial" panose="020B0604020202020204" pitchFamily="34" charset="0"/>
                <a:cs typeface="Arial" panose="020B0604020202020204" pitchFamily="34" charset="0"/>
              </a:rPr>
              <a:t>lénskerfið</a:t>
            </a:r>
            <a:r>
              <a:rPr lang="is-IS" sz="1800">
                <a:latin typeface="Arial" panose="020B0604020202020204" pitchFamily="34" charset="0"/>
                <a:cs typeface="Arial" panose="020B0604020202020204" pitchFamily="34" charset="0"/>
              </a:rPr>
              <a:t> að þróast í Evrópu.</a:t>
            </a:r>
          </a:p>
          <a:p>
            <a:pPr marL="0" indent="0">
              <a:buNone/>
            </a:pPr>
            <a:r>
              <a:rPr lang="is-IS" sz="1800">
                <a:latin typeface="Arial" panose="020B0604020202020204" pitchFamily="34" charset="0"/>
                <a:cs typeface="Arial" panose="020B0604020202020204" pitchFamily="34" charset="0"/>
              </a:rPr>
              <a:t>Á miðöldum voru krýndir keisarar </a:t>
            </a:r>
            <a:r>
              <a:rPr lang="is-IS" sz="1800" b="1">
                <a:latin typeface="Arial" panose="020B0604020202020204" pitchFamily="34" charset="0"/>
                <a:cs typeface="Arial" panose="020B0604020202020204" pitchFamily="34" charset="0"/>
              </a:rPr>
              <a:t>Heilaga rómverska keisaradæmisins</a:t>
            </a:r>
            <a:r>
              <a:rPr lang="is-IS" sz="1800">
                <a:latin typeface="Arial" panose="020B0604020202020204" pitchFamily="34" charset="0"/>
                <a:cs typeface="Arial" panose="020B0604020202020204" pitchFamily="34" charset="0"/>
              </a:rPr>
              <a:t>; sem var einskonar yfirkonungur ýmisa smáríkja, konungsdæma og furstaríkja í Evrópu. </a:t>
            </a:r>
            <a:r>
              <a:rPr lang="is-IS" sz="1800" b="1">
                <a:latin typeface="Arial" panose="020B0604020202020204" pitchFamily="34" charset="0"/>
                <a:cs typeface="Arial" panose="020B0604020202020204" pitchFamily="34" charset="0"/>
              </a:rPr>
              <a:t>Napóleon</a:t>
            </a:r>
            <a:r>
              <a:rPr lang="is-IS" sz="1800">
                <a:latin typeface="Arial" panose="020B0604020202020204" pitchFamily="34" charset="0"/>
                <a:cs typeface="Arial" panose="020B0604020202020204" pitchFamily="34" charset="0"/>
              </a:rPr>
              <a:t> lagði það niður 1806; en handhafar þess töldu Karlamagnús þann fyrsta í röðinni.</a:t>
            </a:r>
          </a:p>
        </p:txBody>
      </p:sp>
      <p:pic>
        <p:nvPicPr>
          <p:cNvPr id="1026" name="Picture 2" descr="Charlemagne denier Mayence 812 8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769" y="1139371"/>
            <a:ext cx="5038100" cy="5290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446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Djengis Khan</a:t>
            </a:r>
          </a:p>
        </p:txBody>
      </p:sp>
      <p:sp>
        <p:nvSpPr>
          <p:cNvPr id="3" name="Content Placeholder 2"/>
          <p:cNvSpPr>
            <a:spLocks noGrp="1"/>
          </p:cNvSpPr>
          <p:nvPr>
            <p:ph idx="1"/>
          </p:nvPr>
        </p:nvSpPr>
        <p:spPr>
          <a:xfrm>
            <a:off x="838200" y="1825625"/>
            <a:ext cx="6714067" cy="3406775"/>
          </a:xfrm>
        </p:spPr>
        <p:txBody>
          <a:bodyPr>
            <a:normAutofit/>
          </a:bodyPr>
          <a:lstStyle/>
          <a:p>
            <a:pPr marL="0" indent="0">
              <a:buNone/>
            </a:pPr>
            <a:r>
              <a:rPr lang="is-IS" sz="1800" b="1">
                <a:latin typeface="Arial" panose="020B0604020202020204" pitchFamily="34" charset="0"/>
                <a:cs typeface="Arial" panose="020B0604020202020204" pitchFamily="34" charset="0"/>
              </a:rPr>
              <a:t>Djengis Khan </a:t>
            </a:r>
            <a:r>
              <a:rPr lang="is-IS" sz="1800">
                <a:latin typeface="Arial" panose="020B0604020202020204" pitchFamily="34" charset="0"/>
                <a:cs typeface="Arial" panose="020B0604020202020204" pitchFamily="34" charset="0"/>
              </a:rPr>
              <a:t>(rétt nafn </a:t>
            </a:r>
            <a:r>
              <a:rPr lang="is-IS" sz="1800" b="1">
                <a:latin typeface="Arial" panose="020B0604020202020204" pitchFamily="34" charset="0"/>
                <a:cs typeface="Arial" panose="020B0604020202020204" pitchFamily="34" charset="0"/>
              </a:rPr>
              <a:t>Temújin</a:t>
            </a:r>
            <a:r>
              <a:rPr lang="is-IS" sz="1800">
                <a:latin typeface="Arial" panose="020B0604020202020204" pitchFamily="34" charset="0"/>
                <a:cs typeface="Arial" panose="020B0604020202020204" pitchFamily="34" charset="0"/>
              </a:rPr>
              <a:t>) (1162?-1227) var </a:t>
            </a:r>
            <a:r>
              <a:rPr lang="is-IS" sz="1800" b="1">
                <a:latin typeface="Arial" panose="020B0604020202020204" pitchFamily="34" charset="0"/>
                <a:cs typeface="Arial" panose="020B0604020202020204" pitchFamily="34" charset="0"/>
              </a:rPr>
              <a:t>mongólskur</a:t>
            </a:r>
            <a:r>
              <a:rPr lang="is-IS" sz="1800">
                <a:latin typeface="Arial" panose="020B0604020202020204" pitchFamily="34" charset="0"/>
                <a:cs typeface="Arial" panose="020B0604020202020204" pitchFamily="34" charset="0"/>
              </a:rPr>
              <a:t> höfðingi, sem sameinaði Mongóla í eitt ríki á 13. öld og lögðu þeir síðan undir sig lönd frá Kyrrhafi og langt inn í A-Evrópu. Um 1216 náði hann </a:t>
            </a:r>
            <a:r>
              <a:rPr lang="is-IS" sz="1800" b="1">
                <a:latin typeface="Arial" panose="020B0604020202020204" pitchFamily="34" charset="0"/>
                <a:cs typeface="Arial" panose="020B0604020202020204" pitchFamily="34" charset="0"/>
              </a:rPr>
              <a:t>Kína</a:t>
            </a:r>
            <a:r>
              <a:rPr lang="is-IS" sz="1800">
                <a:latin typeface="Arial" panose="020B0604020202020204" pitchFamily="34" charset="0"/>
                <a:cs typeface="Arial" panose="020B0604020202020204" pitchFamily="34" charset="0"/>
              </a:rPr>
              <a:t> á sitt vald. Eftir dauða hans stækkaði veldi Mongóla enn.</a:t>
            </a:r>
          </a:p>
        </p:txBody>
      </p:sp>
      <p:pic>
        <p:nvPicPr>
          <p:cNvPr id="10242" name="Picture 2" descr="File:YuanEmperorAlbumGenghisPortrai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4300" y="778933"/>
            <a:ext cx="44577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341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1575" y="26557"/>
            <a:ext cx="10515600" cy="1325563"/>
          </a:xfrm>
        </p:spPr>
        <p:txBody>
          <a:bodyPr/>
          <a:lstStyle/>
          <a:p>
            <a:r>
              <a:rPr lang="is-IS">
                <a:latin typeface="Arial Black"/>
              </a:rPr>
              <a:t>Jóhannes </a:t>
            </a:r>
            <a:r>
              <a:rPr lang="is-IS" err="1">
                <a:latin typeface="Arial Black"/>
              </a:rPr>
              <a:t>Gutenberg</a:t>
            </a:r>
            <a:endParaRPr lang="en-US" err="1">
              <a:ea typeface="Calibri Light"/>
              <a:cs typeface="Calibri Light"/>
            </a:endParaRPr>
          </a:p>
        </p:txBody>
      </p:sp>
      <p:sp>
        <p:nvSpPr>
          <p:cNvPr id="4" name="TextBox 3"/>
          <p:cNvSpPr txBox="1"/>
          <p:nvPr/>
        </p:nvSpPr>
        <p:spPr>
          <a:xfrm>
            <a:off x="821574" y="1375014"/>
            <a:ext cx="6077989" cy="3139321"/>
          </a:xfrm>
          <a:prstGeom prst="rect">
            <a:avLst/>
          </a:prstGeom>
          <a:noFill/>
        </p:spPr>
        <p:txBody>
          <a:bodyPr wrap="square" lIns="91440" tIns="45720" rIns="91440" bIns="45720" rtlCol="0" anchor="t">
            <a:spAutoFit/>
          </a:bodyPr>
          <a:lstStyle/>
          <a:p>
            <a:r>
              <a:rPr lang="is-IS" b="1">
                <a:latin typeface="Arial"/>
                <a:cs typeface="Arial"/>
              </a:rPr>
              <a:t>Jóhannes </a:t>
            </a:r>
            <a:r>
              <a:rPr lang="is-IS" b="1" err="1">
                <a:latin typeface="Arial"/>
                <a:cs typeface="Arial"/>
              </a:rPr>
              <a:t>Gutenberg</a:t>
            </a:r>
            <a:r>
              <a:rPr lang="is-IS" b="1">
                <a:latin typeface="Arial"/>
                <a:cs typeface="Arial"/>
              </a:rPr>
              <a:t> </a:t>
            </a:r>
            <a:r>
              <a:rPr lang="is-IS">
                <a:latin typeface="Arial"/>
                <a:cs typeface="Arial"/>
              </a:rPr>
              <a:t>(u.þ.b. 1400-1468)</a:t>
            </a:r>
            <a:r>
              <a:rPr lang="is-IS" b="1">
                <a:latin typeface="Arial"/>
                <a:cs typeface="Arial"/>
              </a:rPr>
              <a:t> </a:t>
            </a:r>
            <a:r>
              <a:rPr lang="is-IS">
                <a:latin typeface="Arial"/>
                <a:cs typeface="Arial"/>
              </a:rPr>
              <a:t>var þýskur eld- og gullsmiður sem fullkomnaði nútíma prenttækni (e</a:t>
            </a:r>
            <a:r>
              <a:rPr lang="is-IS" i="1">
                <a:latin typeface="Arial"/>
                <a:cs typeface="Arial"/>
              </a:rPr>
              <a:t>. </a:t>
            </a:r>
            <a:r>
              <a:rPr lang="is-IS" i="1" err="1">
                <a:latin typeface="Arial"/>
                <a:cs typeface="Arial"/>
              </a:rPr>
              <a:t>printing</a:t>
            </a:r>
            <a:r>
              <a:rPr lang="is-IS" i="1">
                <a:latin typeface="Arial"/>
                <a:cs typeface="Arial"/>
              </a:rPr>
              <a:t> </a:t>
            </a:r>
            <a:r>
              <a:rPr lang="is-IS" i="1" err="1">
                <a:latin typeface="Arial"/>
                <a:cs typeface="Arial"/>
              </a:rPr>
              <a:t>press</a:t>
            </a:r>
            <a:r>
              <a:rPr lang="is-IS">
                <a:latin typeface="Arial"/>
                <a:cs typeface="Arial"/>
              </a:rPr>
              <a:t>) með því að innleiða </a:t>
            </a:r>
            <a:r>
              <a:rPr lang="is-IS" b="1">
                <a:latin typeface="Arial"/>
                <a:cs typeface="Arial"/>
              </a:rPr>
              <a:t>lausa prentstafi </a:t>
            </a:r>
            <a:r>
              <a:rPr lang="is-IS">
                <a:latin typeface="Arial"/>
                <a:cs typeface="Arial"/>
              </a:rPr>
              <a:t>(sem þó höfðu verið þekktir í Kína í fornöld). Um var að ræða mikla byltingu í upplýsingamálum því nú var hægt að prenta bækur og bæklinga í stærra upplagi en hafði áður þekkst. Árið 1455 prentaði hann </a:t>
            </a:r>
            <a:r>
              <a:rPr lang="is-IS" b="1">
                <a:latin typeface="Arial"/>
                <a:cs typeface="Arial"/>
              </a:rPr>
              <a:t>42 línu biblíuna</a:t>
            </a:r>
            <a:r>
              <a:rPr lang="is-IS">
                <a:latin typeface="Arial"/>
                <a:cs typeface="Arial"/>
              </a:rPr>
              <a:t>, eða </a:t>
            </a:r>
            <a:r>
              <a:rPr lang="is-IS" b="1" err="1">
                <a:latin typeface="Arial"/>
                <a:cs typeface="Arial"/>
              </a:rPr>
              <a:t>Gutenberg</a:t>
            </a:r>
            <a:r>
              <a:rPr lang="is-IS" b="1">
                <a:latin typeface="Arial"/>
                <a:cs typeface="Arial"/>
              </a:rPr>
              <a:t> biblíuna</a:t>
            </a:r>
            <a:r>
              <a:rPr lang="is-IS">
                <a:latin typeface="Arial"/>
                <a:cs typeface="Arial"/>
              </a:rPr>
              <a:t>. </a:t>
            </a:r>
            <a:endParaRPr lang="en-US">
              <a:latin typeface="Arial"/>
              <a:cs typeface="Arial"/>
            </a:endParaRPr>
          </a:p>
          <a:p>
            <a:endParaRPr lang="is-IS">
              <a:latin typeface="Arial"/>
              <a:cs typeface="Arial"/>
            </a:endParaRPr>
          </a:p>
          <a:p>
            <a:r>
              <a:rPr lang="is-IS">
                <a:latin typeface="Arial"/>
                <a:cs typeface="Arial"/>
              </a:rPr>
              <a:t>Það var prentsmiðja á Íslandi sem hét </a:t>
            </a:r>
            <a:r>
              <a:rPr lang="is-IS" err="1">
                <a:latin typeface="Arial"/>
                <a:cs typeface="Arial"/>
              </a:rPr>
              <a:t>Gutenberg</a:t>
            </a:r>
            <a:r>
              <a:rPr lang="is-IS">
                <a:latin typeface="Arial"/>
                <a:cs typeface="Arial"/>
              </a:rPr>
              <a:t> um tíma.</a:t>
            </a:r>
          </a:p>
        </p:txBody>
      </p:sp>
      <p:pic>
        <p:nvPicPr>
          <p:cNvPr id="6" name="Content Placeholder 5" descr="A portrait of a person with a long beard&#10;&#10;AI-generated content may be incorrect.">
            <a:extLst>
              <a:ext uri="{FF2B5EF4-FFF2-40B4-BE49-F238E27FC236}">
                <a16:creationId xmlns:a16="http://schemas.microsoft.com/office/drawing/2014/main" id="{8E4F5506-E2F7-35EF-36DF-8963EF4DEF70}"/>
              </a:ext>
            </a:extLst>
          </p:cNvPr>
          <p:cNvPicPr>
            <a:picLocks noGrp="1" noChangeAspect="1"/>
          </p:cNvPicPr>
          <p:nvPr>
            <p:ph idx="1"/>
          </p:nvPr>
        </p:nvPicPr>
        <p:blipFill>
          <a:blip r:embed="rId2"/>
          <a:stretch>
            <a:fillRect/>
          </a:stretch>
        </p:blipFill>
        <p:spPr>
          <a:xfrm>
            <a:off x="7860622" y="972169"/>
            <a:ext cx="3964920" cy="5058561"/>
          </a:xfrm>
          <a:prstGeom prst="rect">
            <a:avLst/>
          </a:prstGeom>
        </p:spPr>
      </p:pic>
    </p:spTree>
    <p:extLst>
      <p:ext uri="{BB962C8B-B14F-4D97-AF65-F5344CB8AC3E}">
        <p14:creationId xmlns:p14="http://schemas.microsoft.com/office/powerpoint/2010/main" val="3604136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Jóhanna af Örk</a:t>
            </a:r>
          </a:p>
        </p:txBody>
      </p:sp>
      <p:sp>
        <p:nvSpPr>
          <p:cNvPr id="3" name="Content Placeholder 2"/>
          <p:cNvSpPr>
            <a:spLocks noGrp="1"/>
          </p:cNvSpPr>
          <p:nvPr>
            <p:ph idx="1"/>
          </p:nvPr>
        </p:nvSpPr>
        <p:spPr>
          <a:xfrm>
            <a:off x="838200" y="1825625"/>
            <a:ext cx="6510867" cy="4151842"/>
          </a:xfrm>
        </p:spPr>
        <p:txBody>
          <a:bodyPr>
            <a:normAutofit/>
          </a:bodyPr>
          <a:lstStyle/>
          <a:p>
            <a:pPr marL="0" indent="0">
              <a:buNone/>
            </a:pPr>
            <a:r>
              <a:rPr lang="is-IS" sz="1800" b="1">
                <a:latin typeface="Arial" panose="020B0604020202020204" pitchFamily="34" charset="0"/>
                <a:cs typeface="Arial" panose="020B0604020202020204" pitchFamily="34" charset="0"/>
              </a:rPr>
              <a:t>Jóhanna af Örk </a:t>
            </a:r>
            <a:r>
              <a:rPr lang="is-IS" sz="1800">
                <a:latin typeface="Arial" panose="020B0604020202020204" pitchFamily="34" charset="0"/>
                <a:cs typeface="Arial" panose="020B0604020202020204" pitchFamily="34" charset="0"/>
              </a:rPr>
              <a:t>(1412-1431) eða </a:t>
            </a:r>
            <a:r>
              <a:rPr lang="is-IS" sz="1800" b="1">
                <a:latin typeface="Arial" panose="020B0604020202020204" pitchFamily="34" charset="0"/>
                <a:cs typeface="Arial" panose="020B0604020202020204" pitchFamily="34" charset="0"/>
              </a:rPr>
              <a:t>Mærin frá Orleans </a:t>
            </a:r>
            <a:r>
              <a:rPr lang="is-IS" sz="1800">
                <a:latin typeface="Arial" panose="020B0604020202020204" pitchFamily="34" charset="0"/>
                <a:cs typeface="Arial" panose="020B0604020202020204" pitchFamily="34" charset="0"/>
              </a:rPr>
              <a:t>var </a:t>
            </a:r>
            <a:r>
              <a:rPr lang="is-IS" sz="1800" b="1">
                <a:latin typeface="Arial" panose="020B0604020202020204" pitchFamily="34" charset="0"/>
                <a:cs typeface="Arial" panose="020B0604020202020204" pitchFamily="34" charset="0"/>
              </a:rPr>
              <a:t>frönsk</a:t>
            </a:r>
            <a:r>
              <a:rPr lang="is-IS" sz="1800">
                <a:latin typeface="Arial" panose="020B0604020202020204" pitchFamily="34" charset="0"/>
                <a:cs typeface="Arial" panose="020B0604020202020204" pitchFamily="34" charset="0"/>
              </a:rPr>
              <a:t> bændastúlka sem taldi sig útvalda af Guði til að frelsa Frakka úr höndum Englendinga í </a:t>
            </a:r>
            <a:r>
              <a:rPr lang="is-IS" sz="1800" b="1">
                <a:latin typeface="Arial" panose="020B0604020202020204" pitchFamily="34" charset="0"/>
                <a:cs typeface="Arial" panose="020B0604020202020204" pitchFamily="34" charset="0"/>
              </a:rPr>
              <a:t>100 ára stríðinu</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Karl VII </a:t>
            </a:r>
            <a:r>
              <a:rPr lang="is-IS" sz="1800">
                <a:latin typeface="Arial" panose="020B0604020202020204" pitchFamily="34" charset="0"/>
                <a:cs typeface="Arial" panose="020B0604020202020204" pitchFamily="34" charset="0"/>
              </a:rPr>
              <a:t>konungur Frakklands lét hana hafa stjórn yfir franska hernum og árið </a:t>
            </a:r>
            <a:r>
              <a:rPr lang="is-IS" sz="1800" b="1">
                <a:latin typeface="Arial" panose="020B0604020202020204" pitchFamily="34" charset="0"/>
                <a:cs typeface="Arial" panose="020B0604020202020204" pitchFamily="34" charset="0"/>
              </a:rPr>
              <a:t>1429</a:t>
            </a:r>
            <a:r>
              <a:rPr lang="is-IS" sz="1800">
                <a:latin typeface="Arial" panose="020B0604020202020204" pitchFamily="34" charset="0"/>
                <a:cs typeface="Arial" panose="020B0604020202020204" pitchFamily="34" charset="0"/>
              </a:rPr>
              <a:t> leiddi hún her Frakka til sigurs við </a:t>
            </a:r>
            <a:r>
              <a:rPr lang="is-IS" sz="1800" b="1">
                <a:latin typeface="Arial" panose="020B0604020202020204" pitchFamily="34" charset="0"/>
                <a:cs typeface="Arial" panose="020B0604020202020204" pitchFamily="34" charset="0"/>
              </a:rPr>
              <a:t>Orléans</a:t>
            </a:r>
            <a:r>
              <a:rPr lang="is-IS" sz="1800">
                <a:latin typeface="Arial" panose="020B0604020202020204" pitchFamily="34" charset="0"/>
                <a:cs typeface="Arial" panose="020B0604020202020204" pitchFamily="34" charset="0"/>
              </a:rPr>
              <a:t>. Karl VII fór til </a:t>
            </a:r>
            <a:r>
              <a:rPr lang="is-IS" sz="1800" b="1">
                <a:latin typeface="Arial" panose="020B0604020202020204" pitchFamily="34" charset="0"/>
                <a:cs typeface="Arial" panose="020B0604020202020204" pitchFamily="34" charset="0"/>
              </a:rPr>
              <a:t>Reims</a:t>
            </a:r>
            <a:r>
              <a:rPr lang="is-IS" sz="1800">
                <a:latin typeface="Arial" panose="020B0604020202020204" pitchFamily="34" charset="0"/>
                <a:cs typeface="Arial" panose="020B0604020202020204" pitchFamily="34" charset="0"/>
              </a:rPr>
              <a:t> og var formlega krýndur, en Frakkar höfðu átt undir höggi að sækja árin á undan. </a:t>
            </a:r>
            <a:r>
              <a:rPr lang="is-IS" sz="1800" b="1">
                <a:latin typeface="Arial" panose="020B0604020202020204" pitchFamily="34" charset="0"/>
                <a:cs typeface="Arial" panose="020B0604020202020204" pitchFamily="34" charset="0"/>
              </a:rPr>
              <a:t>Búrgundar</a:t>
            </a:r>
            <a:r>
              <a:rPr lang="is-IS" sz="1800">
                <a:latin typeface="Arial" panose="020B0604020202020204" pitchFamily="34" charset="0"/>
                <a:cs typeface="Arial" panose="020B0604020202020204" pitchFamily="34" charset="0"/>
              </a:rPr>
              <a:t>, bandamenn Englendinga, náðu henni á sitt vald, eftir að Frakkakonungur sveik hana.  Englendingar brenndu hana á báli í </a:t>
            </a:r>
            <a:r>
              <a:rPr lang="is-IS" sz="1800" b="1">
                <a:latin typeface="Arial" panose="020B0604020202020204" pitchFamily="34" charset="0"/>
                <a:cs typeface="Arial" panose="020B0604020202020204" pitchFamily="34" charset="0"/>
              </a:rPr>
              <a:t>Rúðuborg</a:t>
            </a:r>
            <a:r>
              <a:rPr lang="is-IS" sz="1800">
                <a:latin typeface="Arial" panose="020B0604020202020204" pitchFamily="34" charset="0"/>
                <a:cs typeface="Arial" panose="020B0604020202020204" pitchFamily="34" charset="0"/>
              </a:rPr>
              <a:t> (Rouen) </a:t>
            </a:r>
            <a:r>
              <a:rPr lang="is-IS" sz="1800" b="1">
                <a:latin typeface="Arial" panose="020B0604020202020204" pitchFamily="34" charset="0"/>
                <a:cs typeface="Arial" panose="020B0604020202020204" pitchFamily="34" charset="0"/>
              </a:rPr>
              <a:t>1431</a:t>
            </a:r>
            <a:r>
              <a:rPr lang="is-IS" sz="1800">
                <a:latin typeface="Arial" panose="020B0604020202020204" pitchFamily="34" charset="0"/>
                <a:cs typeface="Arial" panose="020B0604020202020204" pitchFamily="34" charset="0"/>
              </a:rPr>
              <a:t> eftir að hafa dæmt hana fyrir villutrú og galdra. Hún var formlega tekin í </a:t>
            </a:r>
            <a:r>
              <a:rPr lang="is-IS" sz="1800" b="1">
                <a:latin typeface="Arial" panose="020B0604020202020204" pitchFamily="34" charset="0"/>
                <a:cs typeface="Arial" panose="020B0604020202020204" pitchFamily="34" charset="0"/>
              </a:rPr>
              <a:t>dýrlingatölu</a:t>
            </a:r>
            <a:r>
              <a:rPr lang="is-IS" sz="1800">
                <a:latin typeface="Arial" panose="020B0604020202020204" pitchFamily="34" charset="0"/>
                <a:cs typeface="Arial" panose="020B0604020202020204" pitchFamily="34" charset="0"/>
              </a:rPr>
              <a:t> 1920 sem Heilög Jóhanna.</a:t>
            </a:r>
          </a:p>
        </p:txBody>
      </p:sp>
      <p:pic>
        <p:nvPicPr>
          <p:cNvPr id="11266" name="Picture 2" descr="Joan of Arc miniature grad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1881" y="220134"/>
            <a:ext cx="4208493" cy="636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9492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b="1">
                <a:latin typeface="Arial Black" panose="020B0A04020102020204" pitchFamily="34" charset="0"/>
              </a:rPr>
              <a:t>Vasco da Gama</a:t>
            </a:r>
          </a:p>
        </p:txBody>
      </p:sp>
      <p:pic>
        <p:nvPicPr>
          <p:cNvPr id="6146" name="Picture 2" descr="Lisboa-Museu Nacional de Arte Antiga-Retrato dito de Vasco da Gama-20140917.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97831" y="482240"/>
            <a:ext cx="4275045" cy="59850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97527" y="1690688"/>
            <a:ext cx="6151418" cy="286232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Vasco da Gama </a:t>
            </a:r>
            <a:r>
              <a:rPr lang="is-IS">
                <a:latin typeface="Arial" panose="020B0604020202020204" pitchFamily="34" charset="0"/>
                <a:cs typeface="Arial" panose="020B0604020202020204" pitchFamily="34" charset="0"/>
              </a:rPr>
              <a:t>(u.þ.b. 1460-1524) var </a:t>
            </a:r>
            <a:r>
              <a:rPr lang="is-IS" b="1">
                <a:latin typeface="Arial" panose="020B0604020202020204" pitchFamily="34" charset="0"/>
                <a:cs typeface="Arial" panose="020B0604020202020204" pitchFamily="34" charset="0"/>
              </a:rPr>
              <a:t>portúgalskur</a:t>
            </a:r>
            <a:r>
              <a:rPr lang="is-IS">
                <a:latin typeface="Arial" panose="020B0604020202020204" pitchFamily="34" charset="0"/>
                <a:cs typeface="Arial" panose="020B0604020202020204" pitchFamily="34" charset="0"/>
              </a:rPr>
              <a:t> landkönnur sem fyrstur Evrópubúa </a:t>
            </a:r>
            <a:r>
              <a:rPr lang="is-IS" b="1">
                <a:latin typeface="Arial" panose="020B0604020202020204" pitchFamily="34" charset="0"/>
                <a:cs typeface="Arial" panose="020B0604020202020204" pitchFamily="34" charset="0"/>
              </a:rPr>
              <a:t>fann sjóleiðina til Indlands</a:t>
            </a:r>
            <a:r>
              <a:rPr lang="is-IS">
                <a:latin typeface="Arial" panose="020B0604020202020204" pitchFamily="34" charset="0"/>
                <a:cs typeface="Arial" panose="020B0604020202020204" pitchFamily="34" charset="0"/>
              </a:rPr>
              <a:t> um suðurodda Afríku. Fyrsti leiðangur hans var farinn á árunum 1497-1499, áður hafði </a:t>
            </a:r>
            <a:r>
              <a:rPr lang="is-IS" b="1">
                <a:latin typeface="Arial" panose="020B0604020202020204" pitchFamily="34" charset="0"/>
                <a:cs typeface="Arial" panose="020B0604020202020204" pitchFamily="34" charset="0"/>
              </a:rPr>
              <a:t>Bartólmeus Días </a:t>
            </a:r>
            <a:r>
              <a:rPr lang="is-IS">
                <a:latin typeface="Arial" panose="020B0604020202020204" pitchFamily="34" charset="0"/>
                <a:cs typeface="Arial" panose="020B0604020202020204" pitchFamily="34" charset="0"/>
              </a:rPr>
              <a:t>siglt fyrir suðurodda Afríku og inn á Indlandshaf; fyrstur Evrópubúa. I kjölfar þess að Portúgal fann sjóleiðina til Indlands upphófst mikið blómaskeið og stóð veldi þeirra hæst á 15. og 16. öld; enda höfðu Portúgalir á þeim tíma nánast einokun á flutningi á dýrum varningi frá Indlandi til Evrópu, sjóleiðis.</a:t>
            </a:r>
          </a:p>
        </p:txBody>
      </p:sp>
    </p:spTree>
    <p:extLst>
      <p:ext uri="{BB962C8B-B14F-4D97-AF65-F5344CB8AC3E}">
        <p14:creationId xmlns:p14="http://schemas.microsoft.com/office/powerpoint/2010/main" val="1059752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063" y="256854"/>
            <a:ext cx="10901737" cy="992204"/>
          </a:xfrm>
        </p:spPr>
        <p:txBody>
          <a:bodyPr/>
          <a:lstStyle/>
          <a:p>
            <a:r>
              <a:rPr lang="is-IS">
                <a:latin typeface="Arial Black" panose="020B0A04020102020204" pitchFamily="34" charset="0"/>
              </a:rPr>
              <a:t>Kristófer Kólumbus</a:t>
            </a:r>
          </a:p>
        </p:txBody>
      </p:sp>
      <p:pic>
        <p:nvPicPr>
          <p:cNvPr id="5122" name="Picture 2" descr="Portrait of a Man, Said to be Christopher Columbus.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02549" y="1000715"/>
            <a:ext cx="4234822" cy="51241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0144" y="1109609"/>
            <a:ext cx="7234314" cy="535531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Kristófer Kólumbus </a:t>
            </a:r>
            <a:r>
              <a:rPr lang="is-IS">
                <a:latin typeface="Arial" panose="020B0604020202020204" pitchFamily="34" charset="0"/>
                <a:cs typeface="Arial" panose="020B0604020202020204" pitchFamily="34" charset="0"/>
              </a:rPr>
              <a:t>(u.þ.b. 1451-1506) var </a:t>
            </a:r>
            <a:r>
              <a:rPr lang="is-IS" b="1">
                <a:latin typeface="Arial" panose="020B0604020202020204" pitchFamily="34" charset="0"/>
                <a:cs typeface="Arial" panose="020B0604020202020204" pitchFamily="34" charset="0"/>
              </a:rPr>
              <a:t>ítalskur</a:t>
            </a:r>
            <a:r>
              <a:rPr lang="is-IS">
                <a:latin typeface="Arial" panose="020B0604020202020204" pitchFamily="34" charset="0"/>
                <a:cs typeface="Arial" panose="020B0604020202020204" pitchFamily="34" charset="0"/>
              </a:rPr>
              <a:t> landkönnuður sem var fæddur í </a:t>
            </a:r>
            <a:r>
              <a:rPr lang="is-IS" b="1">
                <a:latin typeface="Arial" panose="020B0604020202020204" pitchFamily="34" charset="0"/>
                <a:cs typeface="Arial" panose="020B0604020202020204" pitchFamily="34" charset="0"/>
              </a:rPr>
              <a:t>Genúa</a:t>
            </a:r>
            <a:r>
              <a:rPr lang="is-IS">
                <a:latin typeface="Arial" panose="020B0604020202020204" pitchFamily="34" charset="0"/>
                <a:cs typeface="Arial" panose="020B0604020202020204" pitchFamily="34" charset="0"/>
              </a:rPr>
              <a:t> lýðveldinu. Hann naut stuðnings spænsku konungshjónanna </a:t>
            </a:r>
            <a:r>
              <a:rPr lang="is-IS" b="1">
                <a:latin typeface="Arial" panose="020B0604020202020204" pitchFamily="34" charset="0"/>
                <a:cs typeface="Arial" panose="020B0604020202020204" pitchFamily="34" charset="0"/>
              </a:rPr>
              <a:t>Ísabellu</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Ferdinands</a:t>
            </a:r>
            <a:r>
              <a:rPr lang="is-IS">
                <a:latin typeface="Arial" panose="020B0604020202020204" pitchFamily="34" charset="0"/>
                <a:cs typeface="Arial" panose="020B0604020202020204" pitchFamily="34" charset="0"/>
              </a:rPr>
              <a:t> við að leita að sjóleiðinni til Indlands með því að sigla þvert yfir Atlantshafið. Kólumbus fór í alls </a:t>
            </a:r>
            <a:r>
              <a:rPr lang="is-IS" b="1">
                <a:latin typeface="Arial" panose="020B0604020202020204" pitchFamily="34" charset="0"/>
                <a:cs typeface="Arial" panose="020B0604020202020204" pitchFamily="34" charset="0"/>
              </a:rPr>
              <a:t>fjórar</a:t>
            </a:r>
            <a:r>
              <a:rPr lang="is-IS">
                <a:latin typeface="Arial" panose="020B0604020202020204" pitchFamily="34" charset="0"/>
                <a:cs typeface="Arial" panose="020B0604020202020204" pitchFamily="34" charset="0"/>
              </a:rPr>
              <a:t> ferðir og fann, fyrir slysni, </a:t>
            </a:r>
            <a:r>
              <a:rPr lang="is-IS" b="1">
                <a:latin typeface="Arial" panose="020B0604020202020204" pitchFamily="34" charset="0"/>
                <a:cs typeface="Arial" panose="020B0604020202020204" pitchFamily="34" charset="0"/>
              </a:rPr>
              <a:t>Ameríku</a:t>
            </a:r>
            <a:r>
              <a:rPr lang="is-IS">
                <a:latin typeface="Arial" panose="020B0604020202020204" pitchFamily="34" charset="0"/>
                <a:cs typeface="Arial" panose="020B0604020202020204" pitchFamily="34" charset="0"/>
              </a:rPr>
              <a:t> eða Hinn nýja heim. Þegar Kólumbus dó taldi hann sig hafa fundið Indland en ekki nýja heimsálfu. Innfæddir voru því kallaðir indjánar. </a:t>
            </a:r>
          </a:p>
          <a:p>
            <a:r>
              <a:rPr lang="is-IS">
                <a:latin typeface="Arial" panose="020B0604020202020204" pitchFamily="34" charset="0"/>
                <a:cs typeface="Arial" panose="020B0604020202020204" pitchFamily="34" charset="0"/>
              </a:rPr>
              <a:t>Í fyrstu ferðinni sigldi Kólumbus á þremur skipum, </a:t>
            </a:r>
            <a:r>
              <a:rPr lang="is-IS" b="1">
                <a:latin typeface="Arial" panose="020B0604020202020204" pitchFamily="34" charset="0"/>
                <a:cs typeface="Arial" panose="020B0604020202020204" pitchFamily="34" charset="0"/>
              </a:rPr>
              <a:t>Nina</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Pinta</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Santa María </a:t>
            </a:r>
            <a:r>
              <a:rPr lang="is-IS">
                <a:latin typeface="Arial" panose="020B0604020202020204" pitchFamily="34" charset="0"/>
                <a:cs typeface="Arial" panose="020B0604020202020204" pitchFamily="34" charset="0"/>
              </a:rPr>
              <a:t>og tók land á </a:t>
            </a:r>
            <a:r>
              <a:rPr lang="is-IS" b="1">
                <a:latin typeface="Arial" panose="020B0604020202020204" pitchFamily="34" charset="0"/>
                <a:cs typeface="Arial" panose="020B0604020202020204" pitchFamily="34" charset="0"/>
              </a:rPr>
              <a:t>Bahamaeyjum</a:t>
            </a:r>
            <a:r>
              <a:rPr lang="is-IS">
                <a:latin typeface="Arial" panose="020B0604020202020204" pitchFamily="34" charset="0"/>
                <a:cs typeface="Arial" panose="020B0604020202020204" pitchFamily="34" charset="0"/>
              </a:rPr>
              <a:t> árið </a:t>
            </a:r>
            <a:r>
              <a:rPr lang="is-IS" b="1">
                <a:latin typeface="Arial" panose="020B0604020202020204" pitchFamily="34" charset="0"/>
                <a:cs typeface="Arial" panose="020B0604020202020204" pitchFamily="34" charset="0"/>
              </a:rPr>
              <a:t>1492</a:t>
            </a:r>
            <a:r>
              <a:rPr lang="is-IS">
                <a:latin typeface="Arial" panose="020B0604020202020204" pitchFamily="34" charset="0"/>
                <a:cs typeface="Arial" panose="020B0604020202020204" pitchFamily="34" charset="0"/>
              </a:rPr>
              <a:t>. Í framhaldinu fór hann þrjár aðrar ferðir og kannaði eyjar í Karíbahafinu og Suður-Ameríku en tók aldrei land á meginlandi Norður eða Suður Ameríku. Hann stofnaði spænska nýlendu á eyjunni </a:t>
            </a:r>
            <a:r>
              <a:rPr lang="is-IS" b="1">
                <a:latin typeface="Arial" panose="020B0604020202020204" pitchFamily="34" charset="0"/>
                <a:cs typeface="Arial" panose="020B0604020202020204" pitchFamily="34" charset="0"/>
              </a:rPr>
              <a:t>Hispanjóla</a:t>
            </a:r>
            <a:r>
              <a:rPr lang="is-IS">
                <a:latin typeface="Arial" panose="020B0604020202020204" pitchFamily="34" charset="0"/>
                <a:cs typeface="Arial" panose="020B0604020202020204" pitchFamily="34" charset="0"/>
              </a:rPr>
              <a:t> en var settur af sem landsstjóri árið 1500 vegna harðræðis. Hann dó árið 1506 og líkamlegar leifar hans voru fyrst jarðsettar í Valladolid, í kjölfarið fluttar til Sevilla, loks til Hispanjólu en árið 1795 til </a:t>
            </a:r>
            <a:r>
              <a:rPr lang="is-IS" b="1">
                <a:latin typeface="Arial" panose="020B0604020202020204" pitchFamily="34" charset="0"/>
                <a:cs typeface="Arial" panose="020B0604020202020204" pitchFamily="34" charset="0"/>
              </a:rPr>
              <a:t>Kúbu</a:t>
            </a:r>
            <a:r>
              <a:rPr lang="is-IS">
                <a:latin typeface="Arial" panose="020B0604020202020204" pitchFamily="34" charset="0"/>
                <a:cs typeface="Arial" panose="020B0604020202020204" pitchFamily="34" charset="0"/>
              </a:rPr>
              <a:t> og enn síðar, 1898, aftur til Sevilla. </a:t>
            </a:r>
          </a:p>
          <a:p>
            <a:r>
              <a:rPr lang="is-IS" b="1">
                <a:latin typeface="Arial" panose="020B0604020202020204" pitchFamily="34" charset="0"/>
                <a:cs typeface="Arial" panose="020B0604020202020204" pitchFamily="34" charset="0"/>
              </a:rPr>
              <a:t>Amerigo Vespucci </a:t>
            </a:r>
            <a:r>
              <a:rPr lang="is-IS">
                <a:latin typeface="Arial" panose="020B0604020202020204" pitchFamily="34" charset="0"/>
                <a:cs typeface="Arial" panose="020B0604020202020204" pitchFamily="34" charset="0"/>
              </a:rPr>
              <a:t>er talinn fyrstur hafa gert sér grein fyrir því að ekki væri um Indland að ræða heldur nýja heimsálfu sem fékk síðar nafnið Ameríka eftir honum.</a:t>
            </a:r>
          </a:p>
        </p:txBody>
      </p:sp>
    </p:spTree>
    <p:extLst>
      <p:ext uri="{BB962C8B-B14F-4D97-AF65-F5344CB8AC3E}">
        <p14:creationId xmlns:p14="http://schemas.microsoft.com/office/powerpoint/2010/main" val="4067966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714" y="207818"/>
            <a:ext cx="10755086" cy="1573001"/>
          </a:xfrm>
        </p:spPr>
        <p:txBody>
          <a:bodyPr>
            <a:normAutofit/>
          </a:bodyPr>
          <a:lstStyle/>
          <a:p>
            <a:r>
              <a:rPr lang="is-IS">
                <a:latin typeface="Arial Black" panose="020B0A04020102020204" pitchFamily="34" charset="0"/>
              </a:rPr>
              <a:t>Leonardo Da Vinci</a:t>
            </a:r>
          </a:p>
        </p:txBody>
      </p:sp>
      <p:pic>
        <p:nvPicPr>
          <p:cNvPr id="3" name="Picture 4" descr="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4785" y="749575"/>
            <a:ext cx="3771900" cy="570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598714" y="1500027"/>
            <a:ext cx="7281565" cy="4524315"/>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Leonardo da Vinci </a:t>
            </a:r>
            <a:r>
              <a:rPr lang="is-IS">
                <a:latin typeface="Arial" panose="020B0604020202020204" pitchFamily="34" charset="0"/>
                <a:cs typeface="Arial" panose="020B0604020202020204" pitchFamily="34" charset="0"/>
              </a:rPr>
              <a:t>(1452-1519) var ítalskur listmálari, myndhöggvari, arkitekt, verkfræðingur, vísindamaður og fræðimaður. Ættaður frá </a:t>
            </a:r>
            <a:r>
              <a:rPr lang="is-IS" b="1">
                <a:latin typeface="Arial" panose="020B0604020202020204" pitchFamily="34" charset="0"/>
                <a:cs typeface="Arial" panose="020B0604020202020204" pitchFamily="34" charset="0"/>
              </a:rPr>
              <a:t>Flórens</a:t>
            </a:r>
            <a:r>
              <a:rPr lang="is-IS">
                <a:latin typeface="Arial" panose="020B0604020202020204" pitchFamily="34" charset="0"/>
                <a:cs typeface="Arial" panose="020B0604020202020204" pitchFamily="34" charset="0"/>
              </a:rPr>
              <a:t> og talinn í hópi helstu snillinga endurreisnartímabilsins. Lærði hjá Verrocchio í Flórens, réð sig um 1482 í þjónustu </a:t>
            </a:r>
            <a:r>
              <a:rPr lang="is-IS" b="1">
                <a:latin typeface="Arial" panose="020B0604020202020204" pitchFamily="34" charset="0"/>
                <a:cs typeface="Arial" panose="020B0604020202020204" pitchFamily="34" charset="0"/>
              </a:rPr>
              <a:t>Ludovico Sforza </a:t>
            </a:r>
            <a:r>
              <a:rPr lang="is-IS">
                <a:latin typeface="Arial" panose="020B0604020202020204" pitchFamily="34" charset="0"/>
                <a:cs typeface="Arial" panose="020B0604020202020204" pitchFamily="34" charset="0"/>
              </a:rPr>
              <a:t>í Mílanó, þar sem hann málaði m.a. Veggmyndina </a:t>
            </a:r>
            <a:r>
              <a:rPr lang="is-IS" b="1">
                <a:latin typeface="Arial" panose="020B0604020202020204" pitchFamily="34" charset="0"/>
                <a:cs typeface="Arial" panose="020B0604020202020204" pitchFamily="34" charset="0"/>
              </a:rPr>
              <a:t>Síðustu kvöldmáltíðina </a:t>
            </a:r>
            <a:r>
              <a:rPr lang="is-IS">
                <a:latin typeface="Arial" panose="020B0604020202020204" pitchFamily="34" charset="0"/>
                <a:cs typeface="Arial" panose="020B0604020202020204" pitchFamily="34" charset="0"/>
              </a:rPr>
              <a:t>í Santa María delle </a:t>
            </a:r>
            <a:r>
              <a:rPr lang="is-IS" b="1">
                <a:latin typeface="Arial" panose="020B0604020202020204" pitchFamily="34" charset="0"/>
                <a:cs typeface="Arial" panose="020B0604020202020204" pitchFamily="34" charset="0"/>
              </a:rPr>
              <a:t>Grazieklaustursins</a:t>
            </a:r>
            <a:r>
              <a:rPr lang="is-IS">
                <a:latin typeface="Arial" panose="020B0604020202020204" pitchFamily="34" charset="0"/>
                <a:cs typeface="Arial" panose="020B0604020202020204" pitchFamily="34" charset="0"/>
              </a:rPr>
              <a:t> í </a:t>
            </a:r>
            <a:r>
              <a:rPr lang="is-IS" b="1">
                <a:latin typeface="Arial" panose="020B0604020202020204" pitchFamily="34" charset="0"/>
                <a:cs typeface="Arial" panose="020B0604020202020204" pitchFamily="34" charset="0"/>
              </a:rPr>
              <a:t>Mílanó</a:t>
            </a:r>
            <a:r>
              <a:rPr lang="is-IS">
                <a:latin typeface="Arial" panose="020B0604020202020204" pitchFamily="34" charset="0"/>
                <a:cs typeface="Arial" panose="020B0604020202020204" pitchFamily="34" charset="0"/>
              </a:rPr>
              <a:t>. Sneri aftur til Flórens árið 1500 og varð herfræðingur og arkitekt </a:t>
            </a:r>
            <a:r>
              <a:rPr lang="is-IS" b="1">
                <a:latin typeface="Arial" panose="020B0604020202020204" pitchFamily="34" charset="0"/>
                <a:cs typeface="Arial" panose="020B0604020202020204" pitchFamily="34" charset="0"/>
              </a:rPr>
              <a:t>Cesare Borgia</a:t>
            </a:r>
            <a:r>
              <a:rPr lang="is-IS">
                <a:latin typeface="Arial" panose="020B0604020202020204" pitchFamily="34" charset="0"/>
                <a:cs typeface="Arial" panose="020B0604020202020204" pitchFamily="34" charset="0"/>
              </a:rPr>
              <a:t>, var síðan m.a. Í Mílanó og dvaldi í Róm 1513-16 en flutti þá til </a:t>
            </a:r>
            <a:r>
              <a:rPr lang="is-IS" b="1">
                <a:latin typeface="Arial" panose="020B0604020202020204" pitchFamily="34" charset="0"/>
                <a:cs typeface="Arial" panose="020B0604020202020204" pitchFamily="34" charset="0"/>
              </a:rPr>
              <a:t>Frakklands</a:t>
            </a:r>
            <a:r>
              <a:rPr lang="is-IS">
                <a:latin typeface="Arial" panose="020B0604020202020204" pitchFamily="34" charset="0"/>
                <a:cs typeface="Arial" panose="020B0604020202020204" pitchFamily="34" charset="0"/>
              </a:rPr>
              <a:t> og starfaði í þjónustu </a:t>
            </a:r>
            <a:r>
              <a:rPr lang="is-IS" b="1">
                <a:latin typeface="Arial" panose="020B0604020202020204" pitchFamily="34" charset="0"/>
                <a:cs typeface="Arial" panose="020B0604020202020204" pitchFamily="34" charset="0"/>
              </a:rPr>
              <a:t>Frans I</a:t>
            </a:r>
            <a:r>
              <a:rPr lang="is-IS">
                <a:latin typeface="Arial" panose="020B0604020202020204" pitchFamily="34" charset="0"/>
                <a:cs typeface="Arial" panose="020B0604020202020204" pitchFamily="34" charset="0"/>
              </a:rPr>
              <a:t>, til dauðadags. Þó fá verka da Vincis hafa varðveitt þá marka þau hápunkt endurreisnatímabilsins í myndlist. Hann notaði ljós og skugga (chiaroscuro) með nýjum hætti þannig að manneskjan var ekki skýrt afmörkuð frá umhverfinu og sýndi dýpt með því að láta litina dofna og formin leystast upp í fjarlægð. Meðal þekktustu verka er </a:t>
            </a:r>
            <a:r>
              <a:rPr lang="is-IS" b="1">
                <a:latin typeface="Arial" panose="020B0604020202020204" pitchFamily="34" charset="0"/>
                <a:cs typeface="Arial" panose="020B0604020202020204" pitchFamily="34" charset="0"/>
              </a:rPr>
              <a:t>Mona Lísa </a:t>
            </a:r>
            <a:r>
              <a:rPr lang="is-IS">
                <a:latin typeface="Arial" panose="020B0604020202020204" pitchFamily="34" charset="0"/>
                <a:cs typeface="Arial" panose="020B0604020202020204" pitchFamily="34" charset="0"/>
              </a:rPr>
              <a:t>(til hægri) (Louvre). Leonardo var </a:t>
            </a:r>
            <a:r>
              <a:rPr lang="is-IS" b="1">
                <a:latin typeface="Arial" panose="020B0604020202020204" pitchFamily="34" charset="0"/>
                <a:cs typeface="Arial" panose="020B0604020202020204" pitchFamily="34" charset="0"/>
              </a:rPr>
              <a:t>örvhentur</a:t>
            </a:r>
            <a:r>
              <a:rPr lang="is-IS">
                <a:latin typeface="Arial" panose="020B0604020202020204" pitchFamily="34" charset="0"/>
                <a:cs typeface="Arial" panose="020B0604020202020204" pitchFamily="34" charset="0"/>
              </a:rPr>
              <a:t> og skrifaði svo kallaða spegilskrift.</a:t>
            </a:r>
          </a:p>
        </p:txBody>
      </p:sp>
    </p:spTree>
    <p:extLst>
      <p:ext uri="{BB962C8B-B14F-4D97-AF65-F5344CB8AC3E}">
        <p14:creationId xmlns:p14="http://schemas.microsoft.com/office/powerpoint/2010/main" val="694750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1629" y="290508"/>
            <a:ext cx="10515600" cy="1325563"/>
          </a:xfrm>
        </p:spPr>
        <p:txBody>
          <a:bodyPr>
            <a:normAutofit/>
          </a:bodyPr>
          <a:lstStyle/>
          <a:p>
            <a:r>
              <a:rPr lang="is-IS">
                <a:latin typeface="Arial Black" panose="020B0A04020102020204" pitchFamily="34" charset="0"/>
              </a:rPr>
              <a:t>Michelangelo</a:t>
            </a:r>
          </a:p>
        </p:txBody>
      </p:sp>
      <p:sp>
        <p:nvSpPr>
          <p:cNvPr id="3" name="TextBox 2"/>
          <p:cNvSpPr txBox="1"/>
          <p:nvPr/>
        </p:nvSpPr>
        <p:spPr>
          <a:xfrm>
            <a:off x="511627" y="1616072"/>
            <a:ext cx="7664995" cy="4680226"/>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Michelangelo</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Buonarrotti</a:t>
            </a:r>
            <a:r>
              <a:rPr lang="is-IS">
                <a:latin typeface="Arial" panose="020B0604020202020204" pitchFamily="34" charset="0"/>
                <a:cs typeface="Arial" panose="020B0604020202020204" pitchFamily="34" charset="0"/>
              </a:rPr>
              <a:t> (1475-1564) var </a:t>
            </a:r>
            <a:r>
              <a:rPr lang="is-IS" b="1">
                <a:latin typeface="Arial" panose="020B0604020202020204" pitchFamily="34" charset="0"/>
                <a:cs typeface="Arial" panose="020B0604020202020204" pitchFamily="34" charset="0"/>
              </a:rPr>
              <a:t>ítalskur</a:t>
            </a:r>
            <a:r>
              <a:rPr lang="is-IS">
                <a:latin typeface="Arial" panose="020B0604020202020204" pitchFamily="34" charset="0"/>
                <a:cs typeface="Arial" panose="020B0604020202020204" pitchFamily="34" charset="0"/>
              </a:rPr>
              <a:t> myndhöggvari, </a:t>
            </a:r>
            <a:r>
              <a:rPr lang="is-IS" b="1">
                <a:latin typeface="Arial" panose="020B0604020202020204" pitchFamily="34" charset="0"/>
                <a:cs typeface="Arial" panose="020B0604020202020204" pitchFamily="34" charset="0"/>
              </a:rPr>
              <a:t>listmálari</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skáld</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arkitekt</a:t>
            </a:r>
            <a:r>
              <a:rPr lang="is-IS">
                <a:latin typeface="Arial" panose="020B0604020202020204" pitchFamily="34" charset="0"/>
                <a:cs typeface="Arial" panose="020B0604020202020204" pitchFamily="34" charset="0"/>
              </a:rPr>
              <a:t>. Hann er einn af fremstu snillingum </a:t>
            </a:r>
            <a:r>
              <a:rPr lang="is-IS" b="1">
                <a:latin typeface="Arial" panose="020B0604020202020204" pitchFamily="34" charset="0"/>
                <a:cs typeface="Arial" panose="020B0604020202020204" pitchFamily="34" charset="0"/>
              </a:rPr>
              <a:t>endurreisnatímans</a:t>
            </a:r>
            <a:r>
              <a:rPr lang="is-IS">
                <a:latin typeface="Arial" panose="020B0604020202020204" pitchFamily="34" charset="0"/>
                <a:cs typeface="Arial" panose="020B0604020202020204" pitchFamily="34" charset="0"/>
              </a:rPr>
              <a:t>, ættaður frá </a:t>
            </a:r>
            <a:r>
              <a:rPr lang="is-IS" b="1">
                <a:latin typeface="Arial" panose="020B0604020202020204" pitchFamily="34" charset="0"/>
                <a:cs typeface="Arial" panose="020B0604020202020204" pitchFamily="34" charset="0"/>
              </a:rPr>
              <a:t>Flórens</a:t>
            </a:r>
            <a:r>
              <a:rPr lang="is-IS">
                <a:latin typeface="Arial" panose="020B0604020202020204" pitchFamily="34" charset="0"/>
                <a:cs typeface="Arial" panose="020B0604020202020204" pitchFamily="34" charset="0"/>
              </a:rPr>
              <a:t>. Lærði hjá Ghirlandaio og komst undir verndarvæng </a:t>
            </a:r>
            <a:r>
              <a:rPr lang="is-IS" b="1">
                <a:latin typeface="Arial" panose="020B0604020202020204" pitchFamily="34" charset="0"/>
                <a:cs typeface="Arial" panose="020B0604020202020204" pitchFamily="34" charset="0"/>
              </a:rPr>
              <a:t>Lorenzo de Medici </a:t>
            </a:r>
            <a:r>
              <a:rPr lang="is-IS">
                <a:latin typeface="Arial" panose="020B0604020202020204" pitchFamily="34" charset="0"/>
                <a:cs typeface="Arial" panose="020B0604020202020204" pitchFamily="34" charset="0"/>
              </a:rPr>
              <a:t>þar sem hann kynntist m.a. heimspeki </a:t>
            </a:r>
            <a:r>
              <a:rPr lang="is-IS" b="1">
                <a:latin typeface="Arial" panose="020B0604020202020204" pitchFamily="34" charset="0"/>
                <a:cs typeface="Arial" panose="020B0604020202020204" pitchFamily="34" charset="0"/>
              </a:rPr>
              <a:t>nýplatónista</a:t>
            </a:r>
            <a:r>
              <a:rPr lang="is-IS">
                <a:latin typeface="Arial" panose="020B0604020202020204" pitchFamily="34" charset="0"/>
                <a:cs typeface="Arial" panose="020B0604020202020204" pitchFamily="34" charset="0"/>
              </a:rPr>
              <a:t> sem mótaði líf hans. Michelangelo var í Róm 1496-1501 og gerði þá m.a. höggmyndina </a:t>
            </a:r>
            <a:r>
              <a:rPr lang="is-IS" b="1">
                <a:latin typeface="Arial" panose="020B0604020202020204" pitchFamily="34" charset="0"/>
                <a:cs typeface="Arial" panose="020B0604020202020204" pitchFamily="34" charset="0"/>
              </a:rPr>
              <a:t>Pietá</a:t>
            </a:r>
            <a:r>
              <a:rPr lang="is-IS">
                <a:latin typeface="Arial" panose="020B0604020202020204" pitchFamily="34" charset="0"/>
                <a:cs typeface="Arial" panose="020B0604020202020204" pitchFamily="34" charset="0"/>
              </a:rPr>
              <a:t> sem er í Péturskirkjunni í Róm. Í Flórens 1501-05 og gerði hann þá m.a. Styttuna af </a:t>
            </a:r>
            <a:r>
              <a:rPr lang="is-IS" b="1">
                <a:latin typeface="Arial" panose="020B0604020202020204" pitchFamily="34" charset="0"/>
                <a:cs typeface="Arial" panose="020B0604020202020204" pitchFamily="34" charset="0"/>
              </a:rPr>
              <a:t>Davíð</a:t>
            </a:r>
            <a:r>
              <a:rPr lang="is-IS">
                <a:latin typeface="Arial" panose="020B0604020202020204" pitchFamily="34" charset="0"/>
                <a:cs typeface="Arial" panose="020B0604020202020204" pitchFamily="34" charset="0"/>
              </a:rPr>
              <a:t> sem er táknmynd fyrri manngildishugsjón húmanismans. Árið 1505 réðist Michelangelo í þjónustu Júlíusar II páfa til að vinna við grafhýsi hans en lauk ekki verkinu. Stytta af Móses og fleiri eru hluti af því verki. Á árunum 1508-1512 málaði hann sköpunarsöguna, syndafallið og syndaflóðið í hvelfingu </a:t>
            </a:r>
            <a:r>
              <a:rPr lang="is-IS" b="1">
                <a:latin typeface="Arial" panose="020B0604020202020204" pitchFamily="34" charset="0"/>
                <a:cs typeface="Arial" panose="020B0604020202020204" pitchFamily="34" charset="0"/>
              </a:rPr>
              <a:t>Sixtínsku kapellunar </a:t>
            </a:r>
            <a:r>
              <a:rPr lang="is-IS">
                <a:latin typeface="Arial" panose="020B0604020202020204" pitchFamily="34" charset="0"/>
                <a:cs typeface="Arial" panose="020B0604020202020204" pitchFamily="34" charset="0"/>
              </a:rPr>
              <a:t>og síðar dómsdagsmynd á altarisgaflinn þar. Michelangelo teiknaði grafkapellu </a:t>
            </a:r>
            <a:r>
              <a:rPr lang="is-IS" b="1">
                <a:latin typeface="Arial" panose="020B0604020202020204" pitchFamily="34" charset="0"/>
                <a:cs typeface="Arial" panose="020B0604020202020204" pitchFamily="34" charset="0"/>
              </a:rPr>
              <a:t>Mediciættarinnar</a:t>
            </a:r>
            <a:r>
              <a:rPr lang="is-IS">
                <a:latin typeface="Arial" panose="020B0604020202020204" pitchFamily="34" charset="0"/>
                <a:cs typeface="Arial" panose="020B0604020202020204" pitchFamily="34" charset="0"/>
              </a:rPr>
              <a:t> í Flórens (1520) sem byggist á samspili höggmynda og byggingarlistar. Hann hannaði ennfremur </a:t>
            </a:r>
            <a:r>
              <a:rPr lang="is-IS" b="1">
                <a:latin typeface="Arial" panose="020B0604020202020204" pitchFamily="34" charset="0"/>
                <a:cs typeface="Arial" panose="020B0604020202020204" pitchFamily="34" charset="0"/>
              </a:rPr>
              <a:t>Kapítóltorgið</a:t>
            </a:r>
            <a:r>
              <a:rPr lang="is-IS">
                <a:latin typeface="Arial" panose="020B0604020202020204" pitchFamily="34" charset="0"/>
                <a:cs typeface="Arial" panose="020B0604020202020204" pitchFamily="34" charset="0"/>
              </a:rPr>
              <a:t> í Róm og hannaði </a:t>
            </a:r>
            <a:r>
              <a:rPr lang="is-IS" b="1">
                <a:latin typeface="Arial" panose="020B0604020202020204" pitchFamily="34" charset="0"/>
                <a:cs typeface="Arial" panose="020B0604020202020204" pitchFamily="34" charset="0"/>
              </a:rPr>
              <a:t>hvolfþak Péturskirkjunnar </a:t>
            </a:r>
            <a:r>
              <a:rPr lang="is-IS">
                <a:latin typeface="Arial" panose="020B0604020202020204" pitchFamily="34" charset="0"/>
                <a:cs typeface="Arial" panose="020B0604020202020204" pitchFamily="34" charset="0"/>
              </a:rPr>
              <a:t>í Róm, en lést áður en því lauk.</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6623" y="0"/>
            <a:ext cx="3588814" cy="6858000"/>
          </a:xfrm>
          <a:prstGeom prst="rect">
            <a:avLst/>
          </a:prstGeom>
        </p:spPr>
      </p:pic>
    </p:spTree>
    <p:extLst>
      <p:ext uri="{BB962C8B-B14F-4D97-AF65-F5344CB8AC3E}">
        <p14:creationId xmlns:p14="http://schemas.microsoft.com/office/powerpoint/2010/main" val="2765101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842" y="0"/>
            <a:ext cx="10959662" cy="1517267"/>
          </a:xfrm>
        </p:spPr>
        <p:txBody>
          <a:bodyPr/>
          <a:lstStyle/>
          <a:p>
            <a:r>
              <a:rPr lang="is-IS">
                <a:latin typeface="Arial Black" panose="020B0A04020102020204" pitchFamily="34" charset="0"/>
              </a:rPr>
              <a:t>Marteinn Lúther</a:t>
            </a:r>
          </a:p>
        </p:txBody>
      </p:sp>
      <p:pic>
        <p:nvPicPr>
          <p:cNvPr id="2050" name="Picture 2" descr="File:Martin Luther by Cranach-restoration.t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16313" y="1517267"/>
            <a:ext cx="4498285" cy="483686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46842" y="1277008"/>
            <a:ext cx="7169471" cy="5632311"/>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Marteinn Lúther </a:t>
            </a:r>
            <a:r>
              <a:rPr lang="is-IS">
                <a:latin typeface="Arial" panose="020B0604020202020204" pitchFamily="34" charset="0"/>
                <a:cs typeface="Arial" panose="020B0604020202020204" pitchFamily="34" charset="0"/>
              </a:rPr>
              <a:t>(1483-1546) var þýskur guðfræðingur, prestur, munkur og einn af helstu leiðtogum siðbótahreyfingarinnar. Hann var kennari í guðfræði við háskólann í </a:t>
            </a:r>
            <a:r>
              <a:rPr lang="is-IS" b="1">
                <a:latin typeface="Arial" panose="020B0604020202020204" pitchFamily="34" charset="0"/>
                <a:cs typeface="Arial" panose="020B0604020202020204" pitchFamily="34" charset="0"/>
              </a:rPr>
              <a:t>Wittenberg</a:t>
            </a:r>
            <a:r>
              <a:rPr lang="is-IS">
                <a:latin typeface="Arial" panose="020B0604020202020204" pitchFamily="34" charset="0"/>
                <a:cs typeface="Arial" panose="020B0604020202020204" pitchFamily="34" charset="0"/>
              </a:rPr>
              <a:t>. Hann gerðist mjög gagnrýnin á kaþólsku kirkjunnar m.a. </a:t>
            </a:r>
            <a:r>
              <a:rPr lang="is-IS" b="1">
                <a:latin typeface="Arial" panose="020B0604020202020204" pitchFamily="34" charset="0"/>
                <a:cs typeface="Arial" panose="020B0604020202020204" pitchFamily="34" charset="0"/>
              </a:rPr>
              <a:t>hjálpræðiskenningu</a:t>
            </a:r>
            <a:r>
              <a:rPr lang="is-IS">
                <a:latin typeface="Arial" panose="020B0604020202020204" pitchFamily="34" charset="0"/>
                <a:cs typeface="Arial" panose="020B0604020202020204" pitchFamily="34" charset="0"/>
              </a:rPr>
              <a:t> kirkjunnar um að menn yrðu sjálfir að vinna að sáluhjálp sinni og gætu áunnið sér verðleika með tilteknum góðverkum og taldi hana í andstöðu við Biblíuna. Hans kenning var sú að samkvæmt Biblíunni að Guð hafi sjálfur tekið menn að sér og frelsað þá í syni sínum Jesú Kristi. Menn væru því hólpnir við það eitt að trúa á Guð. Árið </a:t>
            </a:r>
            <a:r>
              <a:rPr lang="is-IS" b="1">
                <a:latin typeface="Arial" panose="020B0604020202020204" pitchFamily="34" charset="0"/>
                <a:cs typeface="Arial" panose="020B0604020202020204" pitchFamily="34" charset="0"/>
              </a:rPr>
              <a:t>1517</a:t>
            </a:r>
            <a:r>
              <a:rPr lang="is-IS">
                <a:latin typeface="Arial" panose="020B0604020202020204" pitchFamily="34" charset="0"/>
                <a:cs typeface="Arial" panose="020B0604020202020204" pitchFamily="34" charset="0"/>
              </a:rPr>
              <a:t> hengdi hann á </a:t>
            </a:r>
            <a:r>
              <a:rPr lang="is-IS" b="1">
                <a:latin typeface="Arial" panose="020B0604020202020204" pitchFamily="34" charset="0"/>
                <a:cs typeface="Arial" panose="020B0604020202020204" pitchFamily="34" charset="0"/>
              </a:rPr>
              <a:t>kirkjuhurðina</a:t>
            </a:r>
            <a:r>
              <a:rPr lang="is-IS">
                <a:latin typeface="Arial" panose="020B0604020202020204" pitchFamily="34" charset="0"/>
                <a:cs typeface="Arial" panose="020B0604020202020204" pitchFamily="34" charset="0"/>
              </a:rPr>
              <a:t> í Wittenberg </a:t>
            </a:r>
            <a:r>
              <a:rPr lang="is-IS" b="1">
                <a:latin typeface="Arial" panose="020B0604020202020204" pitchFamily="34" charset="0"/>
                <a:cs typeface="Arial" panose="020B0604020202020204" pitchFamily="34" charset="0"/>
              </a:rPr>
              <a:t>95 greinar </a:t>
            </a:r>
            <a:r>
              <a:rPr lang="is-IS">
                <a:latin typeface="Arial" panose="020B0604020202020204" pitchFamily="34" charset="0"/>
                <a:cs typeface="Arial" panose="020B0604020202020204" pitchFamily="34" charset="0"/>
              </a:rPr>
              <a:t>gegn aflátssölunni. Þessi viðburður markaði upphaf </a:t>
            </a:r>
            <a:r>
              <a:rPr lang="is-IS" b="1">
                <a:latin typeface="Arial" panose="020B0604020202020204" pitchFamily="34" charset="0"/>
                <a:cs typeface="Arial" panose="020B0604020202020204" pitchFamily="34" charset="0"/>
              </a:rPr>
              <a:t>siðaskiptanna</a:t>
            </a:r>
            <a:r>
              <a:rPr lang="is-IS">
                <a:latin typeface="Arial" panose="020B0604020202020204" pitchFamily="34" charset="0"/>
                <a:cs typeface="Arial" panose="020B0604020202020204" pitchFamily="34" charset="0"/>
              </a:rPr>
              <a:t>. Hann var dæmdur fyrir villutrú og </a:t>
            </a:r>
            <a:r>
              <a:rPr lang="is-IS" b="1">
                <a:latin typeface="Arial" panose="020B0604020202020204" pitchFamily="34" charset="0"/>
                <a:cs typeface="Arial" panose="020B0604020202020204" pitchFamily="34" charset="0"/>
              </a:rPr>
              <a:t>bannfærður</a:t>
            </a:r>
            <a:r>
              <a:rPr lang="is-IS">
                <a:latin typeface="Arial" panose="020B0604020202020204" pitchFamily="34" charset="0"/>
                <a:cs typeface="Arial" panose="020B0604020202020204" pitchFamily="34" charset="0"/>
              </a:rPr>
              <a:t> árið 1521. Hann var dæmdur í útlegð á Kirkjunni þinginu í </a:t>
            </a:r>
            <a:r>
              <a:rPr lang="is-IS" b="1">
                <a:latin typeface="Arial" panose="020B0604020202020204" pitchFamily="34" charset="0"/>
                <a:cs typeface="Arial" panose="020B0604020202020204" pitchFamily="34" charset="0"/>
              </a:rPr>
              <a:t>Worms</a:t>
            </a:r>
            <a:r>
              <a:rPr lang="is-IS">
                <a:latin typeface="Arial" panose="020B0604020202020204" pitchFamily="34" charset="0"/>
                <a:cs typeface="Arial" panose="020B0604020202020204" pitchFamily="34" charset="0"/>
              </a:rPr>
              <a:t> sama ár – þar á hann að hafa sagt: „Hér stend ég og get ekki annað (sem er umdeilt) -. Hann dvaldi í </a:t>
            </a:r>
            <a:r>
              <a:rPr lang="is-IS" b="1">
                <a:latin typeface="Arial" panose="020B0604020202020204" pitchFamily="34" charset="0"/>
                <a:cs typeface="Arial" panose="020B0604020202020204" pitchFamily="34" charset="0"/>
              </a:rPr>
              <a:t>Wartburgkastala</a:t>
            </a:r>
            <a:r>
              <a:rPr lang="is-IS">
                <a:latin typeface="Arial" panose="020B0604020202020204" pitchFamily="34" charset="0"/>
                <a:cs typeface="Arial" panose="020B0604020202020204" pitchFamily="34" charset="0"/>
              </a:rPr>
              <a:t> og þýddi þar </a:t>
            </a:r>
            <a:r>
              <a:rPr lang="is-IS" b="1">
                <a:latin typeface="Arial" panose="020B0604020202020204" pitchFamily="34" charset="0"/>
                <a:cs typeface="Arial" panose="020B0604020202020204" pitchFamily="34" charset="0"/>
              </a:rPr>
              <a:t>Nýja Testamentið </a:t>
            </a:r>
            <a:r>
              <a:rPr lang="is-IS">
                <a:latin typeface="Arial" panose="020B0604020202020204" pitchFamily="34" charset="0"/>
                <a:cs typeface="Arial" panose="020B0604020202020204" pitchFamily="34" charset="0"/>
              </a:rPr>
              <a:t>á þýsku. Hann kvæntist nunnunni </a:t>
            </a:r>
            <a:r>
              <a:rPr lang="is-IS" b="1">
                <a:latin typeface="Arial" panose="020B0604020202020204" pitchFamily="34" charset="0"/>
                <a:cs typeface="Arial" panose="020B0604020202020204" pitchFamily="34" charset="0"/>
              </a:rPr>
              <a:t>Katrínu frá Bora</a:t>
            </a:r>
            <a:r>
              <a:rPr lang="is-IS">
                <a:latin typeface="Arial" panose="020B0604020202020204" pitchFamily="34" charset="0"/>
                <a:cs typeface="Arial" panose="020B0604020202020204" pitchFamily="34" charset="0"/>
              </a:rPr>
              <a:t>, sem prestum var auðvitað bannað. Þegar siðaskiptahreyfingin klofnaði leiddi hann </a:t>
            </a:r>
            <a:r>
              <a:rPr lang="is-IS" b="1">
                <a:latin typeface="Arial" panose="020B0604020202020204" pitchFamily="34" charset="0"/>
                <a:cs typeface="Arial" panose="020B0604020202020204" pitchFamily="34" charset="0"/>
              </a:rPr>
              <a:t>evangelíska-lútersku</a:t>
            </a:r>
            <a:r>
              <a:rPr lang="is-IS">
                <a:latin typeface="Arial" panose="020B0604020202020204" pitchFamily="34" charset="0"/>
                <a:cs typeface="Arial" panose="020B0604020202020204" pitchFamily="34" charset="0"/>
              </a:rPr>
              <a:t> kirkjudeildina sem varð ofan á í Þýskandi og Skandinavíu – m.a. </a:t>
            </a:r>
            <a:r>
              <a:rPr lang="is-IS" b="1">
                <a:latin typeface="Arial" panose="020B0604020202020204" pitchFamily="34" charset="0"/>
                <a:cs typeface="Arial" panose="020B0604020202020204" pitchFamily="34" charset="0"/>
              </a:rPr>
              <a:t>Íslandi</a:t>
            </a:r>
            <a:r>
              <a:rPr lang="is-IS">
                <a:latin typeface="Arial" panose="020B0604020202020204" pitchFamily="34" charset="0"/>
                <a:cs typeface="Arial" panose="020B0604020202020204" pitchFamily="34" charset="0"/>
              </a:rPr>
              <a:t>. Hann samdi hinn kunna sálm </a:t>
            </a:r>
            <a:r>
              <a:rPr lang="is-IS" i="1">
                <a:latin typeface="Arial" panose="020B0604020202020204" pitchFamily="34" charset="0"/>
                <a:cs typeface="Arial" panose="020B0604020202020204" pitchFamily="34" charset="0"/>
              </a:rPr>
              <a:t>Vor Guð er borg á bjargi traus</a:t>
            </a:r>
            <a:r>
              <a:rPr lang="is-IS">
                <a:latin typeface="Arial" panose="020B0604020202020204" pitchFamily="34" charset="0"/>
                <a:cs typeface="Arial" panose="020B0604020202020204" pitchFamily="34" charset="0"/>
              </a:rPr>
              <a:t>t.</a:t>
            </a:r>
          </a:p>
        </p:txBody>
      </p:sp>
    </p:spTree>
    <p:extLst>
      <p:ext uri="{BB962C8B-B14F-4D97-AF65-F5344CB8AC3E}">
        <p14:creationId xmlns:p14="http://schemas.microsoft.com/office/powerpoint/2010/main" val="5286312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545" y="0"/>
            <a:ext cx="10515600" cy="1325563"/>
          </a:xfrm>
        </p:spPr>
        <p:txBody>
          <a:bodyPr/>
          <a:lstStyle/>
          <a:p>
            <a:r>
              <a:rPr lang="is-IS">
                <a:latin typeface="Arial Black" panose="020B0A04020102020204" pitchFamily="34" charset="0"/>
              </a:rPr>
              <a:t>Elísabet</a:t>
            </a:r>
            <a:r>
              <a:rPr lang="is-IS" b="1"/>
              <a:t> I</a:t>
            </a:r>
          </a:p>
        </p:txBody>
      </p:sp>
      <p:pic>
        <p:nvPicPr>
          <p:cNvPr id="7170" name="Picture 2" descr="Darnley stage 3.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14746" y="152760"/>
            <a:ext cx="4367048" cy="63868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80545" y="1325563"/>
            <a:ext cx="6681952" cy="494194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Elísabet I </a:t>
            </a:r>
            <a:r>
              <a:rPr lang="is-IS">
                <a:latin typeface="Arial" panose="020B0604020202020204" pitchFamily="34" charset="0"/>
                <a:cs typeface="Arial" panose="020B0604020202020204" pitchFamily="34" charset="0"/>
              </a:rPr>
              <a:t>(1533-1603) var drottning </a:t>
            </a:r>
            <a:r>
              <a:rPr lang="is-IS" b="1">
                <a:latin typeface="Arial" panose="020B0604020202020204" pitchFamily="34" charset="0"/>
                <a:cs typeface="Arial" panose="020B0604020202020204" pitchFamily="34" charset="0"/>
              </a:rPr>
              <a:t>Englands</a:t>
            </a:r>
            <a:r>
              <a:rPr lang="is-IS">
                <a:latin typeface="Arial" panose="020B0604020202020204" pitchFamily="34" charset="0"/>
                <a:cs typeface="Arial" panose="020B0604020202020204" pitchFamily="34" charset="0"/>
              </a:rPr>
              <a:t> frá 1558 til dauðadags. Hún var dóttir </a:t>
            </a:r>
            <a:r>
              <a:rPr lang="is-IS" b="1">
                <a:latin typeface="Arial" panose="020B0604020202020204" pitchFamily="34" charset="0"/>
                <a:cs typeface="Arial" panose="020B0604020202020204" pitchFamily="34" charset="0"/>
              </a:rPr>
              <a:t>Hinriks VIII </a:t>
            </a:r>
            <a:r>
              <a:rPr lang="is-IS">
                <a:latin typeface="Arial" panose="020B0604020202020204" pitchFamily="34" charset="0"/>
                <a:cs typeface="Arial" panose="020B0604020202020204" pitchFamily="34" charset="0"/>
              </a:rPr>
              <a:t>og konu hans </a:t>
            </a:r>
            <a:r>
              <a:rPr lang="is-IS" b="1">
                <a:latin typeface="Arial" panose="020B0604020202020204" pitchFamily="34" charset="0"/>
                <a:cs typeface="Arial" panose="020B0604020202020204" pitchFamily="34" charset="0"/>
              </a:rPr>
              <a:t>Önnu</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Boleyn</a:t>
            </a:r>
            <a:r>
              <a:rPr lang="is-IS">
                <a:latin typeface="Arial" panose="020B0604020202020204" pitchFamily="34" charset="0"/>
                <a:cs typeface="Arial" panose="020B0604020202020204" pitchFamily="34" charset="0"/>
              </a:rPr>
              <a:t>. Elísabet komst til valda eftir að eldri systir hennar </a:t>
            </a:r>
            <a:r>
              <a:rPr lang="is-IS" b="1">
                <a:latin typeface="Arial" panose="020B0604020202020204" pitchFamily="34" charset="0"/>
                <a:cs typeface="Arial" panose="020B0604020202020204" pitchFamily="34" charset="0"/>
              </a:rPr>
              <a:t>María</a:t>
            </a:r>
            <a:r>
              <a:rPr lang="is-IS">
                <a:latin typeface="Arial" panose="020B0604020202020204" pitchFamily="34" charset="0"/>
                <a:cs typeface="Arial" panose="020B0604020202020204" pitchFamily="34" charset="0"/>
              </a:rPr>
              <a:t> (blóðuga eða Bloddy-Mary) dó. María hafði tekið upp kaþólskan sið að nýju en með valdatöku Elísabetar þá var snúið aftur til siðaskiptanna sem faðir þeirra hafði komið á. Hún stofnaði </a:t>
            </a:r>
            <a:r>
              <a:rPr lang="is-IS" b="1">
                <a:latin typeface="Arial" panose="020B0604020202020204" pitchFamily="34" charset="0"/>
                <a:cs typeface="Arial" panose="020B0604020202020204" pitchFamily="34" charset="0"/>
              </a:rPr>
              <a:t>Ensku biskupakirkjuna </a:t>
            </a:r>
            <a:r>
              <a:rPr lang="is-IS">
                <a:latin typeface="Arial" panose="020B0604020202020204" pitchFamily="34" charset="0"/>
                <a:cs typeface="Arial" panose="020B0604020202020204" pitchFamily="34" charset="0"/>
              </a:rPr>
              <a:t>sem enn er ríkiskirkja á Englandi (en ekki Skotlandi). Mágur hennar </a:t>
            </a:r>
            <a:r>
              <a:rPr lang="is-IS" b="1">
                <a:latin typeface="Arial" panose="020B0604020202020204" pitchFamily="34" charset="0"/>
                <a:cs typeface="Arial" panose="020B0604020202020204" pitchFamily="34" charset="0"/>
              </a:rPr>
              <a:t>Filippus II </a:t>
            </a:r>
            <a:r>
              <a:rPr lang="is-IS">
                <a:latin typeface="Arial" panose="020B0604020202020204" pitchFamily="34" charset="0"/>
                <a:cs typeface="Arial" panose="020B0604020202020204" pitchFamily="34" charset="0"/>
              </a:rPr>
              <a:t>konungur Spánar reyndi árið </a:t>
            </a:r>
            <a:r>
              <a:rPr lang="is-IS" b="1">
                <a:latin typeface="Arial" panose="020B0604020202020204" pitchFamily="34" charset="0"/>
                <a:cs typeface="Arial" panose="020B0604020202020204" pitchFamily="34" charset="0"/>
              </a:rPr>
              <a:t>1588</a:t>
            </a:r>
            <a:r>
              <a:rPr lang="is-IS">
                <a:latin typeface="Arial" panose="020B0604020202020204" pitchFamily="34" charset="0"/>
                <a:cs typeface="Arial" panose="020B0604020202020204" pitchFamily="34" charset="0"/>
              </a:rPr>
              <a:t> að gera innrás á England og taka aftur upp kaþólskan sið. Spænski flotinn var kallaður </a:t>
            </a:r>
            <a:r>
              <a:rPr lang="is-IS" b="1">
                <a:latin typeface="Arial" panose="020B0604020202020204" pitchFamily="34" charset="0"/>
                <a:cs typeface="Arial" panose="020B0604020202020204" pitchFamily="34" charset="0"/>
              </a:rPr>
              <a:t>Flotinn ósigrandi </a:t>
            </a:r>
            <a:r>
              <a:rPr lang="is-IS">
                <a:latin typeface="Arial" panose="020B0604020202020204" pitchFamily="34" charset="0"/>
                <a:cs typeface="Arial" panose="020B0604020202020204" pitchFamily="34" charset="0"/>
              </a:rPr>
              <a:t>á þeim tíma, en hann beið ósigur fyrir enska flotanum og innrás var bægt frá. Fjöldi misheppnaðra valdarána voru reynd gegn henni, m.a. til að koma frænku hennar </a:t>
            </a:r>
            <a:r>
              <a:rPr lang="is-IS" b="1">
                <a:latin typeface="Arial" panose="020B0604020202020204" pitchFamily="34" charset="0"/>
                <a:cs typeface="Arial" panose="020B0604020202020204" pitchFamily="34" charset="0"/>
              </a:rPr>
              <a:t>Maríu</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Stúart</a:t>
            </a:r>
            <a:r>
              <a:rPr lang="is-IS">
                <a:latin typeface="Arial" panose="020B0604020202020204" pitchFamily="34" charset="0"/>
                <a:cs typeface="Arial" panose="020B0604020202020204" pitchFamily="34" charset="0"/>
              </a:rPr>
              <a:t>, fyrrum Skotadrottningu til valda, en þær misheppnuðust allar. María Stúart var tekinn af lífi áraið 1587. Elísabet giftist aldrei og var því kölluð </a:t>
            </a:r>
            <a:r>
              <a:rPr lang="is-IS" b="1">
                <a:latin typeface="Arial" panose="020B0604020202020204" pitchFamily="34" charset="0"/>
                <a:cs typeface="Arial" panose="020B0604020202020204" pitchFamily="34" charset="0"/>
              </a:rPr>
              <a:t>Meydrottningin</a:t>
            </a:r>
            <a:r>
              <a:rPr lang="is-IS">
                <a:latin typeface="Arial" panose="020B0604020202020204" pitchFamily="34" charset="0"/>
                <a:cs typeface="Arial" panose="020B0604020202020204" pitchFamily="34" charset="0"/>
              </a:rPr>
              <a:t>. Virginia í Norður-Ameríku var kennt við hana.</a:t>
            </a:r>
          </a:p>
        </p:txBody>
      </p:sp>
    </p:spTree>
    <p:extLst>
      <p:ext uri="{BB962C8B-B14F-4D97-AF65-F5344CB8AC3E}">
        <p14:creationId xmlns:p14="http://schemas.microsoft.com/office/powerpoint/2010/main" val="888989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0"/>
            <a:ext cx="10515600" cy="1325563"/>
          </a:xfrm>
        </p:spPr>
        <p:txBody>
          <a:bodyPr>
            <a:normAutofit/>
          </a:bodyPr>
          <a:lstStyle/>
          <a:p>
            <a:r>
              <a:rPr lang="is-IS">
                <a:latin typeface="Arial Black" panose="020B0A04020102020204" pitchFamily="34" charset="0"/>
              </a:rPr>
              <a:t>Galileo Galilei</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922646" y="1010652"/>
            <a:ext cx="4128985" cy="5245100"/>
          </a:xfrm>
        </p:spPr>
      </p:pic>
      <p:sp>
        <p:nvSpPr>
          <p:cNvPr id="5" name="TextBox 4"/>
          <p:cNvSpPr txBox="1"/>
          <p:nvPr/>
        </p:nvSpPr>
        <p:spPr>
          <a:xfrm>
            <a:off x="140368" y="1157288"/>
            <a:ext cx="7782277" cy="480131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Galileo Galilei </a:t>
            </a:r>
            <a:r>
              <a:rPr lang="is-IS">
                <a:latin typeface="Arial" panose="020B0604020202020204" pitchFamily="34" charset="0"/>
                <a:cs typeface="Arial" panose="020B0604020202020204" pitchFamily="34" charset="0"/>
              </a:rPr>
              <a:t>(1564-1642) var </a:t>
            </a:r>
            <a:r>
              <a:rPr lang="is-IS" b="1">
                <a:latin typeface="Arial" panose="020B0604020202020204" pitchFamily="34" charset="0"/>
                <a:cs typeface="Arial" panose="020B0604020202020204" pitchFamily="34" charset="0"/>
              </a:rPr>
              <a:t>ítalskur</a:t>
            </a:r>
            <a:r>
              <a:rPr lang="is-IS">
                <a:latin typeface="Arial" panose="020B0604020202020204" pitchFamily="34" charset="0"/>
                <a:cs typeface="Arial" panose="020B0604020202020204" pitchFamily="34" charset="0"/>
              </a:rPr>
              <a:t> eðlis-, stærð- og stjörnufræðingur. </a:t>
            </a:r>
          </a:p>
          <a:p>
            <a:r>
              <a:rPr lang="is-IS">
                <a:latin typeface="Arial" panose="020B0604020202020204" pitchFamily="34" charset="0"/>
                <a:cs typeface="Arial" panose="020B0604020202020204" pitchFamily="34" charset="0"/>
              </a:rPr>
              <a:t>Galileo Galilei gerði eina merkustu uppgötvun eðlisfræðinnar árið 1638. Sú trú var föst í sessi á 17. öld að kenning </a:t>
            </a:r>
            <a:r>
              <a:rPr lang="is-IS" b="1">
                <a:latin typeface="Arial" panose="020B0604020202020204" pitchFamily="34" charset="0"/>
                <a:cs typeface="Arial" panose="020B0604020202020204" pitchFamily="34" charset="0"/>
              </a:rPr>
              <a:t>Aristótelsar</a:t>
            </a:r>
            <a:r>
              <a:rPr lang="is-IS">
                <a:latin typeface="Arial" panose="020B0604020202020204" pitchFamily="34" charset="0"/>
                <a:cs typeface="Arial" panose="020B0604020202020204" pitchFamily="34" charset="0"/>
              </a:rPr>
              <a:t> um að léttir og þungir hlutir hröpuðu mishratt til jarðar væri sönn og rétt. Goðsögnin segir að Galilei hafi kastað tveimur misstórum málmkúlum úr </a:t>
            </a:r>
            <a:r>
              <a:rPr lang="is-IS" b="1">
                <a:latin typeface="Arial" panose="020B0604020202020204" pitchFamily="34" charset="0"/>
                <a:cs typeface="Arial" panose="020B0604020202020204" pitchFamily="34" charset="0"/>
              </a:rPr>
              <a:t>Skakka turninum </a:t>
            </a:r>
            <a:r>
              <a:rPr lang="is-IS">
                <a:latin typeface="Arial" panose="020B0604020202020204" pitchFamily="34" charset="0"/>
                <a:cs typeface="Arial" panose="020B0604020202020204" pitchFamily="34" charset="0"/>
              </a:rPr>
              <a:t>í </a:t>
            </a:r>
            <a:r>
              <a:rPr lang="is-IS" b="1">
                <a:latin typeface="Arial" panose="020B0604020202020204" pitchFamily="34" charset="0"/>
                <a:cs typeface="Arial" panose="020B0604020202020204" pitchFamily="34" charset="0"/>
              </a:rPr>
              <a:t>Piza</a:t>
            </a:r>
            <a:r>
              <a:rPr lang="is-IS">
                <a:latin typeface="Arial" panose="020B0604020202020204" pitchFamily="34" charset="0"/>
                <a:cs typeface="Arial" panose="020B0604020202020204" pitchFamily="34" charset="0"/>
              </a:rPr>
              <a:t> til að færa sönnur á að báðar kúlurnar féllu jafnhratt til jarðar. Þar með uppgötvaði hann </a:t>
            </a:r>
            <a:r>
              <a:rPr lang="is-IS" b="1">
                <a:latin typeface="Arial" panose="020B0604020202020204" pitchFamily="34" charset="0"/>
                <a:cs typeface="Arial" panose="020B0604020202020204" pitchFamily="34" charset="0"/>
              </a:rPr>
              <a:t>lögmál falls hluta</a:t>
            </a:r>
            <a:r>
              <a:rPr lang="is-IS">
                <a:latin typeface="Arial" panose="020B0604020202020204" pitchFamily="34" charset="0"/>
                <a:cs typeface="Arial" panose="020B0604020202020204" pitchFamily="34" charset="0"/>
              </a:rPr>
              <a:t>. Ekki er vitað hvort hann hafi í raun framkvæmd umrædda tilraun í Skakka turninum.</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Hann reiknaði einnig út sveiflu </a:t>
            </a:r>
            <a:r>
              <a:rPr lang="is-IS" b="1">
                <a:latin typeface="Arial" panose="020B0604020202020204" pitchFamily="34" charset="0"/>
                <a:cs typeface="Arial" panose="020B0604020202020204" pitchFamily="34" charset="0"/>
              </a:rPr>
              <a:t>pendúls</a:t>
            </a:r>
            <a:r>
              <a:rPr lang="is-IS">
                <a:latin typeface="Arial" panose="020B0604020202020204" pitchFamily="34" charset="0"/>
                <a:cs typeface="Arial" panose="020B0604020202020204" pitchFamily="34" charset="0"/>
              </a:rPr>
              <a:t> og sýndi þar með fyrstur að pendúll sveiflast reglulega. Hann hafði veitt því athygli hvernig kertastjakar í Pisa dómkirkjunni sveifluðust.</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Galilei færði jafnframt sannanir fyrir því að misstórir hlutir ferðuðust jafn hratt í </a:t>
            </a:r>
            <a:r>
              <a:rPr lang="is-IS" b="1">
                <a:latin typeface="Arial" panose="020B0604020202020204" pitchFamily="34" charset="0"/>
                <a:cs typeface="Arial" panose="020B0604020202020204" pitchFamily="34" charset="0"/>
              </a:rPr>
              <a:t>lofttæmdu rými</a:t>
            </a:r>
            <a:r>
              <a:rPr lang="is-IS">
                <a:latin typeface="Arial" panose="020B0604020202020204" pitchFamily="34" charset="0"/>
                <a:cs typeface="Arial" panose="020B0604020202020204" pitchFamily="34" charset="0"/>
              </a:rPr>
              <a:t>. Geimfarinn </a:t>
            </a:r>
            <a:r>
              <a:rPr lang="is-IS" b="1">
                <a:latin typeface="Arial" panose="020B0604020202020204" pitchFamily="34" charset="0"/>
                <a:cs typeface="Arial" panose="020B0604020202020204" pitchFamily="34" charset="0"/>
              </a:rPr>
              <a:t>David Scott </a:t>
            </a:r>
            <a:r>
              <a:rPr lang="is-IS">
                <a:latin typeface="Arial" panose="020B0604020202020204" pitchFamily="34" charset="0"/>
                <a:cs typeface="Arial" panose="020B0604020202020204" pitchFamily="34" charset="0"/>
              </a:rPr>
              <a:t>sannaði þá kenningu 1971 þegar hann lét fjöður og hamar falla samtímis á tunglinu, og féllu þau jafn hratt.</a:t>
            </a:r>
          </a:p>
        </p:txBody>
      </p:sp>
    </p:spTree>
    <p:extLst>
      <p:ext uri="{BB962C8B-B14F-4D97-AF65-F5344CB8AC3E}">
        <p14:creationId xmlns:p14="http://schemas.microsoft.com/office/powerpoint/2010/main" val="2527842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56"/>
            <a:ext cx="10515600" cy="1325563"/>
          </a:xfrm>
        </p:spPr>
        <p:txBody>
          <a:bodyPr>
            <a:normAutofit/>
          </a:bodyPr>
          <a:lstStyle/>
          <a:p>
            <a:r>
              <a:rPr lang="is-IS">
                <a:latin typeface="Arial Black" panose="020B0A04020102020204" pitchFamily="34" charset="0"/>
              </a:rPr>
              <a:t>Loðvík XIV</a:t>
            </a:r>
          </a:p>
        </p:txBody>
      </p:sp>
      <p:sp>
        <p:nvSpPr>
          <p:cNvPr id="3" name="Content Placeholder 2"/>
          <p:cNvSpPr>
            <a:spLocks noGrp="1"/>
          </p:cNvSpPr>
          <p:nvPr>
            <p:ph idx="1"/>
          </p:nvPr>
        </p:nvSpPr>
        <p:spPr>
          <a:xfrm>
            <a:off x="838200" y="1331465"/>
            <a:ext cx="6381750" cy="6615502"/>
          </a:xfrm>
        </p:spPr>
        <p:txBody>
          <a:bodyPr>
            <a:normAutofit/>
          </a:bodyPr>
          <a:lstStyle/>
          <a:p>
            <a:pPr marL="0" indent="0">
              <a:buNone/>
            </a:pPr>
            <a:r>
              <a:rPr lang="is-IS" sz="1800" b="1">
                <a:latin typeface="Arial" panose="020B0604020202020204" pitchFamily="34" charset="0"/>
                <a:cs typeface="Arial" panose="020B0604020202020204" pitchFamily="34" charset="0"/>
              </a:rPr>
              <a:t>Loðvík XIV </a:t>
            </a:r>
            <a:r>
              <a:rPr lang="is-IS" sz="1800">
                <a:latin typeface="Arial" panose="020B0604020202020204" pitchFamily="34" charset="0"/>
                <a:cs typeface="Arial" panose="020B0604020202020204" pitchFamily="34" charset="0"/>
              </a:rPr>
              <a:t>(einnig Lúðvík) (1638-1715) var konungur </a:t>
            </a:r>
            <a:r>
              <a:rPr lang="is-IS" sz="1800" b="1">
                <a:latin typeface="Arial" panose="020B0604020202020204" pitchFamily="34" charset="0"/>
                <a:cs typeface="Arial" panose="020B0604020202020204" pitchFamily="34" charset="0"/>
              </a:rPr>
              <a:t>Frakklands</a:t>
            </a:r>
            <a:r>
              <a:rPr lang="is-IS" sz="1800">
                <a:latin typeface="Arial" panose="020B0604020202020204" pitchFamily="34" charset="0"/>
                <a:cs typeface="Arial" panose="020B0604020202020204" pitchFamily="34" charset="0"/>
              </a:rPr>
              <a:t> frá 1643 til dauðadags 1715. Enginn hefur verið </a:t>
            </a:r>
            <a:r>
              <a:rPr lang="is-IS" sz="1800" b="1">
                <a:latin typeface="Arial" panose="020B0604020202020204" pitchFamily="34" charset="0"/>
                <a:cs typeface="Arial" panose="020B0604020202020204" pitchFamily="34" charset="0"/>
              </a:rPr>
              <a:t>lengur</a:t>
            </a:r>
            <a:r>
              <a:rPr lang="is-IS" sz="1800">
                <a:latin typeface="Arial" panose="020B0604020202020204" pitchFamily="34" charset="0"/>
                <a:cs typeface="Arial" panose="020B0604020202020204" pitchFamily="34" charset="0"/>
              </a:rPr>
              <a:t> konungur í Evrópu en hann, 72 ár. Framan af fór ráðherra hans, hinn ítalski </a:t>
            </a:r>
            <a:r>
              <a:rPr lang="is-IS" sz="1800" b="1">
                <a:latin typeface="Arial" panose="020B0604020202020204" pitchFamily="34" charset="0"/>
                <a:cs typeface="Arial" panose="020B0604020202020204" pitchFamily="34" charset="0"/>
              </a:rPr>
              <a:t>Mazarin</a:t>
            </a:r>
            <a:r>
              <a:rPr lang="is-IS" sz="1800">
                <a:latin typeface="Arial" panose="020B0604020202020204" pitchFamily="34" charset="0"/>
                <a:cs typeface="Arial" panose="020B0604020202020204" pitchFamily="34" charset="0"/>
              </a:rPr>
              <a:t> kardináli með völd en frá 1661 var Loðvík alsráðandi. Hann aflagði gamla lénskerfið, styrkti stöðu </a:t>
            </a:r>
            <a:r>
              <a:rPr lang="is-IS" sz="1800" b="1">
                <a:latin typeface="Arial" panose="020B0604020202020204" pitchFamily="34" charset="0"/>
                <a:cs typeface="Arial" panose="020B0604020202020204" pitchFamily="34" charset="0"/>
              </a:rPr>
              <a:t>konungsvaldsins</a:t>
            </a:r>
            <a:r>
              <a:rPr lang="is-IS" sz="1800">
                <a:latin typeface="Arial" panose="020B0604020202020204" pitchFamily="34" charset="0"/>
                <a:cs typeface="Arial" panose="020B0604020202020204" pitchFamily="34" charset="0"/>
              </a:rPr>
              <a:t> og jók mjög miðstýringu. Margt af því sem hann festi í sessi átti sinn þátt í frönsku byltungunni í lok 18. aldar. Til að friða órólegan aðallinn krafðist hann að aðalinn væri við hirð hans í hinni glæsilegu </a:t>
            </a:r>
            <a:r>
              <a:rPr lang="is-IS" sz="1800" b="1">
                <a:latin typeface="Arial" panose="020B0604020202020204" pitchFamily="34" charset="0"/>
                <a:cs typeface="Arial" panose="020B0604020202020204" pitchFamily="34" charset="0"/>
              </a:rPr>
              <a:t>Versalahöll</a:t>
            </a:r>
            <a:r>
              <a:rPr lang="is-IS" sz="1800">
                <a:latin typeface="Arial" panose="020B0604020202020204" pitchFamily="34" charset="0"/>
                <a:cs typeface="Arial" panose="020B0604020202020204" pitchFamily="34" charset="0"/>
              </a:rPr>
              <a:t> og tókst þannig að halda aftan að uppreisnum af þeirra hálfu. Undir stjórn Loðvíks var Frakkland mjög herskátt og tók þátt í þremur meiri háttar styrjöldum, þar af evrópsku styrjöldinni </a:t>
            </a:r>
            <a:r>
              <a:rPr lang="is-IS" sz="1800" b="1">
                <a:latin typeface="Arial" panose="020B0604020202020204" pitchFamily="34" charset="0"/>
                <a:cs typeface="Arial" panose="020B0604020202020204" pitchFamily="34" charset="0"/>
              </a:rPr>
              <a:t>Spænska erfðastríðinu</a:t>
            </a:r>
            <a:r>
              <a:rPr lang="is-IS" sz="1800">
                <a:latin typeface="Arial" panose="020B0604020202020204" pitchFamily="34" charset="0"/>
                <a:cs typeface="Arial" panose="020B0604020202020204" pitchFamily="34" charset="0"/>
              </a:rPr>
              <a:t>. </a:t>
            </a:r>
          </a:p>
          <a:p>
            <a:pPr marL="0" indent="0">
              <a:buNone/>
            </a:pPr>
            <a:r>
              <a:rPr lang="is-IS" sz="1800">
                <a:latin typeface="Arial" panose="020B0604020202020204" pitchFamily="34" charset="0"/>
                <a:cs typeface="Arial" panose="020B0604020202020204" pitchFamily="34" charset="0"/>
              </a:rPr>
              <a:t>Sagan segir að Loðvík hafi verið mikill aðdáandi </a:t>
            </a:r>
            <a:r>
              <a:rPr lang="is-IS" sz="1800" b="1">
                <a:latin typeface="Arial" panose="020B0604020202020204" pitchFamily="34" charset="0"/>
                <a:cs typeface="Arial" panose="020B0604020202020204" pitchFamily="34" charset="0"/>
              </a:rPr>
              <a:t>balletts</a:t>
            </a:r>
            <a:r>
              <a:rPr lang="is-IS" sz="1800">
                <a:latin typeface="Arial" panose="020B0604020202020204" pitchFamily="34" charset="0"/>
                <a:cs typeface="Arial" panose="020B0604020202020204" pitchFamily="34" charset="0"/>
              </a:rPr>
              <a:t> og þaðan sé komið viðurnefni hans </a:t>
            </a:r>
            <a:r>
              <a:rPr lang="is-IS" sz="1800" b="1">
                <a:latin typeface="Arial" panose="020B0604020202020204" pitchFamily="34" charset="0"/>
                <a:cs typeface="Arial" panose="020B0604020202020204" pitchFamily="34" charset="0"/>
              </a:rPr>
              <a:t>Sólkonungurinn</a:t>
            </a:r>
            <a:r>
              <a:rPr lang="is-IS" sz="1800">
                <a:latin typeface="Arial" panose="020B0604020202020204" pitchFamily="34" charset="0"/>
                <a:cs typeface="Arial" panose="020B0604020202020204" pitchFamily="34" charset="0"/>
              </a:rPr>
              <a:t>; eftir að hafa leikið sól í ballett-verki. Hans fleygustu orð eru: </a:t>
            </a:r>
            <a:r>
              <a:rPr lang="is-IS" sz="1800" i="1">
                <a:latin typeface="Arial" panose="020B0604020202020204" pitchFamily="34" charset="0"/>
                <a:cs typeface="Arial" panose="020B0604020202020204" pitchFamily="34" charset="0"/>
              </a:rPr>
              <a:t>Ríkið það er ég </a:t>
            </a:r>
            <a:r>
              <a:rPr lang="is-IS" sz="1800">
                <a:latin typeface="Arial" panose="020B0604020202020204" pitchFamily="34" charset="0"/>
                <a:cs typeface="Arial" panose="020B0604020202020204" pitchFamily="34" charset="0"/>
              </a:rPr>
              <a:t>(L´état, c´est moi), þó ósennilegt þykir að hann hafi í raun sagt þau.</a:t>
            </a:r>
          </a:p>
        </p:txBody>
      </p:sp>
      <p:pic>
        <p:nvPicPr>
          <p:cNvPr id="1026" name="Picture 2" descr="Louis XIV of Fra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828" y="679138"/>
            <a:ext cx="4117975" cy="5852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054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374" y="0"/>
            <a:ext cx="10515600" cy="1325563"/>
          </a:xfrm>
        </p:spPr>
        <p:txBody>
          <a:bodyPr>
            <a:normAutofit/>
          </a:bodyPr>
          <a:lstStyle/>
          <a:p>
            <a:r>
              <a:rPr lang="is-IS">
                <a:latin typeface="Arial Black" panose="020B0A04020102020204" pitchFamily="34" charset="0"/>
              </a:rPr>
              <a:t>Isaac Newton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58195" y="1121302"/>
            <a:ext cx="3933805" cy="5402942"/>
          </a:xfrm>
        </p:spPr>
      </p:pic>
      <p:sp>
        <p:nvSpPr>
          <p:cNvPr id="5" name="TextBox 4"/>
          <p:cNvSpPr txBox="1"/>
          <p:nvPr/>
        </p:nvSpPr>
        <p:spPr>
          <a:xfrm>
            <a:off x="470374" y="1121302"/>
            <a:ext cx="7667786" cy="480131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Isaac Newton </a:t>
            </a:r>
            <a:r>
              <a:rPr lang="is-IS">
                <a:latin typeface="Arial" panose="020B0604020202020204" pitchFamily="34" charset="0"/>
                <a:cs typeface="Arial" panose="020B0604020202020204" pitchFamily="34" charset="0"/>
              </a:rPr>
              <a:t>(1642-1727) var </a:t>
            </a:r>
            <a:r>
              <a:rPr lang="is-IS" b="1">
                <a:latin typeface="Arial" panose="020B0604020202020204" pitchFamily="34" charset="0"/>
                <a:cs typeface="Arial" panose="020B0604020202020204" pitchFamily="34" charset="0"/>
              </a:rPr>
              <a:t>enskur</a:t>
            </a:r>
            <a:r>
              <a:rPr lang="is-IS">
                <a:latin typeface="Arial" panose="020B0604020202020204" pitchFamily="34" charset="0"/>
                <a:cs typeface="Arial" panose="020B0604020202020204" pitchFamily="34" charset="0"/>
              </a:rPr>
              <a:t> stærðfræðingur, eðlisfræðingur, stjarnfræðingur, náttúruspekingur og gullgerðarmaður. Höfuðrit hans </a:t>
            </a:r>
            <a:r>
              <a:rPr lang="is-IS" b="1">
                <a:latin typeface="Arial" panose="020B0604020202020204" pitchFamily="34" charset="0"/>
                <a:cs typeface="Arial" panose="020B0604020202020204" pitchFamily="34" charset="0"/>
              </a:rPr>
              <a:t>Principia </a:t>
            </a:r>
            <a:r>
              <a:rPr lang="is-IS" i="1">
                <a:latin typeface="Arial" panose="020B0604020202020204" pitchFamily="34" charset="0"/>
                <a:cs typeface="Arial" panose="020B0604020202020204" pitchFamily="34" charset="0"/>
              </a:rPr>
              <a:t>(</a:t>
            </a:r>
            <a:r>
              <a:rPr lang="is-IS">
                <a:latin typeface="Arial" panose="020B0604020202020204" pitchFamily="34" charset="0"/>
                <a:cs typeface="Arial" panose="020B0604020202020204" pitchFamily="34" charset="0"/>
              </a:rPr>
              <a:t>frb. </a:t>
            </a:r>
            <a:r>
              <a:rPr lang="is-IS" i="1">
                <a:latin typeface="Arial" panose="020B0604020202020204" pitchFamily="34" charset="0"/>
                <a:cs typeface="Arial" panose="020B0604020202020204" pitchFamily="34" charset="0"/>
              </a:rPr>
              <a:t>Prinkípia)</a:t>
            </a:r>
            <a:r>
              <a:rPr lang="is-IS">
                <a:latin typeface="Arial" panose="020B0604020202020204" pitchFamily="34" charset="0"/>
                <a:cs typeface="Arial" panose="020B0604020202020204" pitchFamily="34" charset="0"/>
              </a:rPr>
              <a:t> kom út árið 1687 þar sem hann setur fram hin frægu </a:t>
            </a:r>
            <a:r>
              <a:rPr lang="is-IS" b="1">
                <a:latin typeface="Arial" panose="020B0604020202020204" pitchFamily="34" charset="0"/>
                <a:cs typeface="Arial" panose="020B0604020202020204" pitchFamily="34" charset="0"/>
              </a:rPr>
              <a:t>þrjú lögmál Newtons </a:t>
            </a:r>
            <a:r>
              <a:rPr lang="is-IS">
                <a:latin typeface="Arial" panose="020B0604020202020204" pitchFamily="34" charset="0"/>
                <a:cs typeface="Arial" panose="020B0604020202020204" pitchFamily="34" charset="0"/>
              </a:rPr>
              <a:t>sem lagði grunninn að klassískri alffræði sem stóð óhögguð þar til afstæðiskenningar </a:t>
            </a:r>
            <a:r>
              <a:rPr lang="is-IS" b="1">
                <a:latin typeface="Arial" panose="020B0604020202020204" pitchFamily="34" charset="0"/>
                <a:cs typeface="Arial" panose="020B0604020202020204" pitchFamily="34" charset="0"/>
              </a:rPr>
              <a:t>Einsteins</a:t>
            </a:r>
            <a:r>
              <a:rPr lang="is-IS">
                <a:latin typeface="Arial" panose="020B0604020202020204" pitchFamily="34" charset="0"/>
                <a:cs typeface="Arial" panose="020B0604020202020204" pitchFamily="34" charset="0"/>
              </a:rPr>
              <a:t> kom til sögunnar. </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Einnig setti hann fram fræga kenningu um </a:t>
            </a:r>
            <a:r>
              <a:rPr lang="is-IS" b="1">
                <a:latin typeface="Arial" panose="020B0604020202020204" pitchFamily="34" charset="0"/>
                <a:cs typeface="Arial" panose="020B0604020202020204" pitchFamily="34" charset="0"/>
              </a:rPr>
              <a:t>þyngdarlögmálið</a:t>
            </a:r>
            <a:r>
              <a:rPr lang="is-IS">
                <a:latin typeface="Arial" panose="020B0604020202020204" pitchFamily="34" charset="0"/>
                <a:cs typeface="Arial" panose="020B0604020202020204" pitchFamily="34" charset="0"/>
              </a:rPr>
              <a:t>, þ.e. Aðdráttarkraftur milli tveggja hluta er í réttu hlutfalli við massa þeirra hvors um sig en í öfugu hlutfalli við fjarlægðina milli þeirra í öðru veldi. Þar með útskýrði hann þá krafta sem liggja á bakvið sporbauga reikistjarnanna. Sagan segir að hann hafi veitt því athygli að </a:t>
            </a:r>
            <a:r>
              <a:rPr lang="is-IS" b="1">
                <a:latin typeface="Arial" panose="020B0604020202020204" pitchFamily="34" charset="0"/>
                <a:cs typeface="Arial" panose="020B0604020202020204" pitchFamily="34" charset="0"/>
              </a:rPr>
              <a:t>epli</a:t>
            </a:r>
            <a:r>
              <a:rPr lang="is-IS">
                <a:latin typeface="Arial" panose="020B0604020202020204" pitchFamily="34" charset="0"/>
                <a:cs typeface="Arial" panose="020B0604020202020204" pitchFamily="34" charset="0"/>
              </a:rPr>
              <a:t> féll frá eplatré í garði sínu, og þaðan hugmyndin komið</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Kenningar Newtons standa óhaggaðar nema þar sem um er að ræða mikinn hraða (s.s. ljóshraða) eða mikið aðdráttarafl; eins og Einstein sýndi fram á með </a:t>
            </a:r>
            <a:r>
              <a:rPr lang="is-IS" b="1">
                <a:latin typeface="Arial" panose="020B0604020202020204" pitchFamily="34" charset="0"/>
                <a:cs typeface="Arial" panose="020B0604020202020204" pitchFamily="34" charset="0"/>
              </a:rPr>
              <a:t>Almennu afstæðiskenningunni </a:t>
            </a:r>
            <a:r>
              <a:rPr lang="is-IS">
                <a:latin typeface="Arial" panose="020B0604020202020204" pitchFamily="34" charset="0"/>
                <a:cs typeface="Arial" panose="020B0604020202020204" pitchFamily="34" charset="0"/>
              </a:rPr>
              <a:t>1905.</a:t>
            </a:r>
          </a:p>
          <a:p>
            <a:endParaRPr lang="is-I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937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is-IS">
                <a:latin typeface="Arial Black" panose="020B0A04020102020204" pitchFamily="34" charset="0"/>
              </a:rPr>
              <a:t>Pétur mikli</a:t>
            </a:r>
          </a:p>
        </p:txBody>
      </p:sp>
      <p:sp>
        <p:nvSpPr>
          <p:cNvPr id="3" name="Content Placeholder 2"/>
          <p:cNvSpPr>
            <a:spLocks noGrp="1"/>
          </p:cNvSpPr>
          <p:nvPr>
            <p:ph idx="1"/>
          </p:nvPr>
        </p:nvSpPr>
        <p:spPr>
          <a:xfrm>
            <a:off x="838200" y="1257300"/>
            <a:ext cx="6000750" cy="4919663"/>
          </a:xfrm>
        </p:spPr>
        <p:txBody>
          <a:bodyPr>
            <a:normAutofit/>
          </a:bodyPr>
          <a:lstStyle/>
          <a:p>
            <a:pPr marL="0" indent="0">
              <a:buNone/>
            </a:pPr>
            <a:r>
              <a:rPr lang="is-IS" sz="1800" b="1">
                <a:latin typeface="Arial" panose="020B0604020202020204" pitchFamily="34" charset="0"/>
                <a:cs typeface="Arial" panose="020B0604020202020204" pitchFamily="34" charset="0"/>
              </a:rPr>
              <a:t>Pétur I mikli </a:t>
            </a:r>
            <a:r>
              <a:rPr lang="is-IS" sz="1800">
                <a:latin typeface="Arial" panose="020B0604020202020204" pitchFamily="34" charset="0"/>
                <a:cs typeface="Arial" panose="020B0604020202020204" pitchFamily="34" charset="0"/>
              </a:rPr>
              <a:t>(1672-1725) var keisari </a:t>
            </a:r>
            <a:r>
              <a:rPr lang="is-IS" sz="1800" b="1">
                <a:latin typeface="Arial" panose="020B0604020202020204" pitchFamily="34" charset="0"/>
                <a:cs typeface="Arial" panose="020B0604020202020204" pitchFamily="34" charset="0"/>
              </a:rPr>
              <a:t>Rússlands</a:t>
            </a:r>
            <a:r>
              <a:rPr lang="is-IS" sz="1800">
                <a:latin typeface="Arial" panose="020B0604020202020204" pitchFamily="34" charset="0"/>
                <a:cs typeface="Arial" panose="020B0604020202020204" pitchFamily="34" charset="0"/>
              </a:rPr>
              <a:t> frá 1682 til 1725. Pétur varð keisari ásamt hálf bróður sínum eftir að hálf bróðir þeirra lést. Hálfbróðir Péturs, Ivan V, var óhæfur að sinna embættisskildum sínum og lést árið 1696. Kennarar Péturs komu frá Vestur-Evrópu og á valdatíma sínum einbeitti Pétur sér að nútímavæða Rússland, m.a. með að taka upp </a:t>
            </a:r>
            <a:r>
              <a:rPr lang="is-IS" sz="1800" b="1">
                <a:latin typeface="Arial" panose="020B0604020202020204" pitchFamily="34" charset="0"/>
                <a:cs typeface="Arial" panose="020B0604020202020204" pitchFamily="34" charset="0"/>
              </a:rPr>
              <a:t>vestræna</a:t>
            </a:r>
            <a:r>
              <a:rPr lang="is-IS" sz="1800">
                <a:latin typeface="Arial" panose="020B0604020202020204" pitchFamily="34" charset="0"/>
                <a:cs typeface="Arial" panose="020B0604020202020204" pitchFamily="34" charset="0"/>
              </a:rPr>
              <a:t> hirðsiði s.s. að menn þurftu að skera skegg sitt og klæðast vestur-evrópskri tísku. Árið 1697 lagði hann upp í 18 mánaða ferð um Evrópu og lærði m.a. skipasmíði í Amsterdam. Árið 1703 stofnaði hann </a:t>
            </a:r>
            <a:r>
              <a:rPr lang="is-IS" sz="1800" b="1">
                <a:latin typeface="Arial" panose="020B0604020202020204" pitchFamily="34" charset="0"/>
                <a:cs typeface="Arial" panose="020B0604020202020204" pitchFamily="34" charset="0"/>
              </a:rPr>
              <a:t>Sankti Pétursborg </a:t>
            </a:r>
            <a:r>
              <a:rPr lang="is-IS" sz="1800">
                <a:latin typeface="Arial" panose="020B0604020202020204" pitchFamily="34" charset="0"/>
                <a:cs typeface="Arial" panose="020B0604020202020204" pitchFamily="34" charset="0"/>
              </a:rPr>
              <a:t>og gerði síðar að höfuðborg ríkisins. Með sigri sínum á Svíum við </a:t>
            </a:r>
            <a:r>
              <a:rPr lang="is-IS" sz="1800" b="1">
                <a:latin typeface="Arial" panose="020B0604020202020204" pitchFamily="34" charset="0"/>
                <a:cs typeface="Arial" panose="020B0604020202020204" pitchFamily="34" charset="0"/>
              </a:rPr>
              <a:t>Poltova</a:t>
            </a:r>
            <a:r>
              <a:rPr lang="is-IS" sz="1800">
                <a:latin typeface="Arial" panose="020B0604020202020204" pitchFamily="34" charset="0"/>
                <a:cs typeface="Arial" panose="020B0604020202020204" pitchFamily="34" charset="0"/>
              </a:rPr>
              <a:t> árið 1709 tókst honum að ná tökum á Eystrasaltsvæðinu; en honum tókst ekki að vinna landsvæði við </a:t>
            </a:r>
            <a:r>
              <a:rPr lang="is-IS" sz="1800" b="1">
                <a:latin typeface="Arial" panose="020B0604020202020204" pitchFamily="34" charset="0"/>
                <a:cs typeface="Arial" panose="020B0604020202020204" pitchFamily="34" charset="0"/>
              </a:rPr>
              <a:t>Svartahaf</a:t>
            </a:r>
            <a:r>
              <a:rPr lang="is-IS" sz="1800">
                <a:latin typeface="Arial" panose="020B0604020202020204" pitchFamily="34" charset="0"/>
                <a:cs typeface="Arial" panose="020B0604020202020204" pitchFamily="34" charset="0"/>
              </a:rPr>
              <a:t> þrátt fyrir ítrekað tilraunir.</a:t>
            </a:r>
          </a:p>
        </p:txBody>
      </p:sp>
      <p:pic>
        <p:nvPicPr>
          <p:cNvPr id="6146" name="Picture 2" descr="Peter der-Grosse 183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244554"/>
            <a:ext cx="4667249" cy="62657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27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575"/>
            <a:ext cx="10515600" cy="1325563"/>
          </a:xfrm>
        </p:spPr>
        <p:txBody>
          <a:bodyPr>
            <a:normAutofit/>
          </a:bodyPr>
          <a:lstStyle/>
          <a:p>
            <a:r>
              <a:rPr lang="is-IS">
                <a:latin typeface="Arial Black" panose="020B0A04020102020204" pitchFamily="34" charset="0"/>
              </a:rPr>
              <a:t>Katrín II mikla</a:t>
            </a:r>
          </a:p>
        </p:txBody>
      </p:sp>
      <p:sp>
        <p:nvSpPr>
          <p:cNvPr id="3" name="Content Placeholder 2"/>
          <p:cNvSpPr>
            <a:spLocks noGrp="1"/>
          </p:cNvSpPr>
          <p:nvPr>
            <p:ph idx="1"/>
          </p:nvPr>
        </p:nvSpPr>
        <p:spPr>
          <a:xfrm>
            <a:off x="838200" y="1690688"/>
            <a:ext cx="5524500" cy="4486275"/>
          </a:xfrm>
        </p:spPr>
        <p:txBody>
          <a:bodyPr>
            <a:normAutofit/>
          </a:bodyPr>
          <a:lstStyle/>
          <a:p>
            <a:pPr marL="0" indent="0">
              <a:buNone/>
            </a:pPr>
            <a:r>
              <a:rPr lang="is-IS" sz="1900" b="1">
                <a:latin typeface="Arial" panose="020B0604020202020204" pitchFamily="34" charset="0"/>
                <a:cs typeface="Arial" panose="020B0604020202020204" pitchFamily="34" charset="0"/>
              </a:rPr>
              <a:t>Katrín II mikla </a:t>
            </a:r>
            <a:r>
              <a:rPr lang="is-IS" sz="1900">
                <a:latin typeface="Arial" panose="020B0604020202020204" pitchFamily="34" charset="0"/>
                <a:cs typeface="Arial" panose="020B0604020202020204" pitchFamily="34" charset="0"/>
              </a:rPr>
              <a:t>(1729-1796) var keisaraynja </a:t>
            </a:r>
            <a:r>
              <a:rPr lang="is-IS" sz="1900" b="1">
                <a:latin typeface="Arial" panose="020B0604020202020204" pitchFamily="34" charset="0"/>
                <a:cs typeface="Arial" panose="020B0604020202020204" pitchFamily="34" charset="0"/>
              </a:rPr>
              <a:t>Rússlands</a:t>
            </a:r>
            <a:r>
              <a:rPr lang="is-IS" sz="1900">
                <a:latin typeface="Arial" panose="020B0604020202020204" pitchFamily="34" charset="0"/>
                <a:cs typeface="Arial" panose="020B0604020202020204" pitchFamily="34" charset="0"/>
              </a:rPr>
              <a:t> frá 1762 til dauðadags 1796. Hún var </a:t>
            </a:r>
            <a:r>
              <a:rPr lang="is-IS" sz="1900" b="1">
                <a:latin typeface="Arial" panose="020B0604020202020204" pitchFamily="34" charset="0"/>
                <a:cs typeface="Arial" panose="020B0604020202020204" pitchFamily="34" charset="0"/>
              </a:rPr>
              <a:t>þýsk</a:t>
            </a:r>
            <a:r>
              <a:rPr lang="is-IS" sz="1900">
                <a:latin typeface="Arial" panose="020B0604020202020204" pitchFamily="34" charset="0"/>
                <a:cs typeface="Arial" panose="020B0604020202020204" pitchFamily="34" charset="0"/>
              </a:rPr>
              <a:t> prinsessa sem kvæntist </a:t>
            </a:r>
            <a:r>
              <a:rPr lang="is-IS" sz="1900" b="1">
                <a:latin typeface="Arial" panose="020B0604020202020204" pitchFamily="34" charset="0"/>
                <a:cs typeface="Arial" panose="020B0604020202020204" pitchFamily="34" charset="0"/>
              </a:rPr>
              <a:t>Pétri III </a:t>
            </a:r>
            <a:r>
              <a:rPr lang="is-IS" sz="1900">
                <a:latin typeface="Arial" panose="020B0604020202020204" pitchFamily="34" charset="0"/>
                <a:cs typeface="Arial" panose="020B0604020202020204" pitchFamily="34" charset="0"/>
              </a:rPr>
              <a:t>Rússakeisara en fór fyrir </a:t>
            </a:r>
            <a:r>
              <a:rPr lang="is-IS" sz="1900" b="1">
                <a:latin typeface="Arial" panose="020B0604020202020204" pitchFamily="34" charset="0"/>
                <a:cs typeface="Arial" panose="020B0604020202020204" pitchFamily="34" charset="0"/>
              </a:rPr>
              <a:t>valdaráni</a:t>
            </a:r>
            <a:r>
              <a:rPr lang="is-IS" sz="1900">
                <a:latin typeface="Arial" panose="020B0604020202020204" pitchFamily="34" charset="0"/>
                <a:cs typeface="Arial" panose="020B0604020202020204" pitchFamily="34" charset="0"/>
              </a:rPr>
              <a:t> gegn manni sínum og tók sjálf völdin. Á valdatíma hennar stækkaði Rússland umtalsvert, m.a. með landnámi í </a:t>
            </a:r>
            <a:r>
              <a:rPr lang="is-IS" sz="1900" b="1">
                <a:latin typeface="Arial" panose="020B0604020202020204" pitchFamily="34" charset="0"/>
                <a:cs typeface="Arial" panose="020B0604020202020204" pitchFamily="34" charset="0"/>
              </a:rPr>
              <a:t>Alaska</a:t>
            </a:r>
            <a:r>
              <a:rPr lang="is-IS" sz="1900">
                <a:latin typeface="Arial" panose="020B0604020202020204" pitchFamily="34" charset="0"/>
                <a:cs typeface="Arial" panose="020B0604020202020204" pitchFamily="34" charset="0"/>
              </a:rPr>
              <a:t>. Hún treysti mjög á ráðgjafa sína, frægastur </a:t>
            </a:r>
            <a:r>
              <a:rPr lang="is-IS" sz="1900" b="1">
                <a:latin typeface="Arial" panose="020B0604020202020204" pitchFamily="34" charset="0"/>
                <a:cs typeface="Arial" panose="020B0604020202020204" pitchFamily="34" charset="0"/>
              </a:rPr>
              <a:t>Grigoríj Potemkin</a:t>
            </a:r>
            <a:r>
              <a:rPr lang="is-IS" sz="1900">
                <a:latin typeface="Arial" panose="020B0604020202020204" pitchFamily="34" charset="0"/>
                <a:cs typeface="Arial" panose="020B0604020202020204" pitchFamily="34" charset="0"/>
              </a:rPr>
              <a:t>; sem jafnframt var elskhugi hennar, en margar sögur spunnust af sambandi þeirra. Hún lét reisa bæi og borgir og nútímavæddi Rússland. Hún aðhylltist hugmyndum </a:t>
            </a:r>
            <a:r>
              <a:rPr lang="is-IS" sz="1900" b="1">
                <a:latin typeface="Arial" panose="020B0604020202020204" pitchFamily="34" charset="0"/>
                <a:cs typeface="Arial" panose="020B0604020202020204" pitchFamily="34" charset="0"/>
              </a:rPr>
              <a:t>Upplýsingastefnunnar</a:t>
            </a:r>
            <a:r>
              <a:rPr lang="is-IS" sz="1900">
                <a:latin typeface="Arial" panose="020B0604020202020204" pitchFamily="34" charset="0"/>
                <a:cs typeface="Arial" panose="020B0604020202020204" pitchFamily="34" charset="0"/>
              </a:rPr>
              <a:t> og var ein af hinum upplýstu einvöldum á 18. öld.</a:t>
            </a:r>
          </a:p>
        </p:txBody>
      </p:sp>
      <p:pic>
        <p:nvPicPr>
          <p:cNvPr id="5122" name="Picture 2" descr="Profile portrait of Catherine II by Fedor Rokotov (1763, Tretyakov galle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3430" y="365125"/>
            <a:ext cx="5363769" cy="608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0702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cs typeface="Arial" panose="020B0604020202020204" pitchFamily="34" charset="0"/>
              </a:rPr>
              <a:t>George Washington </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342631" y="993229"/>
            <a:ext cx="4634160" cy="5526236"/>
          </a:xfrm>
        </p:spPr>
      </p:pic>
      <p:sp>
        <p:nvSpPr>
          <p:cNvPr id="5" name="TextBox 4"/>
          <p:cNvSpPr txBox="1"/>
          <p:nvPr/>
        </p:nvSpPr>
        <p:spPr>
          <a:xfrm>
            <a:off x="838200" y="1690688"/>
            <a:ext cx="6240517" cy="3416320"/>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George Washington </a:t>
            </a:r>
            <a:r>
              <a:rPr lang="is-IS">
                <a:latin typeface="Arial" panose="020B0604020202020204" pitchFamily="34" charset="0"/>
                <a:cs typeface="Arial" panose="020B0604020202020204" pitchFamily="34" charset="0"/>
              </a:rPr>
              <a:t>(f. 1732): Fyrsti forseti </a:t>
            </a:r>
            <a:r>
              <a:rPr lang="is-IS" b="1">
                <a:latin typeface="Arial" panose="020B0604020202020204" pitchFamily="34" charset="0"/>
                <a:cs typeface="Arial" panose="020B0604020202020204" pitchFamily="34" charset="0"/>
              </a:rPr>
              <a:t>Bandaríkjanna</a:t>
            </a:r>
            <a:r>
              <a:rPr lang="is-IS">
                <a:latin typeface="Arial" panose="020B0604020202020204" pitchFamily="34" charset="0"/>
                <a:cs typeface="Arial" panose="020B0604020202020204" pitchFamily="34" charset="0"/>
              </a:rPr>
              <a:t>. Hafði verið </a:t>
            </a:r>
            <a:r>
              <a:rPr lang="is-IS" b="1">
                <a:latin typeface="Arial" panose="020B0604020202020204" pitchFamily="34" charset="0"/>
                <a:cs typeface="Arial" panose="020B0604020202020204" pitchFamily="34" charset="0"/>
              </a:rPr>
              <a:t>yfirhershöfðingi</a:t>
            </a:r>
            <a:r>
              <a:rPr lang="is-IS">
                <a:latin typeface="Arial" panose="020B0604020202020204" pitchFamily="34" charset="0"/>
                <a:cs typeface="Arial" panose="020B0604020202020204" pitchFamily="34" charset="0"/>
              </a:rPr>
              <a:t> í her nýlendanna í </a:t>
            </a:r>
            <a:r>
              <a:rPr lang="is-IS" b="1">
                <a:latin typeface="Arial" panose="020B0604020202020204" pitchFamily="34" charset="0"/>
                <a:cs typeface="Arial" panose="020B0604020202020204" pitchFamily="34" charset="0"/>
              </a:rPr>
              <a:t>Frelsisstríðinu</a:t>
            </a:r>
            <a:r>
              <a:rPr lang="is-IS">
                <a:latin typeface="Arial" panose="020B0604020202020204" pitchFamily="34" charset="0"/>
                <a:cs typeface="Arial" panose="020B0604020202020204" pitchFamily="34" charset="0"/>
              </a:rPr>
              <a:t> og var í hópi </a:t>
            </a:r>
            <a:r>
              <a:rPr lang="is-IS" b="1">
                <a:latin typeface="Arial" panose="020B0604020202020204" pitchFamily="34" charset="0"/>
                <a:cs typeface="Arial" panose="020B0604020202020204" pitchFamily="34" charset="0"/>
              </a:rPr>
              <a:t>landsferðra</a:t>
            </a:r>
            <a:r>
              <a:rPr lang="is-IS">
                <a:latin typeface="Arial" panose="020B0604020202020204" pitchFamily="34" charset="0"/>
                <a:cs typeface="Arial" panose="020B0604020202020204" pitchFamily="34" charset="0"/>
              </a:rPr>
              <a:t> Bandaríkjanna (</a:t>
            </a:r>
            <a:r>
              <a:rPr lang="is-IS" i="1">
                <a:latin typeface="Arial" panose="020B0604020202020204" pitchFamily="34" charset="0"/>
                <a:cs typeface="Arial" panose="020B0604020202020204" pitchFamily="34" charset="0"/>
              </a:rPr>
              <a:t>Founding Fathers</a:t>
            </a:r>
            <a:r>
              <a:rPr lang="is-IS">
                <a:latin typeface="Arial" panose="020B0604020202020204" pitchFamily="34" charset="0"/>
                <a:cs typeface="Arial" panose="020B0604020202020204" pitchFamily="34" charset="0"/>
              </a:rPr>
              <a:t>). Sem hershöfðingi naut hann mikils traust. Árið 1776 náði hann að koma Bretum í opna skjöldu eftir að hafa siglt yfir </a:t>
            </a:r>
            <a:r>
              <a:rPr lang="is-IS" b="1">
                <a:latin typeface="Arial" panose="020B0604020202020204" pitchFamily="34" charset="0"/>
                <a:cs typeface="Arial" panose="020B0604020202020204" pitchFamily="34" charset="0"/>
              </a:rPr>
              <a:t>Delaware</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fljótið</a:t>
            </a:r>
            <a:r>
              <a:rPr lang="is-IS">
                <a:latin typeface="Arial" panose="020B0604020202020204" pitchFamily="34" charset="0"/>
                <a:cs typeface="Arial" panose="020B0604020202020204" pitchFamily="34" charset="0"/>
              </a:rPr>
              <a:t> í desember. Hann stýrði einnig herjum nýlendanna í sigrum á Bretum við </a:t>
            </a:r>
            <a:r>
              <a:rPr lang="is-IS" b="1">
                <a:latin typeface="Arial" panose="020B0604020202020204" pitchFamily="34" charset="0"/>
                <a:cs typeface="Arial" panose="020B0604020202020204" pitchFamily="34" charset="0"/>
              </a:rPr>
              <a:t>Saratoga</a:t>
            </a:r>
            <a:r>
              <a:rPr lang="is-IS">
                <a:latin typeface="Arial" panose="020B0604020202020204" pitchFamily="34" charset="0"/>
                <a:cs typeface="Arial" panose="020B0604020202020204" pitchFamily="34" charset="0"/>
              </a:rPr>
              <a:t> (1777) og </a:t>
            </a:r>
            <a:r>
              <a:rPr lang="is-IS" b="1">
                <a:latin typeface="Arial" panose="020B0604020202020204" pitchFamily="34" charset="0"/>
                <a:cs typeface="Arial" panose="020B0604020202020204" pitchFamily="34" charset="0"/>
              </a:rPr>
              <a:t>Yorktown</a:t>
            </a:r>
            <a:r>
              <a:rPr lang="is-IS">
                <a:latin typeface="Arial" panose="020B0604020202020204" pitchFamily="34" charset="0"/>
                <a:cs typeface="Arial" panose="020B0604020202020204" pitchFamily="34" charset="0"/>
              </a:rPr>
              <a:t> (1781).</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Hann var einróma kjörinn forseti Bandaríkjanna árið 1789 og hóf strax handa við að styrkja efnahag nýja ríkisins og lægja öldur.</a:t>
            </a:r>
          </a:p>
        </p:txBody>
      </p:sp>
    </p:spTree>
    <p:extLst>
      <p:ext uri="{BB962C8B-B14F-4D97-AF65-F5344CB8AC3E}">
        <p14:creationId xmlns:p14="http://schemas.microsoft.com/office/powerpoint/2010/main" val="21204640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Wolfgang Amadeus Mozart</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92769" y="1690688"/>
            <a:ext cx="3928918" cy="4308939"/>
          </a:xfrm>
        </p:spPr>
      </p:pic>
      <p:sp>
        <p:nvSpPr>
          <p:cNvPr id="5" name="TextBox 4"/>
          <p:cNvSpPr txBox="1"/>
          <p:nvPr/>
        </p:nvSpPr>
        <p:spPr>
          <a:xfrm>
            <a:off x="838200" y="1690688"/>
            <a:ext cx="6586682" cy="480131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Wolfgang Amadeus Mozart </a:t>
            </a:r>
            <a:r>
              <a:rPr lang="is-IS">
                <a:latin typeface="Arial" panose="020B0604020202020204" pitchFamily="34" charset="0"/>
                <a:cs typeface="Arial" panose="020B0604020202020204" pitchFamily="34" charset="0"/>
              </a:rPr>
              <a:t>(1756-1791) var fæddur í austurrísku borginni </a:t>
            </a:r>
            <a:r>
              <a:rPr lang="is-IS" b="1">
                <a:latin typeface="Arial" panose="020B0604020202020204" pitchFamily="34" charset="0"/>
                <a:cs typeface="Arial" panose="020B0604020202020204" pitchFamily="34" charset="0"/>
              </a:rPr>
              <a:t>Salzburg</a:t>
            </a:r>
            <a:r>
              <a:rPr lang="is-IS">
                <a:latin typeface="Arial" panose="020B0604020202020204" pitchFamily="34" charset="0"/>
                <a:cs typeface="Arial" panose="020B0604020202020204" pitchFamily="34" charset="0"/>
              </a:rPr>
              <a:t>. Almennt talinn mesta tónskáld í sígildri tónlist. Hann samdi yfir 600 tónverk af ýmsum gerðum, s.s. sinfóníur og óperur. Faðir hans </a:t>
            </a:r>
            <a:r>
              <a:rPr lang="is-IS" b="1">
                <a:latin typeface="Arial" panose="020B0604020202020204" pitchFamily="34" charset="0"/>
                <a:cs typeface="Arial" panose="020B0604020202020204" pitchFamily="34" charset="0"/>
              </a:rPr>
              <a:t>Leopold</a:t>
            </a:r>
            <a:r>
              <a:rPr lang="is-IS">
                <a:latin typeface="Arial" panose="020B0604020202020204" pitchFamily="34" charset="0"/>
                <a:cs typeface="Arial" panose="020B0604020202020204" pitchFamily="34" charset="0"/>
              </a:rPr>
              <a:t> var tónskáld og tónlistarstjóri við hirð Erkibiskupsins í Salzburg. Þegar tónlistarhæfileikar Mozarts komu í ljós við fjögra ára aldur lagði hann hart að syni sínum að feta í fótspor sín. Rétt sex ára gamall voru fyrstu verkin hans gefin út í París og hann ferðaðist um Evrópu til að spila. Hann var í þjónustu erkibiskupsins en naut þess lítið og yfirgaf Salsburg endanlega árið 1780. Hann settist að í </a:t>
            </a:r>
            <a:r>
              <a:rPr lang="is-IS" b="1">
                <a:latin typeface="Arial" panose="020B0604020202020204" pitchFamily="34" charset="0"/>
                <a:cs typeface="Arial" panose="020B0604020202020204" pitchFamily="34" charset="0"/>
              </a:rPr>
              <a:t>Vín</a:t>
            </a:r>
            <a:r>
              <a:rPr lang="is-IS">
                <a:latin typeface="Arial" panose="020B0604020202020204" pitchFamily="34" charset="0"/>
                <a:cs typeface="Arial" panose="020B0604020202020204" pitchFamily="34" charset="0"/>
              </a:rPr>
              <a:t> og þar samdi hann mörg af sínum þekktustu verkum. Hann giftist </a:t>
            </a:r>
            <a:r>
              <a:rPr lang="is-IS" b="1">
                <a:latin typeface="Arial" panose="020B0604020202020204" pitchFamily="34" charset="0"/>
                <a:cs typeface="Arial" panose="020B0604020202020204" pitchFamily="34" charset="0"/>
              </a:rPr>
              <a:t>Constanze</a:t>
            </a:r>
            <a:r>
              <a:rPr lang="is-IS">
                <a:latin typeface="Arial" panose="020B0604020202020204" pitchFamily="34" charset="0"/>
                <a:cs typeface="Arial" panose="020B0604020202020204" pitchFamily="34" charset="0"/>
              </a:rPr>
              <a:t> árið 1782. Þó hann hafi samið fjölda verka og leikið víða fyrir fursta um alla Evrópu þá varð Mozart aldrei ríkur. Hann dó óvænt árið 1791, rétt </a:t>
            </a:r>
            <a:r>
              <a:rPr lang="is-IS" b="1">
                <a:latin typeface="Arial" panose="020B0604020202020204" pitchFamily="34" charset="0"/>
                <a:cs typeface="Arial" panose="020B0604020202020204" pitchFamily="34" charset="0"/>
              </a:rPr>
              <a:t>35</a:t>
            </a:r>
            <a:r>
              <a:rPr lang="is-IS">
                <a:latin typeface="Arial" panose="020B0604020202020204" pitchFamily="34" charset="0"/>
                <a:cs typeface="Arial" panose="020B0604020202020204" pitchFamily="34" charset="0"/>
              </a:rPr>
              <a:t> ára gamall. </a:t>
            </a:r>
          </a:p>
          <a:p>
            <a:endParaRPr lang="is-IS">
              <a:latin typeface="Arial" panose="020B0604020202020204" pitchFamily="34" charset="0"/>
              <a:cs typeface="Arial" panose="020B0604020202020204" pitchFamily="34" charset="0"/>
            </a:endParaRPr>
          </a:p>
          <a:p>
            <a:r>
              <a:rPr lang="is-IS" u="sng">
                <a:latin typeface="Arial" panose="020B0604020202020204" pitchFamily="34" charset="0"/>
                <a:cs typeface="Arial" panose="020B0604020202020204" pitchFamily="34" charset="0"/>
              </a:rPr>
              <a:t>Sjá nánar sérglósur um Mozart.</a:t>
            </a:r>
          </a:p>
        </p:txBody>
      </p:sp>
    </p:spTree>
    <p:extLst>
      <p:ext uri="{BB962C8B-B14F-4D97-AF65-F5344CB8AC3E}">
        <p14:creationId xmlns:p14="http://schemas.microsoft.com/office/powerpoint/2010/main" val="4006515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Maximilien de Robespierre</a:t>
            </a:r>
          </a:p>
        </p:txBody>
      </p:sp>
      <p:pic>
        <p:nvPicPr>
          <p:cNvPr id="6146" name="Picture 2" descr="Robespierr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811146" y="1446941"/>
            <a:ext cx="4061914" cy="51484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838200" y="1690688"/>
            <a:ext cx="6446003" cy="3139321"/>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Maximilien de Robespierre </a:t>
            </a:r>
            <a:r>
              <a:rPr lang="is-IS">
                <a:latin typeface="Arial" panose="020B0604020202020204" pitchFamily="34" charset="0"/>
                <a:cs typeface="Arial" panose="020B0604020202020204" pitchFamily="34" charset="0"/>
              </a:rPr>
              <a:t>(1758-1794) var </a:t>
            </a:r>
            <a:r>
              <a:rPr lang="is-IS" b="1">
                <a:latin typeface="Arial" panose="020B0604020202020204" pitchFamily="34" charset="0"/>
                <a:cs typeface="Arial" panose="020B0604020202020204" pitchFamily="34" charset="0"/>
              </a:rPr>
              <a:t>franskur</a:t>
            </a:r>
            <a:r>
              <a:rPr lang="is-IS">
                <a:latin typeface="Arial" panose="020B0604020202020204" pitchFamily="34" charset="0"/>
                <a:cs typeface="Arial" panose="020B0604020202020204" pitchFamily="34" charset="0"/>
              </a:rPr>
              <a:t> lögfræðingur og helsti leiðtogi </a:t>
            </a:r>
            <a:r>
              <a:rPr lang="is-IS" b="1">
                <a:latin typeface="Arial" panose="020B0604020202020204" pitchFamily="34" charset="0"/>
                <a:cs typeface="Arial" panose="020B0604020202020204" pitchFamily="34" charset="0"/>
              </a:rPr>
              <a:t>byltingarmanna</a:t>
            </a:r>
            <a:r>
              <a:rPr lang="is-IS">
                <a:latin typeface="Arial" panose="020B0604020202020204" pitchFamily="34" charset="0"/>
                <a:cs typeface="Arial" panose="020B0604020202020204" pitchFamily="34" charset="0"/>
              </a:rPr>
              <a:t> í </a:t>
            </a:r>
            <a:r>
              <a:rPr lang="is-IS" b="1">
                <a:latin typeface="Arial" panose="020B0604020202020204" pitchFamily="34" charset="0"/>
                <a:cs typeface="Arial" panose="020B0604020202020204" pitchFamily="34" charset="0"/>
              </a:rPr>
              <a:t>frönsku</a:t>
            </a:r>
            <a:r>
              <a:rPr lang="is-IS">
                <a:latin typeface="Arial" panose="020B0604020202020204" pitchFamily="34" charset="0"/>
                <a:cs typeface="Arial" panose="020B0604020202020204" pitchFamily="34" charset="0"/>
              </a:rPr>
              <a:t> stjórnarbyltingunni 1789. Hann var jafnframt leiðtogi </a:t>
            </a:r>
            <a:r>
              <a:rPr lang="is-IS" b="1">
                <a:latin typeface="Arial" panose="020B0604020202020204" pitchFamily="34" charset="0"/>
                <a:cs typeface="Arial" panose="020B0604020202020204" pitchFamily="34" charset="0"/>
              </a:rPr>
              <a:t>jakóbína</a:t>
            </a:r>
            <a:r>
              <a:rPr lang="is-IS">
                <a:latin typeface="Arial" panose="020B0604020202020204" pitchFamily="34" charset="0"/>
                <a:cs typeface="Arial" panose="020B0604020202020204" pitchFamily="34" charset="0"/>
              </a:rPr>
              <a:t>. Í kjölfar byltingarinnar 1789 féllst </a:t>
            </a:r>
            <a:r>
              <a:rPr lang="is-IS" b="1">
                <a:latin typeface="Arial" panose="020B0604020202020204" pitchFamily="34" charset="0"/>
                <a:cs typeface="Arial" panose="020B0604020202020204" pitchFamily="34" charset="0"/>
              </a:rPr>
              <a:t>Loðvík XVI </a:t>
            </a:r>
            <a:r>
              <a:rPr lang="is-IS">
                <a:latin typeface="Arial" panose="020B0604020202020204" pitchFamily="34" charset="0"/>
                <a:cs typeface="Arial" panose="020B0604020202020204" pitchFamily="34" charset="0"/>
              </a:rPr>
              <a:t>á að koma á stjórnarskrá bundnu lýðræði á í Frakklandi. Í júlí 1793 varð Robespierre leiðtogi hinnar valdamiklu </a:t>
            </a:r>
            <a:r>
              <a:rPr lang="is-IS" b="1" i="1">
                <a:latin typeface="Arial" panose="020B0604020202020204" pitchFamily="34" charset="0"/>
                <a:cs typeface="Arial" panose="020B0604020202020204" pitchFamily="34" charset="0"/>
              </a:rPr>
              <a:t>Velferðarnefnd</a:t>
            </a:r>
            <a:r>
              <a:rPr lang="is-IS">
                <a:latin typeface="Arial" panose="020B0604020202020204" pitchFamily="34" charset="0"/>
                <a:cs typeface="Arial" panose="020B0604020202020204" pitchFamily="34" charset="0"/>
              </a:rPr>
              <a:t> og í því skjóli fór hann fyrir </a:t>
            </a:r>
            <a:r>
              <a:rPr lang="is-IS" b="1">
                <a:latin typeface="Arial" panose="020B0604020202020204" pitchFamily="34" charset="0"/>
                <a:cs typeface="Arial" panose="020B0604020202020204" pitchFamily="34" charset="0"/>
              </a:rPr>
              <a:t>ógnarstjórn</a:t>
            </a:r>
            <a:r>
              <a:rPr lang="is-IS">
                <a:latin typeface="Arial" panose="020B0604020202020204" pitchFamily="34" charset="0"/>
                <a:cs typeface="Arial" panose="020B0604020202020204" pitchFamily="34" charset="0"/>
              </a:rPr>
              <a:t> jakóbína sem létu taka af lífi þá sem hann taldi ógna frönsku byltingunni, m.a. konunginn sjálfan og konu hans, og þúsunda annarra „andstæðinga“. Að lokum snérust margir gegn honum og var hann sjálfur </a:t>
            </a:r>
            <a:r>
              <a:rPr lang="is-IS" b="1">
                <a:latin typeface="Arial" panose="020B0604020202020204" pitchFamily="34" charset="0"/>
                <a:cs typeface="Arial" panose="020B0604020202020204" pitchFamily="34" charset="0"/>
              </a:rPr>
              <a:t>líflátinn</a:t>
            </a:r>
            <a:r>
              <a:rPr lang="is-IS">
                <a:latin typeface="Arial" panose="020B0604020202020204" pitchFamily="34" charset="0"/>
                <a:cs typeface="Arial" panose="020B0604020202020204" pitchFamily="34" charset="0"/>
              </a:rPr>
              <a:t> 1794.</a:t>
            </a:r>
          </a:p>
        </p:txBody>
      </p:sp>
    </p:spTree>
    <p:extLst>
      <p:ext uri="{BB962C8B-B14F-4D97-AF65-F5344CB8AC3E}">
        <p14:creationId xmlns:p14="http://schemas.microsoft.com/office/powerpoint/2010/main" val="3560388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2925" y="0"/>
            <a:ext cx="10810875" cy="1325563"/>
          </a:xfrm>
        </p:spPr>
        <p:txBody>
          <a:bodyPr>
            <a:normAutofit/>
          </a:bodyPr>
          <a:lstStyle/>
          <a:p>
            <a:r>
              <a:rPr lang="is-IS">
                <a:latin typeface="Arial Black" panose="020B0A04020102020204" pitchFamily="34" charset="0"/>
              </a:rPr>
              <a:t>Napóleon Bónaparte</a:t>
            </a:r>
          </a:p>
        </p:txBody>
      </p:sp>
      <p:sp>
        <p:nvSpPr>
          <p:cNvPr id="3" name="Content Placeholder 2"/>
          <p:cNvSpPr>
            <a:spLocks noGrp="1"/>
          </p:cNvSpPr>
          <p:nvPr>
            <p:ph idx="1"/>
          </p:nvPr>
        </p:nvSpPr>
        <p:spPr>
          <a:xfrm>
            <a:off x="542925" y="1325564"/>
            <a:ext cx="7129463" cy="5469466"/>
          </a:xfrm>
        </p:spPr>
        <p:txBody>
          <a:bodyPr>
            <a:normAutofit/>
          </a:bodyPr>
          <a:lstStyle/>
          <a:p>
            <a:pPr marL="0" indent="0">
              <a:buNone/>
            </a:pPr>
            <a:r>
              <a:rPr lang="is-IS" sz="1800" b="1">
                <a:latin typeface="Arial" panose="020B0604020202020204" pitchFamily="34" charset="0"/>
                <a:cs typeface="Arial" panose="020B0604020202020204" pitchFamily="34" charset="0"/>
              </a:rPr>
              <a:t>Napóleon Bónaparte </a:t>
            </a:r>
            <a:r>
              <a:rPr lang="is-IS" sz="1800">
                <a:latin typeface="Arial" panose="020B0604020202020204" pitchFamily="34" charset="0"/>
                <a:cs typeface="Arial" panose="020B0604020202020204" pitchFamily="34" charset="0"/>
              </a:rPr>
              <a:t>(1769-1821) var einræðisherra </a:t>
            </a:r>
            <a:r>
              <a:rPr lang="is-IS" sz="1800" b="1">
                <a:latin typeface="Arial" panose="020B0604020202020204" pitchFamily="34" charset="0"/>
                <a:cs typeface="Arial" panose="020B0604020202020204" pitchFamily="34" charset="0"/>
              </a:rPr>
              <a:t>Frakklands</a:t>
            </a:r>
            <a:r>
              <a:rPr lang="is-IS" sz="1800">
                <a:latin typeface="Arial" panose="020B0604020202020204" pitchFamily="34" charset="0"/>
                <a:cs typeface="Arial" panose="020B0604020202020204" pitchFamily="34" charset="0"/>
              </a:rPr>
              <a:t> frá 1799 og </a:t>
            </a:r>
            <a:r>
              <a:rPr lang="is-IS" sz="1800" b="1">
                <a:latin typeface="Arial" panose="020B0604020202020204" pitchFamily="34" charset="0"/>
                <a:cs typeface="Arial" panose="020B0604020202020204" pitchFamily="34" charset="0"/>
              </a:rPr>
              <a:t>keisari</a:t>
            </a:r>
            <a:r>
              <a:rPr lang="is-IS" sz="1800">
                <a:latin typeface="Arial" panose="020B0604020202020204" pitchFamily="34" charset="0"/>
                <a:cs typeface="Arial" panose="020B0604020202020204" pitchFamily="34" charset="0"/>
              </a:rPr>
              <a:t> frá 1804 og til 1815; með hléum. Hann var fæddur á </a:t>
            </a:r>
            <a:r>
              <a:rPr lang="is-IS" sz="1800" b="1">
                <a:latin typeface="Arial" panose="020B0604020202020204" pitchFamily="34" charset="0"/>
                <a:cs typeface="Arial" panose="020B0604020202020204" pitchFamily="34" charset="0"/>
              </a:rPr>
              <a:t>Korsíku</a:t>
            </a:r>
            <a:r>
              <a:rPr lang="is-IS" sz="1800">
                <a:latin typeface="Arial" panose="020B0604020202020204" pitchFamily="34" charset="0"/>
                <a:cs typeface="Arial" panose="020B0604020202020204" pitchFamily="34" charset="0"/>
              </a:rPr>
              <a:t> í lágaðalsætt. Hann var hershöfðingi í her franska lýðveldisins, eftir </a:t>
            </a:r>
            <a:r>
              <a:rPr lang="is-IS" sz="1800" b="1">
                <a:latin typeface="Arial" panose="020B0604020202020204" pitchFamily="34" charset="0"/>
                <a:cs typeface="Arial" panose="020B0604020202020204" pitchFamily="34" charset="0"/>
              </a:rPr>
              <a:t>frönsku byltinguna</a:t>
            </a:r>
            <a:r>
              <a:rPr lang="is-IS" sz="1800">
                <a:latin typeface="Arial" panose="020B0604020202020204" pitchFamily="34" charset="0"/>
                <a:cs typeface="Arial" panose="020B0604020202020204" pitchFamily="34" charset="0"/>
              </a:rPr>
              <a:t>, og varð þjóðhetja fyrir að leiða franska herinn til margra glæstra sigra. Árið </a:t>
            </a:r>
            <a:r>
              <a:rPr lang="is-IS" sz="1800" b="1">
                <a:latin typeface="Arial" panose="020B0604020202020204" pitchFamily="34" charset="0"/>
                <a:cs typeface="Arial" panose="020B0604020202020204" pitchFamily="34" charset="0"/>
              </a:rPr>
              <a:t>1799</a:t>
            </a:r>
            <a:r>
              <a:rPr lang="is-IS" sz="1800">
                <a:latin typeface="Arial" panose="020B0604020202020204" pitchFamily="34" charset="0"/>
                <a:cs typeface="Arial" panose="020B0604020202020204" pitchFamily="34" charset="0"/>
              </a:rPr>
              <a:t> leiddi hann </a:t>
            </a:r>
            <a:r>
              <a:rPr lang="is-IS" sz="1800" b="1">
                <a:latin typeface="Arial" panose="020B0604020202020204" pitchFamily="34" charset="0"/>
                <a:cs typeface="Arial" panose="020B0604020202020204" pitchFamily="34" charset="0"/>
              </a:rPr>
              <a:t>valdarán</a:t>
            </a:r>
            <a:r>
              <a:rPr lang="is-IS" sz="1800">
                <a:latin typeface="Arial" panose="020B0604020202020204" pitchFamily="34" charset="0"/>
                <a:cs typeface="Arial" panose="020B0604020202020204" pitchFamily="34" charset="0"/>
              </a:rPr>
              <a:t> og varð </a:t>
            </a:r>
            <a:r>
              <a:rPr lang="is-IS" sz="1800" b="1">
                <a:latin typeface="Arial" panose="020B0604020202020204" pitchFamily="34" charset="0"/>
                <a:cs typeface="Arial" panose="020B0604020202020204" pitchFamily="34" charset="0"/>
              </a:rPr>
              <a:t>fyrsti konsúll </a:t>
            </a:r>
            <a:r>
              <a:rPr lang="is-IS" sz="1800">
                <a:latin typeface="Arial" panose="020B0604020202020204" pitchFamily="34" charset="0"/>
                <a:cs typeface="Arial" panose="020B0604020202020204" pitchFamily="34" charset="0"/>
              </a:rPr>
              <a:t>ríkisins og lét svo krýna sig keisara árið 1804. Frakkar höfðu verið í stríði við Breta og bandamenn í mörg ár; en nú leiddi Napóleon Frakka til hvers sigursins á fætur öðrum um alla Evrópu. Árið </a:t>
            </a:r>
            <a:r>
              <a:rPr lang="is-IS" sz="1800" b="1">
                <a:latin typeface="Arial" panose="020B0604020202020204" pitchFamily="34" charset="0"/>
                <a:cs typeface="Arial" panose="020B0604020202020204" pitchFamily="34" charset="0"/>
              </a:rPr>
              <a:t>1812</a:t>
            </a:r>
            <a:r>
              <a:rPr lang="is-IS" sz="1800">
                <a:latin typeface="Arial" panose="020B0604020202020204" pitchFamily="34" charset="0"/>
                <a:cs typeface="Arial" panose="020B0604020202020204" pitchFamily="34" charset="0"/>
              </a:rPr>
              <a:t> freistaði hann þess að leggja undir sig </a:t>
            </a:r>
            <a:r>
              <a:rPr lang="is-IS" sz="1800" b="1">
                <a:latin typeface="Arial" panose="020B0604020202020204" pitchFamily="34" charset="0"/>
                <a:cs typeface="Arial" panose="020B0604020202020204" pitchFamily="34" charset="0"/>
              </a:rPr>
              <a:t>Rússland</a:t>
            </a:r>
            <a:r>
              <a:rPr lang="is-IS" sz="1800">
                <a:latin typeface="Arial" panose="020B0604020202020204" pitchFamily="34" charset="0"/>
                <a:cs typeface="Arial" panose="020B0604020202020204" pitchFamily="34" charset="0"/>
              </a:rPr>
              <a:t>, en einn kaldasti vetur í manna minnum skall á og Napóelon þurfti í fyrsta sinn að játa sig sigaðan. Árið </a:t>
            </a:r>
            <a:r>
              <a:rPr lang="is-IS" sz="1800" b="1">
                <a:latin typeface="Arial" panose="020B0604020202020204" pitchFamily="34" charset="0"/>
                <a:cs typeface="Arial" panose="020B0604020202020204" pitchFamily="34" charset="0"/>
              </a:rPr>
              <a:t>1813</a:t>
            </a:r>
            <a:r>
              <a:rPr lang="is-IS" sz="1800">
                <a:latin typeface="Arial" panose="020B0604020202020204" pitchFamily="34" charset="0"/>
                <a:cs typeface="Arial" panose="020B0604020202020204" pitchFamily="34" charset="0"/>
              </a:rPr>
              <a:t> sigruðu sameinaðir herir Bandamenn heri Frakka við </a:t>
            </a:r>
            <a:r>
              <a:rPr lang="is-IS" sz="1800" b="1">
                <a:latin typeface="Arial" panose="020B0604020202020204" pitchFamily="34" charset="0"/>
                <a:cs typeface="Arial" panose="020B0604020202020204" pitchFamily="34" charset="0"/>
              </a:rPr>
              <a:t>Leipzig</a:t>
            </a:r>
            <a:r>
              <a:rPr lang="is-IS" sz="1800">
                <a:latin typeface="Arial" panose="020B0604020202020204" pitchFamily="34" charset="0"/>
                <a:cs typeface="Arial" panose="020B0604020202020204" pitchFamily="34" charset="0"/>
              </a:rPr>
              <a:t> og gerðu í kjölfarið innrás inn í Frakkland. Napóleon afsalaði sér keisaratigninni 1814, og fékk að gerast konungur á ítölsku smáeyjunni </a:t>
            </a:r>
            <a:r>
              <a:rPr lang="is-IS" sz="1800" b="1">
                <a:latin typeface="Arial" panose="020B0604020202020204" pitchFamily="34" charset="0"/>
                <a:cs typeface="Arial" panose="020B0604020202020204" pitchFamily="34" charset="0"/>
              </a:rPr>
              <a:t>Elbu</a:t>
            </a:r>
            <a:r>
              <a:rPr lang="is-IS" sz="1800">
                <a:latin typeface="Arial" panose="020B0604020202020204" pitchFamily="34" charset="0"/>
                <a:cs typeface="Arial" panose="020B0604020202020204" pitchFamily="34" charset="0"/>
              </a:rPr>
              <a:t> í Miðjarðarhafinu. Hann sneri hinsvegar aftur í 100 daga en var endanlega sigraður við </a:t>
            </a:r>
            <a:r>
              <a:rPr lang="is-IS" sz="1800" b="1">
                <a:latin typeface="Arial" panose="020B0604020202020204" pitchFamily="34" charset="0"/>
                <a:cs typeface="Arial" panose="020B0604020202020204" pitchFamily="34" charset="0"/>
              </a:rPr>
              <a:t>Waterloo</a:t>
            </a:r>
            <a:r>
              <a:rPr lang="is-IS" sz="1800">
                <a:latin typeface="Arial" panose="020B0604020202020204" pitchFamily="34" charset="0"/>
                <a:cs typeface="Arial" panose="020B0604020202020204" pitchFamily="34" charset="0"/>
              </a:rPr>
              <a:t> árið </a:t>
            </a:r>
            <a:r>
              <a:rPr lang="is-IS" sz="1800" b="1">
                <a:latin typeface="Arial" panose="020B0604020202020204" pitchFamily="34" charset="0"/>
                <a:cs typeface="Arial" panose="020B0604020202020204" pitchFamily="34" charset="0"/>
              </a:rPr>
              <a:t>1815</a:t>
            </a:r>
            <a:r>
              <a:rPr lang="is-IS" sz="1800">
                <a:latin typeface="Arial" panose="020B0604020202020204" pitchFamily="34" charset="0"/>
                <a:cs typeface="Arial" panose="020B0604020202020204" pitchFamily="34" charset="0"/>
              </a:rPr>
              <a:t>. Hann var handtekinn og vistaður á bresku eyjunni </a:t>
            </a:r>
            <a:r>
              <a:rPr lang="is-IS" sz="1800" b="1">
                <a:latin typeface="Arial" panose="020B0604020202020204" pitchFamily="34" charset="0"/>
                <a:cs typeface="Arial" panose="020B0604020202020204" pitchFamily="34" charset="0"/>
              </a:rPr>
              <a:t>Sankti Helenu </a:t>
            </a:r>
            <a:r>
              <a:rPr lang="is-IS" sz="1800">
                <a:latin typeface="Arial" panose="020B0604020202020204" pitchFamily="34" charset="0"/>
                <a:cs typeface="Arial" panose="020B0604020202020204" pitchFamily="34" charset="0"/>
              </a:rPr>
              <a:t>í Atlantshafi til dauðadags 1821. </a:t>
            </a:r>
          </a:p>
          <a:p>
            <a:pPr marL="0" indent="0">
              <a:buNone/>
            </a:pPr>
            <a:r>
              <a:rPr lang="is-IS" sz="1800">
                <a:latin typeface="Arial" panose="020B0604020202020204" pitchFamily="34" charset="0"/>
                <a:cs typeface="Arial" panose="020B0604020202020204" pitchFamily="34" charset="0"/>
              </a:rPr>
              <a:t>Napóleon gerði margar kerfisbreytingar í Frakklandi sem enn eru við lýði, endurbætti skólakerfið og samdi nýja lagabók, </a:t>
            </a:r>
            <a:r>
              <a:rPr lang="is-IS" sz="1800" b="1">
                <a:latin typeface="Arial" panose="020B0604020202020204" pitchFamily="34" charset="0"/>
                <a:cs typeface="Arial" panose="020B0604020202020204" pitchFamily="34" charset="0"/>
              </a:rPr>
              <a:t>Code Napoleon</a:t>
            </a:r>
            <a:r>
              <a:rPr lang="is-IS" sz="1800">
                <a:latin typeface="Arial" panose="020B0604020202020204" pitchFamily="34" charset="0"/>
                <a:cs typeface="Arial" panose="020B0604020202020204" pitchFamily="34" charset="0"/>
              </a:rPr>
              <a:t>.</a:t>
            </a:r>
          </a:p>
        </p:txBody>
      </p:sp>
      <p:pic>
        <p:nvPicPr>
          <p:cNvPr id="6146" name="Picture 2" descr="https://upload.wikimedia.org/wikipedia/commons/5/50/Jacques-Louis_David_-_The_Emperor_Napoleon_in_His_Study_at_the_Tuileries_-_Google_Art_Project.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72438" y="365125"/>
            <a:ext cx="3855439" cy="642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955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65125"/>
            <a:ext cx="10668000" cy="1346109"/>
          </a:xfrm>
        </p:spPr>
        <p:txBody>
          <a:bodyPr>
            <a:normAutofit/>
          </a:bodyPr>
          <a:lstStyle/>
          <a:p>
            <a:r>
              <a:rPr lang="is-IS">
                <a:latin typeface="Arial Black" panose="020B0A04020102020204" pitchFamily="34" charset="0"/>
              </a:rPr>
              <a:t>Ludwig van Beethoven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57310" y="1024676"/>
            <a:ext cx="3692254" cy="5395686"/>
          </a:xfrm>
        </p:spPr>
      </p:pic>
      <p:sp>
        <p:nvSpPr>
          <p:cNvPr id="5" name="TextBox 4"/>
          <p:cNvSpPr txBox="1"/>
          <p:nvPr/>
        </p:nvSpPr>
        <p:spPr>
          <a:xfrm>
            <a:off x="685800" y="1537853"/>
            <a:ext cx="7419109" cy="3970318"/>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Ludwig van Beethoven </a:t>
            </a:r>
            <a:r>
              <a:rPr lang="is-IS">
                <a:latin typeface="Arial" panose="020B0604020202020204" pitchFamily="34" charset="0"/>
                <a:cs typeface="Arial" panose="020B0604020202020204" pitchFamily="34" charset="0"/>
              </a:rPr>
              <a:t>(1770-1827) var þýskt tónskáld. Hann var fæddur í borginni </a:t>
            </a:r>
            <a:r>
              <a:rPr lang="is-IS" b="1">
                <a:latin typeface="Arial" panose="020B0604020202020204" pitchFamily="34" charset="0"/>
                <a:cs typeface="Arial" panose="020B0604020202020204" pitchFamily="34" charset="0"/>
              </a:rPr>
              <a:t>Bonn</a:t>
            </a:r>
            <a:r>
              <a:rPr lang="is-IS">
                <a:latin typeface="Arial" panose="020B0604020202020204" pitchFamily="34" charset="0"/>
                <a:cs typeface="Arial" panose="020B0604020202020204" pitchFamily="34" charset="0"/>
              </a:rPr>
              <a:t>. Tónlist Beethovens má skipta í tvö tímabil. Á því fyrra var tónlist hans mjög klassísk, þ.e. í anda Mozarts og Haydn en eftir 1800 – um það leyti sem hann fór að missa heyrnina – verður tónlist hans nýstárlegri. Beethoven var alinn upp af drykkfelldum ofbeldisfullum föður. Sjálfur var Beethoven mjög öruggur með eigin ágæti á síðari árum og þótti erfiður í umgegni. Hann flutti til </a:t>
            </a:r>
            <a:r>
              <a:rPr lang="is-IS" b="1">
                <a:latin typeface="Arial" panose="020B0604020202020204" pitchFamily="34" charset="0"/>
                <a:cs typeface="Arial" panose="020B0604020202020204" pitchFamily="34" charset="0"/>
              </a:rPr>
              <a:t>Vínarborgar</a:t>
            </a:r>
            <a:r>
              <a:rPr lang="is-IS">
                <a:latin typeface="Arial" panose="020B0604020202020204" pitchFamily="34" charset="0"/>
                <a:cs typeface="Arial" panose="020B0604020202020204" pitchFamily="34" charset="0"/>
              </a:rPr>
              <a:t> og bjó og starfaði upp frá því þar. Í Vín lærði hann um tíma hjá </a:t>
            </a:r>
            <a:r>
              <a:rPr lang="is-IS" b="1">
                <a:latin typeface="Arial" panose="020B0604020202020204" pitchFamily="34" charset="0"/>
                <a:cs typeface="Arial" panose="020B0604020202020204" pitchFamily="34" charset="0"/>
              </a:rPr>
              <a:t>Haydn</a:t>
            </a:r>
            <a:r>
              <a:rPr lang="is-IS">
                <a:latin typeface="Arial" panose="020B0604020202020204" pitchFamily="34" charset="0"/>
                <a:cs typeface="Arial" panose="020B0604020202020204" pitchFamily="34" charset="0"/>
              </a:rPr>
              <a:t>; en þeim kom illa saman. Hann sló í gegn sem tónlistarflytjandi, en í kringum 26 ára aldur fór að bera á vaxandi heyrnaleysi hans; sem m.a. orsakaðist af sífilis sem hann hafði erft. Árið 1818 varð hann endanlega </a:t>
            </a:r>
            <a:r>
              <a:rPr lang="is-IS" b="1">
                <a:latin typeface="Arial" panose="020B0604020202020204" pitchFamily="34" charset="0"/>
                <a:cs typeface="Arial" panose="020B0604020202020204" pitchFamily="34" charset="0"/>
              </a:rPr>
              <a:t>heyrnarlaus</a:t>
            </a:r>
            <a:r>
              <a:rPr lang="is-IS">
                <a:latin typeface="Arial" panose="020B0604020202020204" pitchFamily="34" charset="0"/>
                <a:cs typeface="Arial" panose="020B0604020202020204" pitchFamily="34" charset="0"/>
              </a:rPr>
              <a:t>. Hann samdi fá verk eftir það, en frægast hefur orðið níunda, og síðasta, sinfónía hans sem inniheldur hinn þekkta kafla </a:t>
            </a:r>
            <a:r>
              <a:rPr lang="is-IS" b="1">
                <a:latin typeface="Arial" panose="020B0604020202020204" pitchFamily="34" charset="0"/>
                <a:cs typeface="Arial" panose="020B0604020202020204" pitchFamily="34" charset="0"/>
              </a:rPr>
              <a:t>Óð til gleðinnar</a:t>
            </a:r>
            <a:r>
              <a:rPr lang="is-I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660638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Garibaldi</a:t>
            </a:r>
          </a:p>
        </p:txBody>
      </p:sp>
      <p:sp>
        <p:nvSpPr>
          <p:cNvPr id="3" name="Content Placeholder 2"/>
          <p:cNvSpPr>
            <a:spLocks noGrp="1"/>
          </p:cNvSpPr>
          <p:nvPr>
            <p:ph idx="1"/>
          </p:nvPr>
        </p:nvSpPr>
        <p:spPr>
          <a:xfrm>
            <a:off x="838200" y="1825625"/>
            <a:ext cx="6544733" cy="4761442"/>
          </a:xfrm>
        </p:spPr>
        <p:txBody>
          <a:bodyPr>
            <a:normAutofit/>
          </a:bodyPr>
          <a:lstStyle/>
          <a:p>
            <a:pPr marL="0" indent="0">
              <a:buNone/>
            </a:pPr>
            <a:r>
              <a:rPr lang="is-IS" sz="1800" b="1">
                <a:latin typeface="Arial" panose="020B0604020202020204" pitchFamily="34" charset="0"/>
                <a:cs typeface="Arial" panose="020B0604020202020204" pitchFamily="34" charset="0"/>
              </a:rPr>
              <a:t>Giuseppe Garibaldi </a:t>
            </a:r>
            <a:r>
              <a:rPr lang="is-IS" sz="1800">
                <a:latin typeface="Arial" panose="020B0604020202020204" pitchFamily="34" charset="0"/>
                <a:cs typeface="Arial" panose="020B0604020202020204" pitchFamily="34" charset="0"/>
              </a:rPr>
              <a:t>(1807-1882) var </a:t>
            </a:r>
            <a:r>
              <a:rPr lang="is-IS" sz="1800" b="1">
                <a:latin typeface="Arial" panose="020B0604020202020204" pitchFamily="34" charset="0"/>
                <a:cs typeface="Arial" panose="020B0604020202020204" pitchFamily="34" charset="0"/>
              </a:rPr>
              <a:t>ítölsk</a:t>
            </a:r>
            <a:r>
              <a:rPr lang="is-IS" sz="1800">
                <a:latin typeface="Arial" panose="020B0604020202020204" pitchFamily="34" charset="0"/>
                <a:cs typeface="Arial" panose="020B0604020202020204" pitchFamily="34" charset="0"/>
              </a:rPr>
              <a:t> frelsishetja, sem tók þátt í uppreisn í </a:t>
            </a:r>
            <a:r>
              <a:rPr lang="is-IS" sz="1800" b="1">
                <a:latin typeface="Arial" panose="020B0604020202020204" pitchFamily="34" charset="0"/>
                <a:cs typeface="Arial" panose="020B0604020202020204" pitchFamily="34" charset="0"/>
              </a:rPr>
              <a:t>Sardiníuríki</a:t>
            </a:r>
            <a:r>
              <a:rPr lang="is-IS" sz="1800">
                <a:latin typeface="Arial" panose="020B0604020202020204" pitchFamily="34" charset="0"/>
                <a:cs typeface="Arial" panose="020B0604020202020204" pitchFamily="34" charset="0"/>
              </a:rPr>
              <a:t> 1834, var dæmdur til dauða fyrir sinn þátt en slapp til </a:t>
            </a:r>
            <a:r>
              <a:rPr lang="is-IS" sz="1800" b="1">
                <a:latin typeface="Arial" panose="020B0604020202020204" pitchFamily="34" charset="0"/>
                <a:cs typeface="Arial" panose="020B0604020202020204" pitchFamily="34" charset="0"/>
              </a:rPr>
              <a:t>Suður Ameríku</a:t>
            </a:r>
            <a:r>
              <a:rPr lang="is-IS" sz="1800">
                <a:latin typeface="Arial" panose="020B0604020202020204" pitchFamily="34" charset="0"/>
                <a:cs typeface="Arial" panose="020B0604020202020204" pitchFamily="34" charset="0"/>
              </a:rPr>
              <a:t>. Þar barðist hann í frelsisstríðum þarlendra. Hann gerðist leiðtogi sjálfboðaliðasveita sem börðust gegn yfirráðum </a:t>
            </a:r>
            <a:r>
              <a:rPr lang="is-IS" sz="1800" b="1">
                <a:latin typeface="Arial" panose="020B0604020202020204" pitchFamily="34" charset="0"/>
                <a:cs typeface="Arial" panose="020B0604020202020204" pitchFamily="34" charset="0"/>
              </a:rPr>
              <a:t>Austurríkismanna</a:t>
            </a:r>
            <a:r>
              <a:rPr lang="is-IS" sz="1800">
                <a:latin typeface="Arial" panose="020B0604020202020204" pitchFamily="34" charset="0"/>
                <a:cs typeface="Arial" panose="020B0604020202020204" pitchFamily="34" charset="0"/>
              </a:rPr>
              <a:t> á Ítalíuskaga 1848-1849 og aftur 1859. Sveitir hans, sem nefndust </a:t>
            </a:r>
            <a:r>
              <a:rPr lang="is-IS" sz="1800" b="1">
                <a:latin typeface="Arial" panose="020B0604020202020204" pitchFamily="34" charset="0"/>
                <a:cs typeface="Arial" panose="020B0604020202020204" pitchFamily="34" charset="0"/>
              </a:rPr>
              <a:t>Rauðstakkarnir</a:t>
            </a:r>
            <a:r>
              <a:rPr lang="is-IS" sz="1800">
                <a:latin typeface="Arial" panose="020B0604020202020204" pitchFamily="34" charset="0"/>
                <a:cs typeface="Arial" panose="020B0604020202020204" pitchFamily="34" charset="0"/>
              </a:rPr>
              <a:t>, hernámu 1860 </a:t>
            </a:r>
            <a:r>
              <a:rPr lang="is-IS" sz="1800" b="1">
                <a:latin typeface="Arial" panose="020B0604020202020204" pitchFamily="34" charset="0"/>
                <a:cs typeface="Arial" panose="020B0604020202020204" pitchFamily="34" charset="0"/>
              </a:rPr>
              <a:t>Sikiley</a:t>
            </a:r>
            <a:r>
              <a:rPr lang="is-IS" sz="1800">
                <a:latin typeface="Arial" panose="020B0604020202020204" pitchFamily="34" charset="0"/>
                <a:cs typeface="Arial" panose="020B0604020202020204" pitchFamily="34" charset="0"/>
              </a:rPr>
              <a:t> og meirihluta </a:t>
            </a:r>
            <a:r>
              <a:rPr lang="is-IS" sz="1800" b="1">
                <a:latin typeface="Arial" panose="020B0604020202020204" pitchFamily="34" charset="0"/>
                <a:cs typeface="Arial" panose="020B0604020202020204" pitchFamily="34" charset="0"/>
              </a:rPr>
              <a:t>Napólíríkis</a:t>
            </a:r>
            <a:r>
              <a:rPr lang="is-IS" sz="1800">
                <a:latin typeface="Arial" panose="020B0604020202020204" pitchFamily="34" charset="0"/>
                <a:cs typeface="Arial" panose="020B0604020202020204" pitchFamily="34" charset="0"/>
              </a:rPr>
              <a:t>. Þrátt fyrir að vera eindreginn lýðveldissinni féllst hann á að láta svæðin til </a:t>
            </a:r>
            <a:r>
              <a:rPr lang="is-IS" sz="1800" b="1">
                <a:latin typeface="Arial" panose="020B0604020202020204" pitchFamily="34" charset="0"/>
                <a:cs typeface="Arial" panose="020B0604020202020204" pitchFamily="34" charset="0"/>
              </a:rPr>
              <a:t>Viktor Emmanúels </a:t>
            </a:r>
            <a:r>
              <a:rPr lang="is-IS" sz="1800">
                <a:latin typeface="Arial" panose="020B0604020202020204" pitchFamily="34" charset="0"/>
                <a:cs typeface="Arial" panose="020B0604020202020204" pitchFamily="34" charset="0"/>
              </a:rPr>
              <a:t>II </a:t>
            </a:r>
            <a:r>
              <a:rPr lang="is-IS" sz="1800" b="1">
                <a:latin typeface="Arial" panose="020B0604020202020204" pitchFamily="34" charset="0"/>
                <a:cs typeface="Arial" panose="020B0604020202020204" pitchFamily="34" charset="0"/>
              </a:rPr>
              <a:t>Sardiníukonungs</a:t>
            </a:r>
            <a:r>
              <a:rPr lang="is-IS" sz="1800">
                <a:latin typeface="Arial" panose="020B0604020202020204" pitchFamily="34" charset="0"/>
                <a:cs typeface="Arial" panose="020B0604020202020204" pitchFamily="34" charset="0"/>
              </a:rPr>
              <a:t> (og forsætisráðherra hans </a:t>
            </a:r>
            <a:r>
              <a:rPr lang="is-IS" sz="1800" b="1">
                <a:latin typeface="Arial" panose="020B0604020202020204" pitchFamily="34" charset="0"/>
                <a:cs typeface="Arial" panose="020B0604020202020204" pitchFamily="34" charset="0"/>
              </a:rPr>
              <a:t>Cavour</a:t>
            </a:r>
            <a:r>
              <a:rPr lang="is-IS" sz="1800">
                <a:latin typeface="Arial" panose="020B0604020202020204" pitchFamily="34" charset="0"/>
                <a:cs typeface="Arial" panose="020B0604020202020204" pitchFamily="34" charset="0"/>
              </a:rPr>
              <a:t>) svo sameina mætti Ítalíu í eitt ríki. Hann reyndi tvívegis að hernema </a:t>
            </a:r>
            <a:r>
              <a:rPr lang="is-IS" sz="1800" b="1">
                <a:latin typeface="Arial" panose="020B0604020202020204" pitchFamily="34" charset="0"/>
                <a:cs typeface="Arial" panose="020B0604020202020204" pitchFamily="34" charset="0"/>
              </a:rPr>
              <a:t>Róm</a:t>
            </a:r>
            <a:r>
              <a:rPr lang="is-IS" sz="1800">
                <a:latin typeface="Arial" panose="020B0604020202020204" pitchFamily="34" charset="0"/>
                <a:cs typeface="Arial" panose="020B0604020202020204" pitchFamily="34" charset="0"/>
              </a:rPr>
              <a:t> til að komast yfir lönd </a:t>
            </a:r>
            <a:r>
              <a:rPr lang="is-IS" sz="1800" b="1">
                <a:latin typeface="Arial" panose="020B0604020202020204" pitchFamily="34" charset="0"/>
                <a:cs typeface="Arial" panose="020B0604020202020204" pitchFamily="34" charset="0"/>
              </a:rPr>
              <a:t>Kaþólsku</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kirkjunnar</a:t>
            </a:r>
            <a:r>
              <a:rPr lang="is-IS" sz="1800">
                <a:latin typeface="Arial" panose="020B0604020202020204" pitchFamily="34" charset="0"/>
                <a:cs typeface="Arial" panose="020B0604020202020204" pitchFamily="34" charset="0"/>
              </a:rPr>
              <a:t>, en var ofurliði borinn af Frökkum og hersveitum Páfa.</a:t>
            </a:r>
          </a:p>
          <a:p>
            <a:pPr marL="0" indent="0">
              <a:buNone/>
            </a:pPr>
            <a:r>
              <a:rPr lang="is-IS" sz="1800">
                <a:latin typeface="Arial" panose="020B0604020202020204" pitchFamily="34" charset="0"/>
                <a:cs typeface="Arial" panose="020B0604020202020204" pitchFamily="34" charset="0"/>
              </a:rPr>
              <a:t>Hann hefur verið nefndur </a:t>
            </a:r>
            <a:r>
              <a:rPr lang="is-IS" sz="1800" b="1">
                <a:latin typeface="Arial" panose="020B0604020202020204" pitchFamily="34" charset="0"/>
                <a:cs typeface="Arial" panose="020B0604020202020204" pitchFamily="34" charset="0"/>
              </a:rPr>
              <a:t>frelsishetja tveggja heima</a:t>
            </a:r>
            <a:r>
              <a:rPr lang="is-IS" sz="1800">
                <a:latin typeface="Arial" panose="020B0604020202020204" pitchFamily="34" charset="0"/>
                <a:cs typeface="Arial" panose="020B0604020202020204" pitchFamily="34" charset="0"/>
              </a:rPr>
              <a:t>, fyrir þáttöku sína í frelsisstríðum beggja megin Atlantsála. </a:t>
            </a:r>
            <a:r>
              <a:rPr lang="is-IS" sz="1800" b="1">
                <a:latin typeface="Arial" panose="020B0604020202020204" pitchFamily="34" charset="0"/>
                <a:cs typeface="Arial" panose="020B0604020202020204" pitchFamily="34" charset="0"/>
              </a:rPr>
              <a:t>Nottingham Forest </a:t>
            </a:r>
            <a:r>
              <a:rPr lang="is-IS" sz="1800">
                <a:latin typeface="Arial" panose="020B0604020202020204" pitchFamily="34" charset="0"/>
                <a:cs typeface="Arial" panose="020B0604020202020204" pitchFamily="34" charset="0"/>
              </a:rPr>
              <a:t>valdi rauðar treyjar til að heiðra rauðstakka Garibaldis.</a:t>
            </a:r>
          </a:p>
        </p:txBody>
      </p:sp>
      <p:pic>
        <p:nvPicPr>
          <p:cNvPr id="22530" name="Picture 2" descr="Giuseppe Garibaldi (186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7072" y="974461"/>
            <a:ext cx="4145137" cy="5341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4403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842" y="0"/>
            <a:ext cx="11032958" cy="1325563"/>
          </a:xfrm>
        </p:spPr>
        <p:txBody>
          <a:bodyPr>
            <a:normAutofit/>
          </a:bodyPr>
          <a:lstStyle/>
          <a:p>
            <a:r>
              <a:rPr lang="is-IS">
                <a:latin typeface="Arial Black" panose="020B0A04020102020204" pitchFamily="34" charset="0"/>
              </a:rPr>
              <a:t>Charles Darwin</a:t>
            </a:r>
          </a:p>
        </p:txBody>
      </p:sp>
      <p:sp>
        <p:nvSpPr>
          <p:cNvPr id="5" name="TextBox 4"/>
          <p:cNvSpPr txBox="1"/>
          <p:nvPr/>
        </p:nvSpPr>
        <p:spPr>
          <a:xfrm>
            <a:off x="320841" y="1044985"/>
            <a:ext cx="7730322" cy="535531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Charles Darwin </a:t>
            </a:r>
            <a:r>
              <a:rPr lang="is-IS">
                <a:latin typeface="Arial" panose="020B0604020202020204" pitchFamily="34" charset="0"/>
                <a:cs typeface="Arial" panose="020B0604020202020204" pitchFamily="34" charset="0"/>
              </a:rPr>
              <a:t>(1809-1882) var </a:t>
            </a:r>
            <a:r>
              <a:rPr lang="is-IS" b="1">
                <a:latin typeface="Arial" panose="020B0604020202020204" pitchFamily="34" charset="0"/>
                <a:cs typeface="Arial" panose="020B0604020202020204" pitchFamily="34" charset="0"/>
              </a:rPr>
              <a:t>enskur</a:t>
            </a:r>
            <a:r>
              <a:rPr lang="is-IS">
                <a:latin typeface="Arial" panose="020B0604020202020204" pitchFamily="34" charset="0"/>
                <a:cs typeface="Arial" panose="020B0604020202020204" pitchFamily="34" charset="0"/>
              </a:rPr>
              <a:t> náttúru- og jarðfræðingur. Árið </a:t>
            </a:r>
            <a:r>
              <a:rPr lang="is-IS" b="1">
                <a:latin typeface="Arial" panose="020B0604020202020204" pitchFamily="34" charset="0"/>
                <a:cs typeface="Arial" panose="020B0604020202020204" pitchFamily="34" charset="0"/>
              </a:rPr>
              <a:t>1859</a:t>
            </a:r>
            <a:r>
              <a:rPr lang="is-IS">
                <a:latin typeface="Arial" panose="020B0604020202020204" pitchFamily="34" charset="0"/>
                <a:cs typeface="Arial" panose="020B0604020202020204" pitchFamily="34" charset="0"/>
              </a:rPr>
              <a:t> gaf hann út ritið </a:t>
            </a:r>
            <a:r>
              <a:rPr lang="is-IS" b="1">
                <a:latin typeface="Arial" panose="020B0604020202020204" pitchFamily="34" charset="0"/>
                <a:cs typeface="Arial" panose="020B0604020202020204" pitchFamily="34" charset="0"/>
              </a:rPr>
              <a:t>Uppruni</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tegundanna</a:t>
            </a:r>
            <a:r>
              <a:rPr lang="is-IS">
                <a:latin typeface="Arial" panose="020B0604020202020204" pitchFamily="34" charset="0"/>
                <a:cs typeface="Arial" panose="020B0604020202020204" pitchFamily="34" charset="0"/>
              </a:rPr>
              <a:t> þar sem hann setti fram tvær áhrifamiklar kenningar. Sú fyrri var að allar tegundir á jörðunni hafi þróast af öðrum tegundum. Sú síðari snýr að úrvali náttúrunnar þ.e. að sterkari einstaklingar séu líklegri til að eiga afkvæmi og ryðji úr vegi veikari einstaklingum. Darwin hafði mótað hugmyndir sínar um 1840 en það var ekki fyrr en 1858 að hann ákvað að gefa út kenningar sínar. Það kom til að því að annar náttúrufræðingur, </a:t>
            </a:r>
            <a:r>
              <a:rPr lang="is-IS" b="1">
                <a:latin typeface="Arial" panose="020B0604020202020204" pitchFamily="34" charset="0"/>
                <a:cs typeface="Arial" panose="020B0604020202020204" pitchFamily="34" charset="0"/>
              </a:rPr>
              <a:t>Alfred</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Russel Wallace</a:t>
            </a:r>
            <a:r>
              <a:rPr lang="is-IS">
                <a:latin typeface="Arial" panose="020B0604020202020204" pitchFamily="34" charset="0"/>
                <a:cs typeface="Arial" panose="020B0604020202020204" pitchFamily="34" charset="0"/>
              </a:rPr>
              <a:t>, hafði komist að sömu niðurstöðu. Darwin og Wallace gáfu út kenningar sínar saman árið 1858 en ritið vakti lítla athygli ólíkt því þegar hann gaf einn út ritið Uppruna tegundanna; sem vakti mikla athygli. Kenningar Darwins voru mjög umdeildar á 19. öld sér í lagi þar sem þær fóru gegn frásögn </a:t>
            </a:r>
            <a:r>
              <a:rPr lang="is-IS" b="1">
                <a:latin typeface="Arial" panose="020B0604020202020204" pitchFamily="34" charset="0"/>
                <a:cs typeface="Arial" panose="020B0604020202020204" pitchFamily="34" charset="0"/>
              </a:rPr>
              <a:t>biblíunnar</a:t>
            </a:r>
            <a:r>
              <a:rPr lang="is-IS">
                <a:latin typeface="Arial" panose="020B0604020202020204" pitchFamily="34" charset="0"/>
                <a:cs typeface="Arial" panose="020B0604020202020204" pitchFamily="34" charset="0"/>
              </a:rPr>
              <a:t> af uppruna heimsins.</a:t>
            </a:r>
          </a:p>
          <a:p>
            <a:r>
              <a:rPr lang="is-IS">
                <a:latin typeface="Arial" panose="020B0604020202020204" pitchFamily="34" charset="0"/>
                <a:cs typeface="Arial" panose="020B0604020202020204" pitchFamily="34" charset="0"/>
              </a:rPr>
              <a:t>Darwin er stundum ranglega eignuð orðin: </a:t>
            </a:r>
            <a:r>
              <a:rPr lang="is-IS" i="1">
                <a:latin typeface="Arial" panose="020B0604020202020204" pitchFamily="34" charset="0"/>
                <a:cs typeface="Arial" panose="020B0604020202020204" pitchFamily="34" charset="0"/>
              </a:rPr>
              <a:t>Hinir hæfustu lifa af </a:t>
            </a:r>
            <a:r>
              <a:rPr lang="is-IS">
                <a:latin typeface="Arial" panose="020B0604020202020204" pitchFamily="34" charset="0"/>
                <a:cs typeface="Arial" panose="020B0604020202020204" pitchFamily="34" charset="0"/>
              </a:rPr>
              <a:t>(Survival of the fittest), en það var enskur heimspekingur, </a:t>
            </a:r>
            <a:r>
              <a:rPr lang="is-IS" b="1">
                <a:latin typeface="Arial" panose="020B0604020202020204" pitchFamily="34" charset="0"/>
                <a:cs typeface="Arial" panose="020B0604020202020204" pitchFamily="34" charset="0"/>
              </a:rPr>
              <a:t>Richard Spencer</a:t>
            </a:r>
            <a:r>
              <a:rPr lang="is-IS">
                <a:latin typeface="Arial" panose="020B0604020202020204" pitchFamily="34" charset="0"/>
                <a:cs typeface="Arial" panose="020B0604020202020204" pitchFamily="34" charset="0"/>
              </a:rPr>
              <a:t>, sem dró niðurstöður Darwins saman með þessum hætti. Kenningar Spencer voru stundum kallaðar </a:t>
            </a:r>
            <a:r>
              <a:rPr lang="is-IS" b="1">
                <a:latin typeface="Arial" panose="020B0604020202020204" pitchFamily="34" charset="0"/>
                <a:cs typeface="Arial" panose="020B0604020202020204" pitchFamily="34" charset="0"/>
              </a:rPr>
              <a:t>félagslegur darwinismi</a:t>
            </a:r>
            <a:r>
              <a:rPr lang="is-IS">
                <a:latin typeface="Arial" panose="020B0604020202020204" pitchFamily="34" charset="0"/>
                <a:cs typeface="Arial" panose="020B0604020202020204" pitchFamily="34" charset="0"/>
              </a:rPr>
              <a:t>.</a:t>
            </a:r>
          </a:p>
          <a:p>
            <a:endParaRPr lang="is-IS" b="1">
              <a:latin typeface="Arial" panose="020B0604020202020204" pitchFamily="34" charset="0"/>
              <a:cs typeface="Arial" panose="020B0604020202020204" pitchFamily="34" charset="0"/>
            </a:endParaRPr>
          </a:p>
          <a:p>
            <a:endParaRPr lang="is-IS">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63458" y="328612"/>
            <a:ext cx="3864111" cy="5081892"/>
          </a:xfrm>
        </p:spPr>
      </p:pic>
      <p:sp>
        <p:nvSpPr>
          <p:cNvPr id="3" name="Rectangle 2"/>
          <p:cNvSpPr/>
          <p:nvPr/>
        </p:nvSpPr>
        <p:spPr>
          <a:xfrm>
            <a:off x="320840" y="5791200"/>
            <a:ext cx="11706729" cy="923330"/>
          </a:xfrm>
          <a:prstGeom prst="rect">
            <a:avLst/>
          </a:prstGeom>
        </p:spPr>
        <p:txBody>
          <a:bodyPr wrap="square">
            <a:spAutoFit/>
          </a:bodyPr>
          <a:lstStyle/>
          <a:p>
            <a:r>
              <a:rPr lang="is-IS">
                <a:latin typeface="Arial" panose="020B0604020202020204" pitchFamily="34" charset="0"/>
                <a:cs typeface="Arial" panose="020B0604020202020204" pitchFamily="34" charset="0"/>
              </a:rPr>
              <a:t>Árið 1871 gaf Darwin út annað rit, </a:t>
            </a:r>
            <a:r>
              <a:rPr lang="is-IS" i="1">
                <a:latin typeface="Arial" panose="020B0604020202020204" pitchFamily="34" charset="0"/>
                <a:cs typeface="Arial" panose="020B0604020202020204" pitchFamily="34" charset="0"/>
              </a:rPr>
              <a:t>The Descent of man</a:t>
            </a:r>
            <a:r>
              <a:rPr lang="is-IS">
                <a:latin typeface="Arial" panose="020B0604020202020204" pitchFamily="34" charset="0"/>
                <a:cs typeface="Arial" panose="020B0604020202020204" pitchFamily="34" charset="0"/>
              </a:rPr>
              <a:t>, þar sem hann fjallaði nánar um þróun mannsins. Franski líffræðingurinn </a:t>
            </a:r>
            <a:r>
              <a:rPr lang="is-IS" b="1">
                <a:latin typeface="Arial" panose="020B0604020202020204" pitchFamily="34" charset="0"/>
                <a:cs typeface="Arial" panose="020B0604020202020204" pitchFamily="34" charset="0"/>
              </a:rPr>
              <a:t>Jean-Baptiste Lamarck </a:t>
            </a:r>
            <a:r>
              <a:rPr lang="is-IS">
                <a:latin typeface="Arial" panose="020B0604020202020204" pitchFamily="34" charset="0"/>
                <a:cs typeface="Arial" panose="020B0604020202020204" pitchFamily="34" charset="0"/>
              </a:rPr>
              <a:t>hafði sett fram svipaðar hugmyndir í byrjun 19. aldar; en með einfaldara móti, en Darwin.</a:t>
            </a:r>
          </a:p>
        </p:txBody>
      </p:sp>
    </p:spTree>
    <p:extLst>
      <p:ext uri="{BB962C8B-B14F-4D97-AF65-F5344CB8AC3E}">
        <p14:creationId xmlns:p14="http://schemas.microsoft.com/office/powerpoint/2010/main" val="346617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842" y="417095"/>
            <a:ext cx="11032958" cy="1273593"/>
          </a:xfrm>
        </p:spPr>
        <p:txBody>
          <a:bodyPr/>
          <a:lstStyle/>
          <a:p>
            <a:r>
              <a:rPr lang="is-IS">
                <a:latin typeface="Arial Black" panose="020B0A04020102020204" pitchFamily="34" charset="0"/>
              </a:rPr>
              <a:t>Otto von Bismarck</a:t>
            </a:r>
          </a:p>
        </p:txBody>
      </p:sp>
      <p:pic>
        <p:nvPicPr>
          <p:cNvPr id="9218" name="Picture 2" descr="Image result for otto von bismarck"/>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71424" y="929898"/>
            <a:ext cx="4118661" cy="57275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20842" y="1690688"/>
            <a:ext cx="6792880" cy="480131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Otto von Bismarck </a:t>
            </a:r>
            <a:r>
              <a:rPr lang="is-IS">
                <a:latin typeface="Arial" panose="020B0604020202020204" pitchFamily="34" charset="0"/>
                <a:cs typeface="Arial" panose="020B0604020202020204" pitchFamily="34" charset="0"/>
              </a:rPr>
              <a:t>(1815-1898) var </a:t>
            </a:r>
            <a:r>
              <a:rPr lang="is-IS" b="1">
                <a:latin typeface="Arial" panose="020B0604020202020204" pitchFamily="34" charset="0"/>
                <a:cs typeface="Arial" panose="020B0604020202020204" pitchFamily="34" charset="0"/>
              </a:rPr>
              <a:t>þýskur</a:t>
            </a:r>
            <a:r>
              <a:rPr lang="is-IS">
                <a:latin typeface="Arial" panose="020B0604020202020204" pitchFamily="34" charset="0"/>
                <a:cs typeface="Arial" panose="020B0604020202020204" pitchFamily="34" charset="0"/>
              </a:rPr>
              <a:t> stjórnmálamaður og kanslari Þýskalands frá 1871-1890. Hann tilheyrði stétt </a:t>
            </a:r>
            <a:r>
              <a:rPr lang="is-IS" b="1">
                <a:latin typeface="Arial" panose="020B0604020202020204" pitchFamily="34" charset="0"/>
                <a:cs typeface="Arial" panose="020B0604020202020204" pitchFamily="34" charset="0"/>
              </a:rPr>
              <a:t>júnkara</a:t>
            </a:r>
            <a:r>
              <a:rPr lang="is-IS">
                <a:latin typeface="Arial" panose="020B0604020202020204" pitchFamily="34" charset="0"/>
                <a:cs typeface="Arial" panose="020B0604020202020204" pitchFamily="34" charset="0"/>
              </a:rPr>
              <a:t>, sem voru landeigendaaðall í Prússlandi. Hann átti stóran þátt í </a:t>
            </a:r>
            <a:r>
              <a:rPr lang="is-IS" b="1">
                <a:latin typeface="Arial" panose="020B0604020202020204" pitchFamily="34" charset="0"/>
                <a:cs typeface="Arial" panose="020B0604020202020204" pitchFamily="34" charset="0"/>
              </a:rPr>
              <a:t>sameiningu</a:t>
            </a:r>
            <a:r>
              <a:rPr lang="is-IS">
                <a:latin typeface="Arial" panose="020B0604020202020204" pitchFamily="34" charset="0"/>
                <a:cs typeface="Arial" panose="020B0604020202020204" pitchFamily="34" charset="0"/>
              </a:rPr>
              <a:t> þýsku smáríkjanna í eitt ríki, Þýskaland, árið 1871. Hann var upphaflega forsætisráðherra </a:t>
            </a:r>
            <a:r>
              <a:rPr lang="is-IS" b="1">
                <a:latin typeface="Arial" panose="020B0604020202020204" pitchFamily="34" charset="0"/>
                <a:cs typeface="Arial" panose="020B0604020202020204" pitchFamily="34" charset="0"/>
              </a:rPr>
              <a:t>Prússlands</a:t>
            </a:r>
            <a:r>
              <a:rPr lang="is-IS">
                <a:latin typeface="Arial" panose="020B0604020202020204" pitchFamily="34" charset="0"/>
                <a:cs typeface="Arial" panose="020B0604020202020204" pitchFamily="34" charset="0"/>
              </a:rPr>
              <a:t>. Hann ýtti nágranna ríkjum út í stríð til að styrkja stöðu Prússlands, m.a. stríð gegn Danmörku; Austurríki og Frakklandi 1871. Í því síðasta var Þýskaland stofnað í frönsku höllinni </a:t>
            </a:r>
            <a:r>
              <a:rPr lang="is-IS" b="1">
                <a:latin typeface="Arial" panose="020B0604020202020204" pitchFamily="34" charset="0"/>
                <a:cs typeface="Arial" panose="020B0604020202020204" pitchFamily="34" charset="0"/>
              </a:rPr>
              <a:t>Versalahöllinni</a:t>
            </a:r>
            <a:r>
              <a:rPr lang="is-IS">
                <a:latin typeface="Arial" panose="020B0604020202020204" pitchFamily="34" charset="0"/>
                <a:cs typeface="Arial" panose="020B0604020202020204" pitchFamily="34" charset="0"/>
              </a:rPr>
              <a:t>, og Vilhjálmur konungur Prússlands varð fyrsti keisari Þýskalands.</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Stjórnmálastefna Bismarcks, sem hefur verið kölluð </a:t>
            </a:r>
            <a:r>
              <a:rPr lang="is-IS" b="1">
                <a:latin typeface="Arial" panose="020B0604020202020204" pitchFamily="34" charset="0"/>
                <a:cs typeface="Arial" panose="020B0604020202020204" pitchFamily="34" charset="0"/>
              </a:rPr>
              <a:t>Realpolitik</a:t>
            </a:r>
            <a:r>
              <a:rPr lang="is-IS">
                <a:latin typeface="Arial" panose="020B0604020202020204" pitchFamily="34" charset="0"/>
                <a:cs typeface="Arial" panose="020B0604020202020204" pitchFamily="34" charset="0"/>
              </a:rPr>
              <a:t>, gekk út á að tilgangurinn helgaði meðalið. Heima fyrir kom hann á fót </a:t>
            </a:r>
            <a:r>
              <a:rPr lang="is-IS" b="1">
                <a:latin typeface="Arial" panose="020B0604020202020204" pitchFamily="34" charset="0"/>
                <a:cs typeface="Arial" panose="020B0604020202020204" pitchFamily="34" charset="0"/>
              </a:rPr>
              <a:t>velferðarkerfinu</a:t>
            </a:r>
            <a:r>
              <a:rPr lang="is-IS">
                <a:latin typeface="Arial" panose="020B0604020202020204" pitchFamily="34" charset="0"/>
                <a:cs typeface="Arial" panose="020B0604020202020204" pitchFamily="34" charset="0"/>
              </a:rPr>
              <a:t>, því elsta í heiminum; einkum til að vinna stuðning verkamanna. Eftir að </a:t>
            </a:r>
            <a:r>
              <a:rPr lang="is-IS" b="1">
                <a:latin typeface="Arial" panose="020B0604020202020204" pitchFamily="34" charset="0"/>
                <a:cs typeface="Arial" panose="020B0604020202020204" pitchFamily="34" charset="0"/>
              </a:rPr>
              <a:t>Vilhjálmur II </a:t>
            </a:r>
            <a:r>
              <a:rPr lang="is-IS">
                <a:latin typeface="Arial" panose="020B0604020202020204" pitchFamily="34" charset="0"/>
                <a:cs typeface="Arial" panose="020B0604020202020204" pitchFamily="34" charset="0"/>
              </a:rPr>
              <a:t>kom til valda, var Bismarck bolað frá embætti. Fylkishöfuðborg </a:t>
            </a:r>
            <a:r>
              <a:rPr lang="is-IS" b="1">
                <a:latin typeface="Arial" panose="020B0604020202020204" pitchFamily="34" charset="0"/>
                <a:cs typeface="Arial" panose="020B0604020202020204" pitchFamily="34" charset="0"/>
              </a:rPr>
              <a:t>N-Dakota</a:t>
            </a:r>
            <a:r>
              <a:rPr lang="is-IS">
                <a:latin typeface="Arial" panose="020B0604020202020204" pitchFamily="34" charset="0"/>
                <a:cs typeface="Arial" panose="020B0604020202020204" pitchFamily="34" charset="0"/>
              </a:rPr>
              <a:t> er kennd við hann.</a:t>
            </a:r>
          </a:p>
        </p:txBody>
      </p:sp>
    </p:spTree>
    <p:extLst>
      <p:ext uri="{BB962C8B-B14F-4D97-AF65-F5344CB8AC3E}">
        <p14:creationId xmlns:p14="http://schemas.microsoft.com/office/powerpoint/2010/main" val="413960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a:latin typeface="Arial Black" panose="020B0A04020102020204" pitchFamily="34" charset="0"/>
              </a:rPr>
              <a:t>James Maxwell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36498" y="1197033"/>
            <a:ext cx="3717302" cy="4477284"/>
          </a:xfrm>
        </p:spPr>
      </p:pic>
      <p:sp>
        <p:nvSpPr>
          <p:cNvPr id="5" name="TextBox 4"/>
          <p:cNvSpPr txBox="1"/>
          <p:nvPr/>
        </p:nvSpPr>
        <p:spPr>
          <a:xfrm>
            <a:off x="838200" y="1690688"/>
            <a:ext cx="6144491" cy="4801314"/>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James Maxwell </a:t>
            </a:r>
            <a:r>
              <a:rPr lang="is-IS">
                <a:latin typeface="Arial" panose="020B0604020202020204" pitchFamily="34" charset="0"/>
                <a:cs typeface="Arial" panose="020B0604020202020204" pitchFamily="34" charset="0"/>
              </a:rPr>
              <a:t>(1831-1879) var </a:t>
            </a:r>
            <a:r>
              <a:rPr lang="is-IS" b="1">
                <a:latin typeface="Arial" panose="020B0604020202020204" pitchFamily="34" charset="0"/>
                <a:cs typeface="Arial" panose="020B0604020202020204" pitchFamily="34" charset="0"/>
              </a:rPr>
              <a:t>skoskur</a:t>
            </a:r>
            <a:r>
              <a:rPr lang="is-IS">
                <a:latin typeface="Arial" panose="020B0604020202020204" pitchFamily="34" charset="0"/>
                <a:cs typeface="Arial" panose="020B0604020202020204" pitchFamily="34" charset="0"/>
              </a:rPr>
              <a:t> eðlisfræðingur. Um aldamótin 1800 höfðu fræðimenn rannsakað rafmagn og komist að margs konar nýjum eiginleikum þess. James Maxwell blandaði saman rafmagni og segulmagni og fékk út ljós, þ.e. um 1860 setti Maxwell fram </a:t>
            </a:r>
            <a:r>
              <a:rPr lang="is-IS" b="1">
                <a:latin typeface="Arial" panose="020B0604020202020204" pitchFamily="34" charset="0"/>
                <a:cs typeface="Arial" panose="020B0604020202020204" pitchFamily="34" charset="0"/>
              </a:rPr>
              <a:t>fjórar</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stærðfræðijöfnur</a:t>
            </a:r>
            <a:r>
              <a:rPr lang="is-IS">
                <a:latin typeface="Arial" panose="020B0604020202020204" pitchFamily="34" charset="0"/>
                <a:cs typeface="Arial" panose="020B0604020202020204" pitchFamily="34" charset="0"/>
              </a:rPr>
              <a:t> sem lýsa segulkrafti og rafkrafti og sviðum þeirra. Maxwell sýndi m.a. fram á að </a:t>
            </a:r>
            <a:r>
              <a:rPr lang="is-IS" b="1">
                <a:latin typeface="Arial" panose="020B0604020202020204" pitchFamily="34" charset="0"/>
                <a:cs typeface="Arial" panose="020B0604020202020204" pitchFamily="34" charset="0"/>
              </a:rPr>
              <a:t>ljós</a:t>
            </a:r>
            <a:r>
              <a:rPr lang="is-IS">
                <a:latin typeface="Arial" panose="020B0604020202020204" pitchFamily="34" charset="0"/>
                <a:cs typeface="Arial" panose="020B0604020202020204" pitchFamily="34" charset="0"/>
              </a:rPr>
              <a:t> væri </a:t>
            </a:r>
            <a:r>
              <a:rPr lang="is-IS" b="1">
                <a:latin typeface="Arial" panose="020B0604020202020204" pitchFamily="34" charset="0"/>
                <a:cs typeface="Arial" panose="020B0604020202020204" pitchFamily="34" charset="0"/>
              </a:rPr>
              <a:t>rafsegulbylgjur</a:t>
            </a:r>
            <a:r>
              <a:rPr lang="is-IS">
                <a:latin typeface="Arial" panose="020B0604020202020204" pitchFamily="34" charset="0"/>
                <a:cs typeface="Arial" panose="020B0604020202020204" pitchFamily="34" charset="0"/>
              </a:rPr>
              <a:t>, þ.e. Raf- og segulsvið ferðast um rúmið í formi bylgna á föstum hraða ljóssins. </a:t>
            </a:r>
            <a:r>
              <a:rPr lang="is-IS" b="1">
                <a:latin typeface="Arial" panose="020B0604020202020204" pitchFamily="34" charset="0"/>
                <a:cs typeface="Arial" panose="020B0604020202020204" pitchFamily="34" charset="0"/>
              </a:rPr>
              <a:t>Henrich Hertz </a:t>
            </a:r>
            <a:r>
              <a:rPr lang="is-IS">
                <a:latin typeface="Arial" panose="020B0604020202020204" pitchFamily="34" charset="0"/>
                <a:cs typeface="Arial" panose="020B0604020202020204" pitchFamily="34" charset="0"/>
              </a:rPr>
              <a:t>tókst síðar að sanna kenningu Maxwells.</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Kenningar Maxwell standa enn óhaggaðar í nútíma eðlisfræði og er Maxwell stundum talinn merkasti vísindamaður 19. aldar fyrir vikið. Hann tók einnig fyrstu </a:t>
            </a:r>
            <a:r>
              <a:rPr lang="is-IS" b="1">
                <a:latin typeface="Arial" panose="020B0604020202020204" pitchFamily="34" charset="0"/>
                <a:cs typeface="Arial" panose="020B0604020202020204" pitchFamily="34" charset="0"/>
              </a:rPr>
              <a:t>litljósmyndina</a:t>
            </a:r>
            <a:r>
              <a:rPr lang="is-IS">
                <a:latin typeface="Arial" panose="020B0604020202020204" pitchFamily="34" charset="0"/>
                <a:cs typeface="Arial" panose="020B0604020202020204" pitchFamily="34" charset="0"/>
              </a:rPr>
              <a:t> árið 1861.</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Maxwell notaði íslenskt </a:t>
            </a:r>
            <a:r>
              <a:rPr lang="is-IS" b="1">
                <a:latin typeface="Arial" panose="020B0604020202020204" pitchFamily="34" charset="0"/>
                <a:cs typeface="Arial" panose="020B0604020202020204" pitchFamily="34" charset="0"/>
              </a:rPr>
              <a:t>silfurberg</a:t>
            </a:r>
            <a:r>
              <a:rPr lang="is-IS">
                <a:latin typeface="Arial" panose="020B0604020202020204" pitchFamily="34" charset="0"/>
                <a:cs typeface="Arial" panose="020B0604020202020204" pitchFamily="34" charset="0"/>
              </a:rPr>
              <a:t> við rannsóknir sínar.</a:t>
            </a:r>
          </a:p>
        </p:txBody>
      </p:sp>
    </p:spTree>
    <p:extLst>
      <p:ext uri="{BB962C8B-B14F-4D97-AF65-F5344CB8AC3E}">
        <p14:creationId xmlns:p14="http://schemas.microsoft.com/office/powerpoint/2010/main" val="1283907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Marie Curie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944889" y="1027906"/>
            <a:ext cx="3890356" cy="5154722"/>
          </a:xfrm>
        </p:spPr>
      </p:pic>
      <p:sp>
        <p:nvSpPr>
          <p:cNvPr id="5" name="TextBox 4"/>
          <p:cNvSpPr txBox="1"/>
          <p:nvPr/>
        </p:nvSpPr>
        <p:spPr>
          <a:xfrm>
            <a:off x="838200" y="1543556"/>
            <a:ext cx="6477000" cy="3970318"/>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Marie Sklodowska-Curie </a:t>
            </a:r>
            <a:r>
              <a:rPr lang="is-IS">
                <a:latin typeface="Arial" panose="020B0604020202020204" pitchFamily="34" charset="0"/>
                <a:cs typeface="Arial" panose="020B0604020202020204" pitchFamily="34" charset="0"/>
              </a:rPr>
              <a:t>(1867-1934) var </a:t>
            </a:r>
            <a:r>
              <a:rPr lang="is-IS" b="1">
                <a:latin typeface="Arial" panose="020B0604020202020204" pitchFamily="34" charset="0"/>
                <a:cs typeface="Arial" panose="020B0604020202020204" pitchFamily="34" charset="0"/>
              </a:rPr>
              <a:t>pólskur</a:t>
            </a:r>
            <a:r>
              <a:rPr lang="is-IS">
                <a:latin typeface="Arial" panose="020B0604020202020204" pitchFamily="34" charset="0"/>
                <a:cs typeface="Arial" panose="020B0604020202020204" pitchFamily="34" charset="0"/>
              </a:rPr>
              <a:t> (og seinna franskur) eðlis- og efnafræðingur. Hún var í fararbroddi á rannsóknum á </a:t>
            </a:r>
            <a:r>
              <a:rPr lang="is-IS" b="1">
                <a:latin typeface="Arial" panose="020B0604020202020204" pitchFamily="34" charset="0"/>
                <a:cs typeface="Arial" panose="020B0604020202020204" pitchFamily="34" charset="0"/>
              </a:rPr>
              <a:t>geislavirkni</a:t>
            </a:r>
            <a:r>
              <a:rPr lang="is-IS">
                <a:latin typeface="Arial" panose="020B0604020202020204" pitchFamily="34" charset="0"/>
                <a:cs typeface="Arial" panose="020B0604020202020204" pitchFamily="34" charset="0"/>
              </a:rPr>
              <a:t> (hugtak sem hún bjó til) í kringum aldamótin 1900. Hún var fysta </a:t>
            </a:r>
            <a:r>
              <a:rPr lang="is-IS" b="1">
                <a:latin typeface="Arial" panose="020B0604020202020204" pitchFamily="34" charset="0"/>
                <a:cs typeface="Arial" panose="020B0604020202020204" pitchFamily="34" charset="0"/>
              </a:rPr>
              <a:t>konan</a:t>
            </a:r>
            <a:r>
              <a:rPr lang="is-IS">
                <a:latin typeface="Arial" panose="020B0604020202020204" pitchFamily="34" charset="0"/>
                <a:cs typeface="Arial" panose="020B0604020202020204" pitchFamily="34" charset="0"/>
              </a:rPr>
              <a:t> til að vinna </a:t>
            </a:r>
            <a:r>
              <a:rPr lang="is-IS" b="1">
                <a:latin typeface="Arial" panose="020B0604020202020204" pitchFamily="34" charset="0"/>
                <a:cs typeface="Arial" panose="020B0604020202020204" pitchFamily="34" charset="0"/>
              </a:rPr>
              <a:t>nóbelsverðlaun</a:t>
            </a:r>
            <a:r>
              <a:rPr lang="is-IS">
                <a:latin typeface="Arial" panose="020B0604020202020204" pitchFamily="34" charset="0"/>
                <a:cs typeface="Arial" panose="020B0604020202020204" pitchFamily="34" charset="0"/>
              </a:rPr>
              <a:t> og jafnframt fyrst til að vinna </a:t>
            </a:r>
            <a:r>
              <a:rPr lang="is-IS" b="1">
                <a:latin typeface="Arial" panose="020B0604020202020204" pitchFamily="34" charset="0"/>
                <a:cs typeface="Arial" panose="020B0604020202020204" pitchFamily="34" charset="0"/>
              </a:rPr>
              <a:t>tvenn nóbelsverðlaun</a:t>
            </a:r>
            <a:r>
              <a:rPr lang="is-IS">
                <a:latin typeface="Arial" panose="020B0604020202020204" pitchFamily="34" charset="0"/>
                <a:cs typeface="Arial" panose="020B0604020202020204" pitchFamily="34" charset="0"/>
              </a:rPr>
              <a:t>, fyrst fyrir </a:t>
            </a:r>
            <a:r>
              <a:rPr lang="is-IS" b="1">
                <a:latin typeface="Arial" panose="020B0604020202020204" pitchFamily="34" charset="0"/>
                <a:cs typeface="Arial" panose="020B0604020202020204" pitchFamily="34" charset="0"/>
              </a:rPr>
              <a:t>eðlisfræði 1903 </a:t>
            </a:r>
            <a:r>
              <a:rPr lang="is-IS">
                <a:latin typeface="Arial" panose="020B0604020202020204" pitchFamily="34" charset="0"/>
                <a:cs typeface="Arial" panose="020B0604020202020204" pitchFamily="34" charset="0"/>
              </a:rPr>
              <a:t>og seinna fyrir  </a:t>
            </a:r>
            <a:r>
              <a:rPr lang="is-IS" b="1">
                <a:latin typeface="Arial" panose="020B0604020202020204" pitchFamily="34" charset="0"/>
                <a:cs typeface="Arial" panose="020B0604020202020204" pitchFamily="34" charset="0"/>
              </a:rPr>
              <a:t>efnafræði 1911</a:t>
            </a:r>
            <a:r>
              <a:rPr lang="is-IS">
                <a:latin typeface="Arial" panose="020B0604020202020204" pitchFamily="34" charset="0"/>
                <a:cs typeface="Arial" panose="020B0604020202020204" pitchFamily="34" charset="0"/>
              </a:rPr>
              <a:t>. Hún var fædd í Póllandi en bjó lengst af í Frakklandi, þar kynntist hún eiginmanni sínu </a:t>
            </a:r>
            <a:r>
              <a:rPr lang="is-IS" b="1">
                <a:latin typeface="Arial" panose="020B0604020202020204" pitchFamily="34" charset="0"/>
                <a:cs typeface="Arial" panose="020B0604020202020204" pitchFamily="34" charset="0"/>
              </a:rPr>
              <a:t>Pierre Curie </a:t>
            </a:r>
            <a:r>
              <a:rPr lang="is-IS">
                <a:latin typeface="Arial" panose="020B0604020202020204" pitchFamily="34" charset="0"/>
                <a:cs typeface="Arial" panose="020B0604020202020204" pitchFamily="34" charset="0"/>
              </a:rPr>
              <a:t>sem var jafnframt eðlisfræðingur og dóttir þeirra hjóna var það einnig; og vann einnig nóbelsverðlaun. Árið 1898 uppgötvuðu Curie hjónin tvö önnur geislavirk frumefni, </a:t>
            </a:r>
            <a:r>
              <a:rPr lang="is-IS" b="1">
                <a:latin typeface="Arial" panose="020B0604020202020204" pitchFamily="34" charset="0"/>
                <a:cs typeface="Arial" panose="020B0604020202020204" pitchFamily="34" charset="0"/>
              </a:rPr>
              <a:t>Póliníum</a:t>
            </a:r>
            <a:r>
              <a:rPr lang="is-IS">
                <a:latin typeface="Arial" panose="020B0604020202020204" pitchFamily="34" charset="0"/>
                <a:cs typeface="Arial" panose="020B0604020202020204" pitchFamily="34" charset="0"/>
              </a:rPr>
              <a:t> (sem Curie nefndi eftir fæðingalandi sínu Póllandi) og hið mjög virka </a:t>
            </a:r>
            <a:r>
              <a:rPr lang="is-IS" b="1">
                <a:latin typeface="Arial" panose="020B0604020202020204" pitchFamily="34" charset="0"/>
                <a:cs typeface="Arial" panose="020B0604020202020204" pitchFamily="34" charset="0"/>
              </a:rPr>
              <a:t>Radíum</a:t>
            </a:r>
            <a:r>
              <a:rPr lang="is-IS">
                <a:latin typeface="Arial" panose="020B0604020202020204" pitchFamily="34" charset="0"/>
                <a:cs typeface="Arial" panose="020B0604020202020204" pitchFamily="34" charset="0"/>
              </a:rPr>
              <a:t>. Hún dó arið 1934 m.a. af völdum þess mikla magns geislunar sem hún hafði orðið fyrir um daganna.</a:t>
            </a:r>
          </a:p>
        </p:txBody>
      </p:sp>
    </p:spTree>
    <p:extLst>
      <p:ext uri="{BB962C8B-B14F-4D97-AF65-F5344CB8AC3E}">
        <p14:creationId xmlns:p14="http://schemas.microsoft.com/office/powerpoint/2010/main" val="275788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945" y="28049"/>
            <a:ext cx="10515600" cy="1325563"/>
          </a:xfrm>
        </p:spPr>
        <p:txBody>
          <a:bodyPr>
            <a:normAutofit/>
          </a:bodyPr>
          <a:lstStyle/>
          <a:p>
            <a:r>
              <a:rPr lang="is-IS">
                <a:latin typeface="Arial Black" panose="020B0A04020102020204" pitchFamily="34" charset="0"/>
              </a:rPr>
              <a:t>Mohandas Gandhi</a:t>
            </a:r>
          </a:p>
        </p:txBody>
      </p:sp>
      <p:sp>
        <p:nvSpPr>
          <p:cNvPr id="3" name="Content Placeholder 2"/>
          <p:cNvSpPr>
            <a:spLocks noGrp="1"/>
          </p:cNvSpPr>
          <p:nvPr>
            <p:ph idx="1"/>
          </p:nvPr>
        </p:nvSpPr>
        <p:spPr>
          <a:xfrm>
            <a:off x="568036" y="1094508"/>
            <a:ext cx="7342909" cy="6165273"/>
          </a:xfrm>
        </p:spPr>
        <p:txBody>
          <a:bodyPr>
            <a:normAutofit/>
          </a:bodyPr>
          <a:lstStyle/>
          <a:p>
            <a:pPr marL="0" indent="0">
              <a:buNone/>
            </a:pPr>
            <a:r>
              <a:rPr lang="is-IS" sz="1800" b="1">
                <a:latin typeface="Arial" panose="020B0604020202020204" pitchFamily="34" charset="0"/>
                <a:cs typeface="Arial" panose="020B0604020202020204" pitchFamily="34" charset="0"/>
              </a:rPr>
              <a:t>Mohandas Gandhi </a:t>
            </a:r>
            <a:r>
              <a:rPr lang="is-IS" sz="1800">
                <a:latin typeface="Arial" panose="020B0604020202020204" pitchFamily="34" charset="0"/>
                <a:cs typeface="Arial" panose="020B0604020202020204" pitchFamily="34" charset="0"/>
              </a:rPr>
              <a:t>(1869-1948) var </a:t>
            </a:r>
            <a:r>
              <a:rPr lang="is-IS" sz="1800" b="1">
                <a:latin typeface="Arial" panose="020B0604020202020204" pitchFamily="34" charset="0"/>
                <a:cs typeface="Arial" panose="020B0604020202020204" pitchFamily="34" charset="0"/>
              </a:rPr>
              <a:t>indverskur</a:t>
            </a:r>
            <a:r>
              <a:rPr lang="is-IS" sz="1800">
                <a:latin typeface="Arial" panose="020B0604020202020204" pitchFamily="34" charset="0"/>
                <a:cs typeface="Arial" panose="020B0604020202020204" pitchFamily="34" charset="0"/>
              </a:rPr>
              <a:t> lögfræðingur sem barðist friðsamlega fyrir sjálfstæði Indlands á 20. öld. Hann hlaut viðurnefnið </a:t>
            </a:r>
            <a:r>
              <a:rPr lang="is-IS" sz="1800" b="1">
                <a:latin typeface="Arial" panose="020B0604020202020204" pitchFamily="34" charset="0"/>
                <a:cs typeface="Arial" panose="020B0604020202020204" pitchFamily="34" charset="0"/>
              </a:rPr>
              <a:t>Mahatma</a:t>
            </a:r>
            <a:r>
              <a:rPr lang="is-IS" sz="1800">
                <a:latin typeface="Arial" panose="020B0604020202020204" pitchFamily="34" charset="0"/>
                <a:cs typeface="Arial" panose="020B0604020202020204" pitchFamily="34" charset="0"/>
              </a:rPr>
              <a:t>, sem merkir </a:t>
            </a:r>
            <a:r>
              <a:rPr lang="is-IS" sz="1800" i="1">
                <a:latin typeface="Arial" panose="020B0604020202020204" pitchFamily="34" charset="0"/>
                <a:cs typeface="Arial" panose="020B0604020202020204" pitchFamily="34" charset="0"/>
              </a:rPr>
              <a:t>mikla sál</a:t>
            </a:r>
            <a:r>
              <a:rPr lang="is-IS" sz="1800">
                <a:latin typeface="Arial" panose="020B0604020202020204" pitchFamily="34" charset="0"/>
                <a:cs typeface="Arial" panose="020B0604020202020204" pitchFamily="34" charset="0"/>
              </a:rPr>
              <a:t>. Hann lærði lögfræði í Lundúnum. Hann starfaði um tíma í Suður-Afríku en flutti aftur heim til Indlands 1915. Han varð leiðtogi </a:t>
            </a:r>
            <a:r>
              <a:rPr lang="is-IS" sz="1800" b="1">
                <a:latin typeface="Arial" panose="020B0604020202020204" pitchFamily="34" charset="0"/>
                <a:cs typeface="Arial" panose="020B0604020202020204" pitchFamily="34" charset="0"/>
              </a:rPr>
              <a:t>Indverska þjóðarráðsflokksins </a:t>
            </a:r>
            <a:r>
              <a:rPr lang="is-IS" sz="1800">
                <a:latin typeface="Arial" panose="020B0604020202020204" pitchFamily="34" charset="0"/>
                <a:cs typeface="Arial" panose="020B0604020202020204" pitchFamily="34" charset="0"/>
              </a:rPr>
              <a:t>(stundum kallaður Kongressflokkurinn). Um svipað leyti byrjaði hann að ganga í lendarskýlu, </a:t>
            </a:r>
            <a:r>
              <a:rPr lang="is-IS" sz="1800" i="1">
                <a:latin typeface="Arial" panose="020B0604020202020204" pitchFamily="34" charset="0"/>
                <a:cs typeface="Arial" panose="020B0604020202020204" pitchFamily="34" charset="0"/>
              </a:rPr>
              <a:t>dhoti</a:t>
            </a:r>
            <a:r>
              <a:rPr lang="is-IS" sz="1800">
                <a:latin typeface="Arial" panose="020B0604020202020204" pitchFamily="34" charset="0"/>
                <a:cs typeface="Arial" panose="020B0604020202020204" pitchFamily="34" charset="0"/>
              </a:rPr>
              <a:t>, sem var hefðbundin klæðnaður fátækra á Indlandi, spunnið á spunarokkkinn indverska </a:t>
            </a:r>
            <a:r>
              <a:rPr lang="is-IS" sz="1800" i="1">
                <a:latin typeface="Arial" panose="020B0604020202020204" pitchFamily="34" charset="0"/>
                <a:cs typeface="Arial" panose="020B0604020202020204" pitchFamily="34" charset="0"/>
              </a:rPr>
              <a:t>chakrha</a:t>
            </a:r>
            <a:r>
              <a:rPr lang="is-IS" sz="1800">
                <a:latin typeface="Arial" panose="020B0604020202020204" pitchFamily="34" charset="0"/>
                <a:cs typeface="Arial" panose="020B0604020202020204" pitchFamily="34" charset="0"/>
              </a:rPr>
              <a:t>, sem seinna var tekið upp sem tákn á Indverska fánanum.</a:t>
            </a:r>
          </a:p>
          <a:p>
            <a:pPr marL="0" indent="0">
              <a:buNone/>
            </a:pPr>
            <a:r>
              <a:rPr lang="is-IS" sz="1800">
                <a:latin typeface="Arial" panose="020B0604020202020204" pitchFamily="34" charset="0"/>
                <a:cs typeface="Arial" panose="020B0604020202020204" pitchFamily="34" charset="0"/>
              </a:rPr>
              <a:t>Í baráttu sinni gegn breskum yfirráðum beitti hann friðsamlegum mótmælum, s.s. </a:t>
            </a:r>
            <a:r>
              <a:rPr lang="is-IS" sz="1800" b="1">
                <a:latin typeface="Arial" panose="020B0604020202020204" pitchFamily="34" charset="0"/>
                <a:cs typeface="Arial" panose="020B0604020202020204" pitchFamily="34" charset="0"/>
              </a:rPr>
              <a:t>Saltgöngunni miklu </a:t>
            </a:r>
            <a:r>
              <a:rPr lang="is-IS" sz="1800">
                <a:latin typeface="Arial" panose="020B0604020202020204" pitchFamily="34" charset="0"/>
                <a:cs typeface="Arial" panose="020B0604020202020204" pitchFamily="34" charset="0"/>
              </a:rPr>
              <a:t>árið 1930, til að mótmæla saltskatti. Gandhi vonaðist til að halda Indlandi sameinuðu, en um 1940 fór þjóðernishyggja meðal múslima vaxandi. Að lokum fór svo að Indlandi var skipt upp í tvö ríki, </a:t>
            </a:r>
            <a:r>
              <a:rPr lang="is-IS" sz="1800" b="1">
                <a:latin typeface="Arial" panose="020B0604020202020204" pitchFamily="34" charset="0"/>
                <a:cs typeface="Arial" panose="020B0604020202020204" pitchFamily="34" charset="0"/>
              </a:rPr>
              <a:t>Indland</a:t>
            </a:r>
            <a:r>
              <a:rPr lang="is-IS" sz="1800">
                <a:latin typeface="Arial" panose="020B0604020202020204" pitchFamily="34" charset="0"/>
                <a:cs typeface="Arial" panose="020B0604020202020204" pitchFamily="34" charset="0"/>
              </a:rPr>
              <a:t> og </a:t>
            </a:r>
            <a:r>
              <a:rPr lang="is-IS" sz="1800" b="1">
                <a:latin typeface="Arial" panose="020B0604020202020204" pitchFamily="34" charset="0"/>
                <a:cs typeface="Arial" panose="020B0604020202020204" pitchFamily="34" charset="0"/>
              </a:rPr>
              <a:t>Pakistan</a:t>
            </a:r>
            <a:r>
              <a:rPr lang="is-IS" sz="1800">
                <a:latin typeface="Arial" panose="020B0604020202020204" pitchFamily="34" charset="0"/>
                <a:cs typeface="Arial" panose="020B0604020202020204" pitchFamily="34" charset="0"/>
              </a:rPr>
              <a:t> (sem múslimar mynduðu). Ofbeldi braust víða út þar sem hindúar lentu Pakistan megin eða múslimar Indlandsmegin og reyndi Gandhi að stilla til friðar m.a. með hungurverkföllum. í janúar 1948 var hann hinsvegar myrtur af hindúanum </a:t>
            </a:r>
            <a:r>
              <a:rPr lang="is-IS" sz="1800" b="1">
                <a:latin typeface="Arial" panose="020B0604020202020204" pitchFamily="34" charset="0"/>
                <a:cs typeface="Arial" panose="020B0604020202020204" pitchFamily="34" charset="0"/>
              </a:rPr>
              <a:t>Nathuram Godse </a:t>
            </a:r>
            <a:r>
              <a:rPr lang="is-IS" sz="1800">
                <a:latin typeface="Arial" panose="020B0604020202020204" pitchFamily="34" charset="0"/>
                <a:cs typeface="Arial" panose="020B0604020202020204" pitchFamily="34" charset="0"/>
              </a:rPr>
              <a:t>sem taldi að Gandhi væri of eftirlátssamur við kröfur múslima. </a:t>
            </a:r>
          </a:p>
        </p:txBody>
      </p:sp>
      <p:pic>
        <p:nvPicPr>
          <p:cNvPr id="1026" name="Picture 2" descr="Mahatma-Gandhi, studio, 193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4854" y="1094508"/>
            <a:ext cx="4090265" cy="51026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69754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799" y="365125"/>
            <a:ext cx="10515600" cy="1325563"/>
          </a:xfrm>
        </p:spPr>
        <p:txBody>
          <a:bodyPr/>
          <a:lstStyle/>
          <a:p>
            <a:r>
              <a:rPr lang="is-IS">
                <a:latin typeface="Arial Black" panose="020B0A04020102020204" pitchFamily="34" charset="0"/>
              </a:rPr>
              <a:t>Vladimir Lenin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70761" y="1690688"/>
            <a:ext cx="3901440" cy="4120896"/>
          </a:xfrm>
        </p:spPr>
      </p:pic>
      <p:sp>
        <p:nvSpPr>
          <p:cNvPr id="5" name="TextBox 4"/>
          <p:cNvSpPr txBox="1"/>
          <p:nvPr/>
        </p:nvSpPr>
        <p:spPr>
          <a:xfrm>
            <a:off x="719799" y="1574476"/>
            <a:ext cx="6732561" cy="3970318"/>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Vladimir Lenin </a:t>
            </a:r>
            <a:r>
              <a:rPr lang="is-IS">
                <a:latin typeface="Arial" panose="020B0604020202020204" pitchFamily="34" charset="0"/>
                <a:cs typeface="Arial" panose="020B0604020202020204" pitchFamily="34" charset="0"/>
              </a:rPr>
              <a:t>(1870-1924) var fæddur </a:t>
            </a:r>
            <a:r>
              <a:rPr lang="is-IS" b="1">
                <a:latin typeface="Arial" panose="020B0604020202020204" pitchFamily="34" charset="0"/>
                <a:cs typeface="Arial" panose="020B0604020202020204" pitchFamily="34" charset="0"/>
              </a:rPr>
              <a:t>Vladimir Uljanov </a:t>
            </a:r>
            <a:r>
              <a:rPr lang="is-IS">
                <a:latin typeface="Arial" panose="020B0604020202020204" pitchFamily="34" charset="0"/>
                <a:cs typeface="Arial" panose="020B0604020202020204" pitchFamily="34" charset="0"/>
              </a:rPr>
              <a:t>en tók upp dulnefnið Lenín eftir ánni </a:t>
            </a:r>
            <a:r>
              <a:rPr lang="is-IS" b="1">
                <a:latin typeface="Arial" panose="020B0604020202020204" pitchFamily="34" charset="0"/>
                <a:cs typeface="Arial" panose="020B0604020202020204" pitchFamily="34" charset="0"/>
              </a:rPr>
              <a:t>Lenu</a:t>
            </a:r>
            <a:r>
              <a:rPr lang="is-IS">
                <a:latin typeface="Arial" panose="020B0604020202020204" pitchFamily="34" charset="0"/>
                <a:cs typeface="Arial" panose="020B0604020202020204" pitchFamily="34" charset="0"/>
              </a:rPr>
              <a:t> í Siberiu, en þar mátti hann dúsa eftir að hafa verið handtekinn. Hann var helsti leiðtogi </a:t>
            </a:r>
            <a:r>
              <a:rPr lang="is-IS" b="1">
                <a:latin typeface="Arial" panose="020B0604020202020204" pitchFamily="34" charset="0"/>
                <a:cs typeface="Arial" panose="020B0604020202020204" pitchFamily="34" charset="0"/>
              </a:rPr>
              <a:t>bolsévika</a:t>
            </a:r>
            <a:r>
              <a:rPr lang="is-IS">
                <a:latin typeface="Arial" panose="020B0604020202020204" pitchFamily="34" charset="0"/>
                <a:cs typeface="Arial" panose="020B0604020202020204" pitchFamily="34" charset="0"/>
              </a:rPr>
              <a:t>, róttækari arms rússneska sósíalistaflokksins. Hann sneri aftur til Rússlands eftir að keisaranum var steypt af stóli í </a:t>
            </a:r>
            <a:r>
              <a:rPr lang="is-IS" b="1">
                <a:latin typeface="Arial" panose="020B0604020202020204" pitchFamily="34" charset="0"/>
                <a:cs typeface="Arial" panose="020B0604020202020204" pitchFamily="34" charset="0"/>
              </a:rPr>
              <a:t>febrúarbyltingunni</a:t>
            </a:r>
            <a:r>
              <a:rPr lang="is-IS">
                <a:latin typeface="Arial" panose="020B0604020202020204" pitchFamily="34" charset="0"/>
                <a:cs typeface="Arial" panose="020B0604020202020204" pitchFamily="34" charset="0"/>
              </a:rPr>
              <a:t> árið 1917 og seinna sama ár stóð að baki </a:t>
            </a:r>
            <a:r>
              <a:rPr lang="is-IS" b="1">
                <a:latin typeface="Arial" panose="020B0604020202020204" pitchFamily="34" charset="0"/>
                <a:cs typeface="Arial" panose="020B0604020202020204" pitchFamily="34" charset="0"/>
              </a:rPr>
              <a:t>októberbyltingunni</a:t>
            </a:r>
            <a:r>
              <a:rPr lang="is-IS">
                <a:latin typeface="Arial" panose="020B0604020202020204" pitchFamily="34" charset="0"/>
                <a:cs typeface="Arial" panose="020B0604020202020204" pitchFamily="34" charset="0"/>
              </a:rPr>
              <a:t> þar sem bolsévikar tóku völdum - bolsévikar kölluðu sig síðar kommúnista. Hann varð leiðtogi hins nýja ríkis og árið 1922 mynduðu ríki Rússlands nýtt sambandsríki, </a:t>
            </a:r>
            <a:r>
              <a:rPr lang="is-IS" b="1">
                <a:latin typeface="Arial" panose="020B0604020202020204" pitchFamily="34" charset="0"/>
                <a:cs typeface="Arial" panose="020B0604020202020204" pitchFamily="34" charset="0"/>
              </a:rPr>
              <a:t>Sovétríkin</a:t>
            </a:r>
            <a:r>
              <a:rPr lang="is-IS">
                <a:latin typeface="Arial" panose="020B0604020202020204" pitchFamily="34" charset="0"/>
                <a:cs typeface="Arial" panose="020B0604020202020204" pitchFamily="34" charset="0"/>
              </a:rPr>
              <a:t>.</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Lenín dó aðeins tveimur árum seinna, en varaði við vaxandi völdum Jósefs </a:t>
            </a:r>
            <a:r>
              <a:rPr lang="is-IS" b="1">
                <a:latin typeface="Arial" panose="020B0604020202020204" pitchFamily="34" charset="0"/>
                <a:cs typeface="Arial" panose="020B0604020202020204" pitchFamily="34" charset="0"/>
              </a:rPr>
              <a:t>Stalín</a:t>
            </a:r>
            <a:r>
              <a:rPr lang="is-IS">
                <a:latin typeface="Arial" panose="020B0604020202020204" pitchFamily="34" charset="0"/>
                <a:cs typeface="Arial" panose="020B0604020202020204" pitchFamily="34" charset="0"/>
              </a:rPr>
              <a:t>; sem varð stuttu síðar leiðtogi Sovétríkjanna.</a:t>
            </a:r>
          </a:p>
        </p:txBody>
      </p:sp>
    </p:spTree>
    <p:extLst>
      <p:ext uri="{BB962C8B-B14F-4D97-AF65-F5344CB8AC3E}">
        <p14:creationId xmlns:p14="http://schemas.microsoft.com/office/powerpoint/2010/main" val="12100333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76"/>
            <a:ext cx="10515600" cy="1325563"/>
          </a:xfrm>
        </p:spPr>
        <p:txBody>
          <a:bodyPr/>
          <a:lstStyle/>
          <a:p>
            <a:r>
              <a:rPr lang="is-IS">
                <a:latin typeface="Arial Black" panose="020B0A04020102020204" pitchFamily="34" charset="0"/>
              </a:rPr>
              <a:t>Roald Amundsen</a:t>
            </a:r>
          </a:p>
        </p:txBody>
      </p:sp>
      <p:pic>
        <p:nvPicPr>
          <p:cNvPr id="23554" name="Picture 2" descr="Amundsen in fur skins.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96349" y="1184089"/>
            <a:ext cx="3773977" cy="5076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38200" y="991704"/>
            <a:ext cx="7358149" cy="5909310"/>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Roald Amundsen </a:t>
            </a:r>
            <a:r>
              <a:rPr lang="is-IS">
                <a:latin typeface="Arial" panose="020B0604020202020204" pitchFamily="34" charset="0"/>
                <a:cs typeface="Arial" panose="020B0604020202020204" pitchFamily="34" charset="0"/>
              </a:rPr>
              <a:t>(1872-1928) var </a:t>
            </a:r>
            <a:r>
              <a:rPr lang="is-IS" b="1">
                <a:latin typeface="Arial" panose="020B0604020202020204" pitchFamily="34" charset="0"/>
                <a:cs typeface="Arial" panose="020B0604020202020204" pitchFamily="34" charset="0"/>
              </a:rPr>
              <a:t>norskur</a:t>
            </a:r>
            <a:r>
              <a:rPr lang="is-IS">
                <a:latin typeface="Arial" panose="020B0604020202020204" pitchFamily="34" charset="0"/>
                <a:cs typeface="Arial" panose="020B0604020202020204" pitchFamily="34" charset="0"/>
              </a:rPr>
              <a:t> landkönnuður sem árið </a:t>
            </a:r>
            <a:r>
              <a:rPr lang="is-IS" b="1">
                <a:latin typeface="Arial" panose="020B0604020202020204" pitchFamily="34" charset="0"/>
                <a:cs typeface="Arial" panose="020B0604020202020204" pitchFamily="34" charset="0"/>
              </a:rPr>
              <a:t>1911</a:t>
            </a:r>
            <a:r>
              <a:rPr lang="is-IS">
                <a:latin typeface="Arial" panose="020B0604020202020204" pitchFamily="34" charset="0"/>
                <a:cs typeface="Arial" panose="020B0604020202020204" pitchFamily="34" charset="0"/>
              </a:rPr>
              <a:t> leiddi fyrsta leiðangurinn sem komst á </a:t>
            </a:r>
            <a:r>
              <a:rPr lang="is-IS" b="1">
                <a:latin typeface="Arial" panose="020B0604020202020204" pitchFamily="34" charset="0"/>
                <a:cs typeface="Arial" panose="020B0604020202020204" pitchFamily="34" charset="0"/>
              </a:rPr>
              <a:t>Suðurpólinn</a:t>
            </a:r>
            <a:r>
              <a:rPr lang="is-IS">
                <a:latin typeface="Arial" panose="020B0604020202020204" pitchFamily="34" charset="0"/>
                <a:cs typeface="Arial" panose="020B0604020202020204" pitchFamily="34" charset="0"/>
              </a:rPr>
              <a:t>. Hann er jafnframt fyrstur til að komast á </a:t>
            </a:r>
            <a:r>
              <a:rPr lang="is-IS" b="1">
                <a:latin typeface="Arial" panose="020B0604020202020204" pitchFamily="34" charset="0"/>
                <a:cs typeface="Arial" panose="020B0604020202020204" pitchFamily="34" charset="0"/>
              </a:rPr>
              <a:t>báða pólanna</a:t>
            </a:r>
            <a:r>
              <a:rPr lang="is-IS">
                <a:latin typeface="Arial" panose="020B0604020202020204" pitchFamily="34" charset="0"/>
                <a:cs typeface="Arial" panose="020B0604020202020204" pitchFamily="34" charset="0"/>
              </a:rPr>
              <a:t>. Á árunum 1903-1906 leiddi hann fyrsta leiðangurinn sem komst norðvesturleiðina, frá Atlantshafinu og til Kyrrahafsins; á skipinu </a:t>
            </a:r>
            <a:r>
              <a:rPr lang="is-IS" b="1">
                <a:latin typeface="Arial" panose="020B0604020202020204" pitchFamily="34" charset="0"/>
                <a:cs typeface="Arial" panose="020B0604020202020204" pitchFamily="34" charset="0"/>
              </a:rPr>
              <a:t>Gjöa</a:t>
            </a:r>
            <a:r>
              <a:rPr lang="is-IS">
                <a:latin typeface="Arial" panose="020B0604020202020204" pitchFamily="34" charset="0"/>
                <a:cs typeface="Arial" panose="020B0604020202020204" pitchFamily="34" charset="0"/>
              </a:rPr>
              <a:t>. Árið 1909 var hann að undirbúa leiðangur til að komast á Norðurpólinn en þegar </a:t>
            </a:r>
            <a:r>
              <a:rPr lang="is-IS" b="1">
                <a:latin typeface="Arial" panose="020B0604020202020204" pitchFamily="34" charset="0"/>
                <a:cs typeface="Arial" panose="020B0604020202020204" pitchFamily="34" charset="0"/>
              </a:rPr>
              <a:t>Frederick</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Cook</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Robert Peary </a:t>
            </a:r>
            <a:r>
              <a:rPr lang="is-IS">
                <a:latin typeface="Arial" panose="020B0604020202020204" pitchFamily="34" charset="0"/>
                <a:cs typeface="Arial" panose="020B0604020202020204" pitchFamily="34" charset="0"/>
              </a:rPr>
              <a:t>lýsti því yfir að hafa komist á Norðurpólinn (sem er umdeilt) ákvað hann að reyna frekar að komast á Suðurpólinn. Hann fékk könnunarskipið </a:t>
            </a:r>
            <a:r>
              <a:rPr lang="is-IS" b="1">
                <a:latin typeface="Arial" panose="020B0604020202020204" pitchFamily="34" charset="0"/>
                <a:cs typeface="Arial" panose="020B0604020202020204" pitchFamily="34" charset="0"/>
              </a:rPr>
              <a:t>Fram</a:t>
            </a:r>
            <a:r>
              <a:rPr lang="is-IS">
                <a:latin typeface="Arial" panose="020B0604020202020204" pitchFamily="34" charset="0"/>
                <a:cs typeface="Arial" panose="020B0604020202020204" pitchFamily="34" charset="0"/>
              </a:rPr>
              <a:t> lánað hjá landa sínum </a:t>
            </a:r>
            <a:r>
              <a:rPr lang="is-IS" b="1">
                <a:latin typeface="Arial" panose="020B0604020202020204" pitchFamily="34" charset="0"/>
                <a:cs typeface="Arial" panose="020B0604020202020204" pitchFamily="34" charset="0"/>
              </a:rPr>
              <a:t>Friðþjófi Nansen</a:t>
            </a:r>
            <a:r>
              <a:rPr lang="is-IS">
                <a:latin typeface="Arial" panose="020B0604020202020204" pitchFamily="34" charset="0"/>
                <a:cs typeface="Arial" panose="020B0604020202020204" pitchFamily="34" charset="0"/>
              </a:rPr>
              <a:t>. Á sama tíma var breskur leiðangur á leiðinni á pólinn, undir stjórn </a:t>
            </a:r>
            <a:r>
              <a:rPr lang="is-IS" b="1">
                <a:latin typeface="Arial" panose="020B0604020202020204" pitchFamily="34" charset="0"/>
                <a:cs typeface="Arial" panose="020B0604020202020204" pitchFamily="34" charset="0"/>
              </a:rPr>
              <a:t>Robert Falcon-Scott</a:t>
            </a:r>
            <a:r>
              <a:rPr lang="is-IS">
                <a:latin typeface="Arial" panose="020B0604020202020204" pitchFamily="34" charset="0"/>
                <a:cs typeface="Arial" panose="020B0604020202020204" pitchFamily="34" charset="0"/>
              </a:rPr>
              <a:t>. Þann 14. desember komst leiðangur Amundsen á Suðurpólinn rétt á undan leiðangri Falcon-Scott. Amundsen notaðist við sleðahunda og skinnfatnað að hætti inúíta á meðan Falcon-Scottt notaðist við m.a. frumstæða vélknúna snjósleða sem reyndust illa. Árið 1926 komst hann á Norðurpólinn á loftskipinu </a:t>
            </a:r>
            <a:r>
              <a:rPr lang="is-IS" b="1">
                <a:latin typeface="Arial" panose="020B0604020202020204" pitchFamily="34" charset="0"/>
                <a:cs typeface="Arial" panose="020B0604020202020204" pitchFamily="34" charset="0"/>
              </a:rPr>
              <a:t>Norge</a:t>
            </a:r>
            <a:r>
              <a:rPr lang="is-IS">
                <a:latin typeface="Arial" panose="020B0604020202020204" pitchFamily="34" charset="0"/>
                <a:cs typeface="Arial" panose="020B0604020202020204" pitchFamily="34" charset="0"/>
              </a:rPr>
              <a:t>. Leiðangur hans er mögulega sá fyrsti sem náði þangað; þar sem þeir sem á undan komu eru umdeildir. Árið 1928 gerði Amundsen út björgunarleiðangur til að leita að ítalska landkönnuðinum, og keppinaut, </a:t>
            </a:r>
            <a:r>
              <a:rPr lang="is-IS" b="1">
                <a:latin typeface="Arial" panose="020B0604020202020204" pitchFamily="34" charset="0"/>
                <a:cs typeface="Arial" panose="020B0604020202020204" pitchFamily="34" charset="0"/>
              </a:rPr>
              <a:t>Umberto Nobile</a:t>
            </a:r>
            <a:r>
              <a:rPr lang="is-IS">
                <a:latin typeface="Arial" panose="020B0604020202020204" pitchFamily="34" charset="0"/>
                <a:cs typeface="Arial" panose="020B0604020202020204" pitchFamily="34" charset="0"/>
              </a:rPr>
              <a:t>. Talið er að flugvél Amundsen hafi farist í Barentshafi; en Nobile komst heill heim að lokum.</a:t>
            </a:r>
          </a:p>
        </p:txBody>
      </p:sp>
    </p:spTree>
    <p:extLst>
      <p:ext uri="{BB962C8B-B14F-4D97-AF65-F5344CB8AC3E}">
        <p14:creationId xmlns:p14="http://schemas.microsoft.com/office/powerpoint/2010/main" val="890883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095" y="1"/>
            <a:ext cx="10936705" cy="1690688"/>
          </a:xfrm>
        </p:spPr>
        <p:txBody>
          <a:bodyPr/>
          <a:lstStyle/>
          <a:p>
            <a:r>
              <a:rPr lang="is-IS">
                <a:latin typeface="Arial Black" panose="020B0A04020102020204" pitchFamily="34" charset="0"/>
              </a:rPr>
              <a:t>Winston Churchill</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41717" y="1042738"/>
            <a:ext cx="3895440" cy="5460898"/>
          </a:xfrm>
        </p:spPr>
      </p:pic>
      <p:sp>
        <p:nvSpPr>
          <p:cNvPr id="5" name="TextBox 4"/>
          <p:cNvSpPr txBox="1"/>
          <p:nvPr/>
        </p:nvSpPr>
        <p:spPr>
          <a:xfrm>
            <a:off x="417095" y="1315453"/>
            <a:ext cx="7524621" cy="535531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Winston Leonard Spencher Churchill </a:t>
            </a:r>
            <a:r>
              <a:rPr lang="is-IS">
                <a:latin typeface="Arial" panose="020B0604020202020204" pitchFamily="34" charset="0"/>
                <a:cs typeface="Arial" panose="020B0604020202020204" pitchFamily="34" charset="0"/>
              </a:rPr>
              <a:t>(1874-1965) var </a:t>
            </a:r>
            <a:r>
              <a:rPr lang="is-IS" b="1">
                <a:latin typeface="Arial" panose="020B0604020202020204" pitchFamily="34" charset="0"/>
                <a:cs typeface="Arial" panose="020B0604020202020204" pitchFamily="34" charset="0"/>
              </a:rPr>
              <a:t>tvívegis</a:t>
            </a:r>
            <a:r>
              <a:rPr lang="is-IS">
                <a:latin typeface="Arial" panose="020B0604020202020204" pitchFamily="34" charset="0"/>
                <a:cs typeface="Arial" panose="020B0604020202020204" pitchFamily="34" charset="0"/>
              </a:rPr>
              <a:t> forsætisráðherra </a:t>
            </a:r>
            <a:r>
              <a:rPr lang="is-IS" b="1">
                <a:latin typeface="Arial" panose="020B0604020202020204" pitchFamily="34" charset="0"/>
                <a:cs typeface="Arial" panose="020B0604020202020204" pitchFamily="34" charset="0"/>
              </a:rPr>
              <a:t>Bretlands</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1940-1945</a:t>
            </a:r>
            <a:r>
              <a:rPr lang="is-IS">
                <a:latin typeface="Arial" panose="020B0604020202020204" pitchFamily="34" charset="0"/>
                <a:cs typeface="Arial" panose="020B0604020202020204" pitchFamily="34" charset="0"/>
              </a:rPr>
              <a:t> og aftur </a:t>
            </a:r>
            <a:r>
              <a:rPr lang="is-IS" b="1">
                <a:latin typeface="Arial" panose="020B0604020202020204" pitchFamily="34" charset="0"/>
                <a:cs typeface="Arial" panose="020B0604020202020204" pitchFamily="34" charset="0"/>
              </a:rPr>
              <a:t>1951-1955</a:t>
            </a:r>
            <a:r>
              <a:rPr lang="is-IS">
                <a:latin typeface="Arial" panose="020B0604020202020204" pitchFamily="34" charset="0"/>
                <a:cs typeface="Arial" panose="020B0604020202020204" pitchFamily="34" charset="0"/>
              </a:rPr>
              <a:t>. Hann var fæddur í höllinni </a:t>
            </a:r>
            <a:r>
              <a:rPr lang="is-IS" b="1">
                <a:latin typeface="Arial" panose="020B0604020202020204" pitchFamily="34" charset="0"/>
                <a:cs typeface="Arial" panose="020B0604020202020204" pitchFamily="34" charset="0"/>
              </a:rPr>
              <a:t>Blenheim</a:t>
            </a:r>
            <a:r>
              <a:rPr lang="is-IS">
                <a:latin typeface="Arial" panose="020B0604020202020204" pitchFamily="34" charset="0"/>
                <a:cs typeface="Arial" panose="020B0604020202020204" pitchFamily="34" charset="0"/>
              </a:rPr>
              <a:t>, sem afi hans hertoginn af  Marlborough átti. Faðir hans, Randolph, var ráðherra, en dó ungur. Hann sat fyrst sem þingmaður fyrir </a:t>
            </a:r>
            <a:r>
              <a:rPr lang="is-IS" b="1">
                <a:latin typeface="Arial" panose="020B0604020202020204" pitchFamily="34" charset="0"/>
                <a:cs typeface="Arial" panose="020B0604020202020204" pitchFamily="34" charset="0"/>
              </a:rPr>
              <a:t>Íhaldsflokkinn</a:t>
            </a:r>
            <a:r>
              <a:rPr lang="is-IS">
                <a:latin typeface="Arial" panose="020B0604020202020204" pitchFamily="34" charset="0"/>
                <a:cs typeface="Arial" panose="020B0604020202020204" pitchFamily="34" charset="0"/>
              </a:rPr>
              <a:t>, en yfirgaf hann og gerðist meðlimur </a:t>
            </a:r>
            <a:r>
              <a:rPr lang="is-IS" b="1">
                <a:latin typeface="Arial" panose="020B0604020202020204" pitchFamily="34" charset="0"/>
                <a:cs typeface="Arial" panose="020B0604020202020204" pitchFamily="34" charset="0"/>
              </a:rPr>
              <a:t>Frjálslyndaflokksins</a:t>
            </a:r>
            <a:r>
              <a:rPr lang="is-IS">
                <a:latin typeface="Arial" panose="020B0604020202020204" pitchFamily="34" charset="0"/>
                <a:cs typeface="Arial" panose="020B0604020202020204" pitchFamily="34" charset="0"/>
              </a:rPr>
              <a:t> og var m.a. </a:t>
            </a:r>
            <a:r>
              <a:rPr lang="is-IS" b="1">
                <a:latin typeface="Arial" panose="020B0604020202020204" pitchFamily="34" charset="0"/>
                <a:cs typeface="Arial" panose="020B0604020202020204" pitchFamily="34" charset="0"/>
              </a:rPr>
              <a:t>Flotamálaráðherra</a:t>
            </a:r>
            <a:r>
              <a:rPr lang="is-IS">
                <a:latin typeface="Arial" panose="020B0604020202020204" pitchFamily="34" charset="0"/>
                <a:cs typeface="Arial" panose="020B0604020202020204" pitchFamily="34" charset="0"/>
              </a:rPr>
              <a:t> í fyrri heimsstyrjöldinni. Eftir ófarir Breta við </a:t>
            </a:r>
            <a:r>
              <a:rPr lang="is-IS" b="1">
                <a:latin typeface="Arial" panose="020B0604020202020204" pitchFamily="34" charset="0"/>
                <a:cs typeface="Arial" panose="020B0604020202020204" pitchFamily="34" charset="0"/>
              </a:rPr>
              <a:t>Gallipoli</a:t>
            </a:r>
            <a:r>
              <a:rPr lang="is-IS">
                <a:latin typeface="Arial" panose="020B0604020202020204" pitchFamily="34" charset="0"/>
                <a:cs typeface="Arial" panose="020B0604020202020204" pitchFamily="34" charset="0"/>
              </a:rPr>
              <a:t> árið 1915 sagði hann af sér embætti. Hann missti síðar þingsæti sinn, gekk í </a:t>
            </a:r>
            <a:r>
              <a:rPr lang="is-IS" b="1">
                <a:latin typeface="Arial" panose="020B0604020202020204" pitchFamily="34" charset="0"/>
                <a:cs typeface="Arial" panose="020B0604020202020204" pitchFamily="34" charset="0"/>
              </a:rPr>
              <a:t>Íhaldsflokkinn</a:t>
            </a:r>
            <a:r>
              <a:rPr lang="is-IS">
                <a:latin typeface="Arial" panose="020B0604020202020204" pitchFamily="34" charset="0"/>
                <a:cs typeface="Arial" panose="020B0604020202020204" pitchFamily="34" charset="0"/>
              </a:rPr>
              <a:t> að nýju og komst aftur á þing. Varð </a:t>
            </a:r>
            <a:r>
              <a:rPr lang="is-IS" b="1">
                <a:latin typeface="Arial" panose="020B0604020202020204" pitchFamily="34" charset="0"/>
                <a:cs typeface="Arial" panose="020B0604020202020204" pitchFamily="34" charset="0"/>
              </a:rPr>
              <a:t>fjármálaráðherra</a:t>
            </a:r>
            <a:r>
              <a:rPr lang="is-IS">
                <a:latin typeface="Arial" panose="020B0604020202020204" pitchFamily="34" charset="0"/>
                <a:cs typeface="Arial" panose="020B0604020202020204" pitchFamily="34" charset="0"/>
              </a:rPr>
              <a:t> en sagði af sér 1929 eftir hrun breska pundsins sem var að hluta til honum að kenna. Hann var án embættis næstu árin en varaði ítrekað við uppgangi nasista í Þýskalandi. Í upphafi stríðsins 1939 var hann skipaður aftur </a:t>
            </a:r>
            <a:r>
              <a:rPr lang="is-IS" b="1">
                <a:latin typeface="Arial" panose="020B0604020202020204" pitchFamily="34" charset="0"/>
                <a:cs typeface="Arial" panose="020B0604020202020204" pitchFamily="34" charset="0"/>
              </a:rPr>
              <a:t>flotamálaráðherra</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10. maí 1040 </a:t>
            </a:r>
            <a:r>
              <a:rPr lang="is-IS">
                <a:latin typeface="Arial" panose="020B0604020202020204" pitchFamily="34" charset="0"/>
                <a:cs typeface="Arial" panose="020B0604020202020204" pitchFamily="34" charset="0"/>
              </a:rPr>
              <a:t>var hann skipaður forsætisráðherra. Eftir að hann lét af embætti varaði hann mjög við uppgangi Sovétríkjanna, og á heiðurinn á að koma hugtakinu </a:t>
            </a:r>
            <a:r>
              <a:rPr lang="is-IS" b="1">
                <a:latin typeface="Arial" panose="020B0604020202020204" pitchFamily="34" charset="0"/>
                <a:cs typeface="Arial" panose="020B0604020202020204" pitchFamily="34" charset="0"/>
              </a:rPr>
              <a:t>Járntjaldið</a:t>
            </a:r>
            <a:r>
              <a:rPr lang="is-IS">
                <a:latin typeface="Arial" panose="020B0604020202020204" pitchFamily="34" charset="0"/>
                <a:cs typeface="Arial" panose="020B0604020202020204" pitchFamily="34" charset="0"/>
              </a:rPr>
              <a:t> í almenna notkun.</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Hann tapaði óvænt kosningunum eftir stríðið en varð aftur </a:t>
            </a:r>
            <a:r>
              <a:rPr lang="is-IS" b="1">
                <a:latin typeface="Arial" panose="020B0604020202020204" pitchFamily="34" charset="0"/>
                <a:cs typeface="Arial" panose="020B0604020202020204" pitchFamily="34" charset="0"/>
              </a:rPr>
              <a:t>forsætisráðherra</a:t>
            </a:r>
            <a:r>
              <a:rPr lang="is-IS">
                <a:latin typeface="Arial" panose="020B0604020202020204" pitchFamily="34" charset="0"/>
                <a:cs typeface="Arial" panose="020B0604020202020204" pitchFamily="34" charset="0"/>
              </a:rPr>
              <a:t> 1951, en lét af embætti 1955. </a:t>
            </a:r>
          </a:p>
        </p:txBody>
      </p:sp>
    </p:spTree>
    <p:extLst>
      <p:ext uri="{BB962C8B-B14F-4D97-AF65-F5344CB8AC3E}">
        <p14:creationId xmlns:p14="http://schemas.microsoft.com/office/powerpoint/2010/main" val="1983946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5221" y="160421"/>
            <a:ext cx="10825949" cy="1565457"/>
          </a:xfrm>
        </p:spPr>
        <p:txBody>
          <a:bodyPr/>
          <a:lstStyle/>
          <a:p>
            <a:r>
              <a:rPr lang="is-IS">
                <a:latin typeface="Arial Black" panose="020B0A04020102020204" pitchFamily="34" charset="0"/>
              </a:rPr>
              <a:t>Josef Stalín</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25827" y="1272423"/>
            <a:ext cx="3195950" cy="4351338"/>
          </a:xfrm>
        </p:spPr>
      </p:pic>
      <p:sp>
        <p:nvSpPr>
          <p:cNvPr id="5" name="TextBox 4"/>
          <p:cNvSpPr txBox="1"/>
          <p:nvPr/>
        </p:nvSpPr>
        <p:spPr>
          <a:xfrm>
            <a:off x="625643" y="1459833"/>
            <a:ext cx="7539762" cy="5171382"/>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Jósef Stalín </a:t>
            </a:r>
            <a:r>
              <a:rPr lang="is-IS">
                <a:latin typeface="Arial" panose="020B0604020202020204" pitchFamily="34" charset="0"/>
                <a:cs typeface="Arial" panose="020B0604020202020204" pitchFamily="34" charset="0"/>
              </a:rPr>
              <a:t>(1878-1953) var fæddur í </a:t>
            </a:r>
            <a:r>
              <a:rPr lang="is-IS" b="1">
                <a:latin typeface="Arial" panose="020B0604020202020204" pitchFamily="34" charset="0"/>
                <a:cs typeface="Arial" panose="020B0604020202020204" pitchFamily="34" charset="0"/>
              </a:rPr>
              <a:t>Georgíu</a:t>
            </a:r>
            <a:r>
              <a:rPr lang="is-IS">
                <a:latin typeface="Arial" panose="020B0604020202020204" pitchFamily="34" charset="0"/>
                <a:cs typeface="Arial" panose="020B0604020202020204" pitchFamily="34" charset="0"/>
              </a:rPr>
              <a:t>, þá hluti af Rússlandi sem </a:t>
            </a:r>
            <a:r>
              <a:rPr lang="is-IS" b="1">
                <a:latin typeface="Arial" panose="020B0604020202020204" pitchFamily="34" charset="0"/>
                <a:cs typeface="Arial" panose="020B0604020202020204" pitchFamily="34" charset="0"/>
              </a:rPr>
              <a:t>Jósef Dugashvili</a:t>
            </a:r>
            <a:r>
              <a:rPr lang="is-IS">
                <a:latin typeface="Arial" panose="020B0604020202020204" pitchFamily="34" charset="0"/>
                <a:cs typeface="Arial" panose="020B0604020202020204" pitchFamily="34" charset="0"/>
              </a:rPr>
              <a:t>. Hann lærði ungur til </a:t>
            </a:r>
            <a:r>
              <a:rPr lang="is-IS" b="1">
                <a:latin typeface="Arial" panose="020B0604020202020204" pitchFamily="34" charset="0"/>
                <a:cs typeface="Arial" panose="020B0604020202020204" pitchFamily="34" charset="0"/>
              </a:rPr>
              <a:t>prests</a:t>
            </a:r>
            <a:r>
              <a:rPr lang="is-IS">
                <a:latin typeface="Arial" panose="020B0604020202020204" pitchFamily="34" charset="0"/>
                <a:cs typeface="Arial" panose="020B0604020202020204" pitchFamily="34" charset="0"/>
              </a:rPr>
              <a:t>. Hann var í framvarðarsveit byltingarmanna í októberbyltingunni 1917 og einn af nánustu samverkamönnum </a:t>
            </a:r>
            <a:r>
              <a:rPr lang="is-IS" b="1">
                <a:latin typeface="Arial" panose="020B0604020202020204" pitchFamily="34" charset="0"/>
                <a:cs typeface="Arial" panose="020B0604020202020204" pitchFamily="34" charset="0"/>
              </a:rPr>
              <a:t>Leníns</a:t>
            </a:r>
            <a:r>
              <a:rPr lang="is-IS">
                <a:latin typeface="Arial" panose="020B0604020202020204" pitchFamily="34" charset="0"/>
                <a:cs typeface="Arial" panose="020B0604020202020204" pitchFamily="34" charset="0"/>
              </a:rPr>
              <a:t> og </a:t>
            </a:r>
            <a:r>
              <a:rPr lang="is-IS" b="1">
                <a:latin typeface="Arial" panose="020B0604020202020204" pitchFamily="34" charset="0"/>
                <a:cs typeface="Arial" panose="020B0604020202020204" pitchFamily="34" charset="0"/>
              </a:rPr>
              <a:t>Trotskíj</a:t>
            </a:r>
            <a:r>
              <a:rPr lang="is-IS">
                <a:latin typeface="Arial" panose="020B0604020202020204" pitchFamily="34" charset="0"/>
                <a:cs typeface="Arial" panose="020B0604020202020204" pitchFamily="34" charset="0"/>
              </a:rPr>
              <a:t>. Árið 1922 var hann skipaður </a:t>
            </a:r>
            <a:r>
              <a:rPr lang="is-IS" b="1">
                <a:latin typeface="Arial" panose="020B0604020202020204" pitchFamily="34" charset="0"/>
                <a:cs typeface="Arial" panose="020B0604020202020204" pitchFamily="34" charset="0"/>
              </a:rPr>
              <a:t>aðalritari</a:t>
            </a:r>
            <a:r>
              <a:rPr lang="is-IS">
                <a:latin typeface="Arial" panose="020B0604020202020204" pitchFamily="34" charset="0"/>
                <a:cs typeface="Arial" panose="020B0604020202020204" pitchFamily="34" charset="0"/>
              </a:rPr>
              <a:t> Sovéska kommúnistaflokksins; sem þrátt fyrir að vera lágt skrifað innan metorðalistans, gaf honum aðgang að flokksmaskínunni sem hann nýtti til að komast til valda í kjölfar dauða Leníns árið 1924. </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Undir stjórn Stalíns tókst Sovétríkjunum að iðnvæðast á met tíma (</a:t>
            </a:r>
            <a:r>
              <a:rPr lang="is-IS" b="1">
                <a:latin typeface="Arial" panose="020B0604020202020204" pitchFamily="34" charset="0"/>
                <a:cs typeface="Arial" panose="020B0604020202020204" pitchFamily="34" charset="0"/>
              </a:rPr>
              <a:t>fimm ára áætlanir</a:t>
            </a:r>
            <a:r>
              <a:rPr lang="is-IS">
                <a:latin typeface="Arial" panose="020B0604020202020204" pitchFamily="34" charset="0"/>
                <a:cs typeface="Arial" panose="020B0604020202020204" pitchFamily="34" charset="0"/>
              </a:rPr>
              <a:t>). Tilraun hans til að endurskipuleggja landbúnað í Sovétríkjunum orsökuðu eina mestu </a:t>
            </a:r>
            <a:r>
              <a:rPr lang="is-IS" b="1">
                <a:latin typeface="Arial" panose="020B0604020202020204" pitchFamily="34" charset="0"/>
                <a:cs typeface="Arial" panose="020B0604020202020204" pitchFamily="34" charset="0"/>
              </a:rPr>
              <a:t>hungursneyð</a:t>
            </a:r>
            <a:r>
              <a:rPr lang="is-IS">
                <a:latin typeface="Arial" panose="020B0604020202020204" pitchFamily="34" charset="0"/>
                <a:cs typeface="Arial" panose="020B0604020202020204" pitchFamily="34" charset="0"/>
              </a:rPr>
              <a:t> í sögunni, 1932-1933. Á árunum 1934 til 1939 stóð hann fyrir "</a:t>
            </a:r>
            <a:r>
              <a:rPr lang="is-IS" b="1">
                <a:latin typeface="Arial" panose="020B0604020202020204" pitchFamily="34" charset="0"/>
                <a:cs typeface="Arial" panose="020B0604020202020204" pitchFamily="34" charset="0"/>
              </a:rPr>
              <a:t>hreinsunum</a:t>
            </a:r>
            <a:r>
              <a:rPr lang="is-IS">
                <a:latin typeface="Arial" panose="020B0604020202020204" pitchFamily="34" charset="0"/>
                <a:cs typeface="Arial" panose="020B0604020202020204" pitchFamily="34" charset="0"/>
              </a:rPr>
              <a:t>" innan flokksins og hersins sem kostuðu mörg þúsund manna lífið.</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Stalín er almennt talinn einn grimmasti einræðisherra allra tíma. Valdatími hans var fordæmdur af </a:t>
            </a:r>
            <a:r>
              <a:rPr lang="is-IS" b="1">
                <a:latin typeface="Arial" panose="020B0604020202020204" pitchFamily="34" charset="0"/>
                <a:cs typeface="Arial" panose="020B0604020202020204" pitchFamily="34" charset="0"/>
              </a:rPr>
              <a:t>Nikita Krústjov </a:t>
            </a:r>
            <a:r>
              <a:rPr lang="is-IS">
                <a:latin typeface="Arial" panose="020B0604020202020204" pitchFamily="34" charset="0"/>
                <a:cs typeface="Arial" panose="020B0604020202020204" pitchFamily="34" charset="0"/>
              </a:rPr>
              <a:t>árið 1956, þremur árum eftir að hann lést. </a:t>
            </a:r>
          </a:p>
        </p:txBody>
      </p:sp>
    </p:spTree>
    <p:extLst>
      <p:ext uri="{BB962C8B-B14F-4D97-AF65-F5344CB8AC3E}">
        <p14:creationId xmlns:p14="http://schemas.microsoft.com/office/powerpoint/2010/main" val="2347615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099" y="9046"/>
            <a:ext cx="5002876" cy="1325563"/>
          </a:xfrm>
        </p:spPr>
        <p:txBody>
          <a:bodyPr>
            <a:normAutofit/>
          </a:bodyPr>
          <a:lstStyle/>
          <a:p>
            <a:r>
              <a:rPr lang="is-IS">
                <a:latin typeface="Arial Black" panose="020B0A04020102020204" pitchFamily="34" charset="0"/>
              </a:rPr>
              <a:t>Albert Einstein</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534165" y="174631"/>
            <a:ext cx="3554036" cy="4664673"/>
          </a:xfrm>
        </p:spPr>
      </p:pic>
      <p:sp>
        <p:nvSpPr>
          <p:cNvPr id="5" name="TextBox 4"/>
          <p:cNvSpPr txBox="1"/>
          <p:nvPr/>
        </p:nvSpPr>
        <p:spPr>
          <a:xfrm>
            <a:off x="202099" y="957699"/>
            <a:ext cx="8253643" cy="1200329"/>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Albert Einstein </a:t>
            </a:r>
            <a:r>
              <a:rPr lang="is-IS">
                <a:latin typeface="Arial" panose="020B0604020202020204" pitchFamily="34" charset="0"/>
                <a:cs typeface="Arial" panose="020B0604020202020204" pitchFamily="34" charset="0"/>
              </a:rPr>
              <a:t>(1879-1955) var fæddur í </a:t>
            </a:r>
            <a:r>
              <a:rPr lang="is-IS" b="1">
                <a:latin typeface="Arial" panose="020B0604020202020204" pitchFamily="34" charset="0"/>
                <a:cs typeface="Arial" panose="020B0604020202020204" pitchFamily="34" charset="0"/>
              </a:rPr>
              <a:t>Þýskalandi</a:t>
            </a:r>
            <a:r>
              <a:rPr lang="is-IS">
                <a:latin typeface="Arial" panose="020B0604020202020204" pitchFamily="34" charset="0"/>
                <a:cs typeface="Arial" panose="020B0604020202020204" pitchFamily="34" charset="0"/>
              </a:rPr>
              <a:t> (Ulm) en bjó og starfaði víða um heim og dó að lokum í New Jersey í </a:t>
            </a:r>
            <a:r>
              <a:rPr lang="is-IS" b="1">
                <a:latin typeface="Arial" panose="020B0604020202020204" pitchFamily="34" charset="0"/>
                <a:cs typeface="Arial" panose="020B0604020202020204" pitchFamily="34" charset="0"/>
              </a:rPr>
              <a:t>Bandaríkjunum</a:t>
            </a:r>
            <a:r>
              <a:rPr lang="is-IS">
                <a:latin typeface="Arial" panose="020B0604020202020204" pitchFamily="34" charset="0"/>
                <a:cs typeface="Arial" panose="020B0604020202020204" pitchFamily="34" charset="0"/>
              </a:rPr>
              <a:t>. Í rúmar tvær aldir höfðu kenningar </a:t>
            </a:r>
            <a:r>
              <a:rPr lang="is-IS" b="1">
                <a:latin typeface="Arial" panose="020B0604020202020204" pitchFamily="34" charset="0"/>
                <a:cs typeface="Arial" panose="020B0604020202020204" pitchFamily="34" charset="0"/>
              </a:rPr>
              <a:t>Newtons</a:t>
            </a:r>
            <a:r>
              <a:rPr lang="is-IS">
                <a:latin typeface="Arial" panose="020B0604020202020204" pitchFamily="34" charset="0"/>
                <a:cs typeface="Arial" panose="020B0604020202020204" pitchFamily="34" charset="0"/>
              </a:rPr>
              <a:t> staðið óhaggaðar í eðlisfræði. Árið </a:t>
            </a:r>
            <a:r>
              <a:rPr lang="is-IS" b="1">
                <a:latin typeface="Arial" panose="020B0604020202020204" pitchFamily="34" charset="0"/>
                <a:cs typeface="Arial" panose="020B0604020202020204" pitchFamily="34" charset="0"/>
              </a:rPr>
              <a:t>1905</a:t>
            </a:r>
            <a:r>
              <a:rPr lang="is-IS">
                <a:latin typeface="Arial" panose="020B0604020202020204" pitchFamily="34" charset="0"/>
                <a:cs typeface="Arial" panose="020B0604020202020204" pitchFamily="34" charset="0"/>
              </a:rPr>
              <a:t> setti Albert Einstein fram </a:t>
            </a:r>
            <a:r>
              <a:rPr lang="is-IS" b="1">
                <a:latin typeface="Arial" panose="020B0604020202020204" pitchFamily="34" charset="0"/>
                <a:cs typeface="Arial" panose="020B0604020202020204" pitchFamily="34" charset="0"/>
              </a:rPr>
              <a:t>sérstöku (eða afmörkuðu)</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afstæðiskenninguna</a:t>
            </a:r>
            <a:r>
              <a:rPr lang="is-IS">
                <a:latin typeface="Arial" panose="020B0604020202020204" pitchFamily="34" charset="0"/>
                <a:cs typeface="Arial" panose="020B0604020202020204" pitchFamily="34" charset="0"/>
              </a:rPr>
              <a:t>. </a:t>
            </a:r>
          </a:p>
        </p:txBody>
      </p:sp>
      <p:sp>
        <p:nvSpPr>
          <p:cNvPr id="3" name="Rectangle 2"/>
          <p:cNvSpPr/>
          <p:nvPr/>
        </p:nvSpPr>
        <p:spPr>
          <a:xfrm>
            <a:off x="202099" y="3635356"/>
            <a:ext cx="8253643" cy="1200329"/>
          </a:xfrm>
          <a:prstGeom prst="rect">
            <a:avLst/>
          </a:prstGeom>
        </p:spPr>
        <p:txBody>
          <a:bodyPr wrap="square">
            <a:spAutoFit/>
          </a:bodyPr>
          <a:lstStyle/>
          <a:p>
            <a:r>
              <a:rPr lang="is-IS">
                <a:latin typeface="Arial" panose="020B0604020202020204" pitchFamily="34" charset="0"/>
                <a:cs typeface="Arial" panose="020B0604020202020204" pitchFamily="34" charset="0"/>
              </a:rPr>
              <a:t>Þessari kenningu var tekið með semingi í fyrstu en árið 1919 varð </a:t>
            </a:r>
            <a:r>
              <a:rPr lang="is-IS" b="1">
                <a:latin typeface="Arial" panose="020B0604020202020204" pitchFamily="34" charset="0"/>
                <a:cs typeface="Arial" panose="020B0604020202020204" pitchFamily="34" charset="0"/>
              </a:rPr>
              <a:t>Arthur Eddington </a:t>
            </a:r>
            <a:r>
              <a:rPr lang="is-IS">
                <a:latin typeface="Arial" panose="020B0604020202020204" pitchFamily="34" charset="0"/>
                <a:cs typeface="Arial" panose="020B0604020202020204" pitchFamily="34" charset="0"/>
              </a:rPr>
              <a:t>var við, að við sólarmyrkva beygist ljósið af leið og þar með var fótum skotið undir kenningar Einsteins. Hluti af kenningum Einsteins var tilvist </a:t>
            </a:r>
            <a:r>
              <a:rPr lang="is-IS" b="1">
                <a:latin typeface="Arial" panose="020B0604020202020204" pitchFamily="34" charset="0"/>
                <a:cs typeface="Arial" panose="020B0604020202020204" pitchFamily="34" charset="0"/>
              </a:rPr>
              <a:t>svarthols</a:t>
            </a:r>
            <a:r>
              <a:rPr lang="is-IS">
                <a:latin typeface="Arial" panose="020B0604020202020204" pitchFamily="34" charset="0"/>
                <a:cs typeface="Arial" panose="020B0604020202020204" pitchFamily="34" charset="0"/>
              </a:rPr>
              <a:t>; sem vísindamenn telja sig hafa fundið síðan.</a:t>
            </a:r>
          </a:p>
        </p:txBody>
      </p:sp>
      <p:sp>
        <p:nvSpPr>
          <p:cNvPr id="6" name="Rectangle 5"/>
          <p:cNvSpPr/>
          <p:nvPr/>
        </p:nvSpPr>
        <p:spPr>
          <a:xfrm>
            <a:off x="202099" y="2158028"/>
            <a:ext cx="8253643" cy="1477328"/>
          </a:xfrm>
          <a:prstGeom prst="rect">
            <a:avLst/>
          </a:prstGeom>
        </p:spPr>
        <p:txBody>
          <a:bodyPr wrap="square">
            <a:spAutoFit/>
          </a:bodyPr>
          <a:lstStyle/>
          <a:p>
            <a:r>
              <a:rPr lang="is-IS">
                <a:latin typeface="Arial" panose="020B0604020202020204" pitchFamily="34" charset="0"/>
                <a:cs typeface="Arial" panose="020B0604020202020204" pitchFamily="34" charset="0"/>
              </a:rPr>
              <a:t>Árið </a:t>
            </a:r>
            <a:r>
              <a:rPr lang="is-IS" b="1">
                <a:latin typeface="Arial" panose="020B0604020202020204" pitchFamily="34" charset="0"/>
                <a:cs typeface="Arial" panose="020B0604020202020204" pitchFamily="34" charset="0"/>
              </a:rPr>
              <a:t>1915</a:t>
            </a:r>
            <a:r>
              <a:rPr lang="is-IS">
                <a:latin typeface="Arial" panose="020B0604020202020204" pitchFamily="34" charset="0"/>
                <a:cs typeface="Arial" panose="020B0604020202020204" pitchFamily="34" charset="0"/>
              </a:rPr>
              <a:t> setti Einstein fram enn róttækari kenningu, </a:t>
            </a:r>
            <a:r>
              <a:rPr lang="is-IS" b="1">
                <a:latin typeface="Arial" panose="020B0604020202020204" pitchFamily="34" charset="0"/>
                <a:cs typeface="Arial" panose="020B0604020202020204" pitchFamily="34" charset="0"/>
              </a:rPr>
              <a:t>almennu afstæðiskenninguna</a:t>
            </a:r>
            <a:r>
              <a:rPr lang="is-IS">
                <a:latin typeface="Arial" panose="020B0604020202020204" pitchFamily="34" charset="0"/>
                <a:cs typeface="Arial" panose="020B0604020202020204" pitchFamily="34" charset="0"/>
              </a:rPr>
              <a:t>. Samkvæmt henni var þyngdartogun &amp; -hröðun jöfn og afstæði tíma og rúms getur verið bogin, allir hlutir búa til lautir í flöt annara hluta í óravíddum heimsins. Kenningin gerir ráð fyrir að þyngdartogun beygir ljós af leið.</a:t>
            </a:r>
            <a:endParaRPr lang="is-IS"/>
          </a:p>
        </p:txBody>
      </p:sp>
      <p:sp>
        <p:nvSpPr>
          <p:cNvPr id="8" name="Rectangle 7"/>
          <p:cNvSpPr/>
          <p:nvPr/>
        </p:nvSpPr>
        <p:spPr>
          <a:xfrm>
            <a:off x="304800" y="4835685"/>
            <a:ext cx="11582398" cy="1754326"/>
          </a:xfrm>
          <a:prstGeom prst="rect">
            <a:avLst/>
          </a:prstGeom>
        </p:spPr>
        <p:txBody>
          <a:bodyPr wrap="square">
            <a:spAutoFit/>
          </a:bodyPr>
          <a:lstStyle/>
          <a:p>
            <a:r>
              <a:rPr lang="is-IS">
                <a:latin typeface="Arial" panose="020B0604020202020204" pitchFamily="34" charset="0"/>
                <a:cs typeface="Arial" panose="020B0604020202020204" pitchFamily="34" charset="0"/>
              </a:rPr>
              <a:t>Árið 1933 heimsótti Einstein </a:t>
            </a:r>
            <a:r>
              <a:rPr lang="is-IS" b="1">
                <a:latin typeface="Arial" panose="020B0604020202020204" pitchFamily="34" charset="0"/>
                <a:cs typeface="Arial" panose="020B0604020202020204" pitchFamily="34" charset="0"/>
              </a:rPr>
              <a:t>Bandaríkin</a:t>
            </a:r>
            <a:r>
              <a:rPr lang="is-IS">
                <a:latin typeface="Arial" panose="020B0604020202020204" pitchFamily="34" charset="0"/>
                <a:cs typeface="Arial" panose="020B0604020202020204" pitchFamily="34" charset="0"/>
              </a:rPr>
              <a:t> en á sama tíma komst </a:t>
            </a:r>
            <a:r>
              <a:rPr lang="is-IS" b="1">
                <a:latin typeface="Arial" panose="020B0604020202020204" pitchFamily="34" charset="0"/>
                <a:cs typeface="Arial" panose="020B0604020202020204" pitchFamily="34" charset="0"/>
              </a:rPr>
              <a:t>Adolf Hitler </a:t>
            </a:r>
            <a:r>
              <a:rPr lang="is-IS">
                <a:latin typeface="Arial" panose="020B0604020202020204" pitchFamily="34" charset="0"/>
                <a:cs typeface="Arial" panose="020B0604020202020204" pitchFamily="34" charset="0"/>
              </a:rPr>
              <a:t>til valda í Þýskalandi. Einstein, sem var </a:t>
            </a:r>
            <a:r>
              <a:rPr lang="is-IS" b="1">
                <a:latin typeface="Arial" panose="020B0604020202020204" pitchFamily="34" charset="0"/>
                <a:cs typeface="Arial" panose="020B0604020202020204" pitchFamily="34" charset="0"/>
              </a:rPr>
              <a:t>gyðingur</a:t>
            </a:r>
            <a:r>
              <a:rPr lang="is-IS">
                <a:latin typeface="Arial" panose="020B0604020202020204" pitchFamily="34" charset="0"/>
                <a:cs typeface="Arial" panose="020B0604020202020204" pitchFamily="34" charset="0"/>
              </a:rPr>
              <a:t>, kaus að snúa ekki aftur heim. Árið 1940 varð hann bandarískur ríkisborgari. Hann skrifaði </a:t>
            </a:r>
            <a:r>
              <a:rPr lang="is-IS" b="1">
                <a:latin typeface="Arial" panose="020B0604020202020204" pitchFamily="34" charset="0"/>
                <a:cs typeface="Arial" panose="020B0604020202020204" pitchFamily="34" charset="0"/>
              </a:rPr>
              <a:t>Franklin D. Roosevelt </a:t>
            </a:r>
            <a:r>
              <a:rPr lang="is-IS">
                <a:latin typeface="Arial" panose="020B0604020202020204" pitchFamily="34" charset="0"/>
                <a:cs typeface="Arial" panose="020B0604020202020204" pitchFamily="34" charset="0"/>
              </a:rPr>
              <a:t>bréf stuttu áður en seinni heimsstyrjöldin hófst og varaði hann við að Þjóðverjar kynnu að þróa kjarnavopn og hvatti Bandaríkin til að hefja rannsóknir á þessu sviði. Varð þetta upphafið að </a:t>
            </a:r>
            <a:r>
              <a:rPr lang="is-IS" b="1">
                <a:latin typeface="Arial" panose="020B0604020202020204" pitchFamily="34" charset="0"/>
                <a:cs typeface="Arial" panose="020B0604020202020204" pitchFamily="34" charset="0"/>
              </a:rPr>
              <a:t>Manhattan</a:t>
            </a:r>
            <a:r>
              <a:rPr lang="is-IS">
                <a:latin typeface="Arial" panose="020B0604020202020204" pitchFamily="34" charset="0"/>
                <a:cs typeface="Arial" panose="020B0604020202020204" pitchFamily="34" charset="0"/>
              </a:rPr>
              <a:t> áætlun Bandaríkjanan sem leiddu til þess að Bandaríkin sprengdu fyrstu </a:t>
            </a:r>
            <a:r>
              <a:rPr lang="is-IS" b="1">
                <a:latin typeface="Arial" panose="020B0604020202020204" pitchFamily="34" charset="0"/>
                <a:cs typeface="Arial" panose="020B0604020202020204" pitchFamily="34" charset="0"/>
              </a:rPr>
              <a:t>kjarnorkusprengju</a:t>
            </a:r>
            <a:r>
              <a:rPr lang="is-IS">
                <a:latin typeface="Arial" panose="020B0604020202020204" pitchFamily="34" charset="0"/>
                <a:cs typeface="Arial" panose="020B0604020202020204" pitchFamily="34" charset="0"/>
              </a:rPr>
              <a:t> í heimi árið </a:t>
            </a:r>
            <a:r>
              <a:rPr lang="is-IS" b="1">
                <a:latin typeface="Arial" panose="020B0604020202020204" pitchFamily="34" charset="0"/>
                <a:cs typeface="Arial" panose="020B0604020202020204" pitchFamily="34" charset="0"/>
              </a:rPr>
              <a:t>1945</a:t>
            </a:r>
            <a:r>
              <a:rPr lang="is-IS">
                <a:latin typeface="Arial" panose="020B0604020202020204" pitchFamily="34" charset="0"/>
                <a:cs typeface="Arial" panose="020B0604020202020204" pitchFamily="34" charset="0"/>
              </a:rPr>
              <a:t>. Síðar barðist hann hatrammlega gegn notkun kjarnorkuvopna í hernaði.</a:t>
            </a:r>
          </a:p>
        </p:txBody>
      </p:sp>
    </p:spTree>
    <p:extLst>
      <p:ext uri="{BB962C8B-B14F-4D97-AF65-F5344CB8AC3E}">
        <p14:creationId xmlns:p14="http://schemas.microsoft.com/office/powerpoint/2010/main" val="2988928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611" y="226031"/>
            <a:ext cx="10881189" cy="1099532"/>
          </a:xfrm>
        </p:spPr>
        <p:txBody>
          <a:bodyPr>
            <a:normAutofit/>
          </a:bodyPr>
          <a:lstStyle/>
          <a:p>
            <a:r>
              <a:rPr lang="is-IS">
                <a:latin typeface="Arial Black" panose="020B0A04020102020204" pitchFamily="34" charset="0"/>
              </a:rPr>
              <a:t>Pablo Picasso</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1030" y="1652705"/>
            <a:ext cx="4835843" cy="3511962"/>
          </a:xfrm>
          <a:prstGeom prst="rect">
            <a:avLst/>
          </a:prstGeom>
        </p:spPr>
      </p:pic>
      <p:sp>
        <p:nvSpPr>
          <p:cNvPr id="4" name="TextBox 3"/>
          <p:cNvSpPr txBox="1"/>
          <p:nvPr/>
        </p:nvSpPr>
        <p:spPr>
          <a:xfrm>
            <a:off x="472611" y="1325563"/>
            <a:ext cx="6396275"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Pablo Picasso </a:t>
            </a:r>
            <a:r>
              <a:rPr lang="is-IS">
                <a:latin typeface="Arial" panose="020B0604020202020204" pitchFamily="34" charset="0"/>
                <a:cs typeface="Arial" panose="020B0604020202020204" pitchFamily="34" charset="0"/>
              </a:rPr>
              <a:t>(1881-1973) var </a:t>
            </a:r>
            <a:r>
              <a:rPr lang="is-IS" b="1">
                <a:latin typeface="Arial" panose="020B0604020202020204" pitchFamily="34" charset="0"/>
                <a:cs typeface="Arial" panose="020B0604020202020204" pitchFamily="34" charset="0"/>
              </a:rPr>
              <a:t>spænskur</a:t>
            </a:r>
            <a:r>
              <a:rPr lang="is-IS">
                <a:latin typeface="Arial" panose="020B0604020202020204" pitchFamily="34" charset="0"/>
                <a:cs typeface="Arial" panose="020B0604020202020204" pitchFamily="34" charset="0"/>
              </a:rPr>
              <a:t> listmálari, myndhöggvari, grafík- og leirlistamaður; sem var einn fremsti og áhrifamesti listamaður 20. aldar. Hann var búsettur í </a:t>
            </a:r>
            <a:r>
              <a:rPr lang="is-IS" b="1">
                <a:latin typeface="Arial" panose="020B0604020202020204" pitchFamily="34" charset="0"/>
                <a:cs typeface="Arial" panose="020B0604020202020204" pitchFamily="34" charset="0"/>
              </a:rPr>
              <a:t>París</a:t>
            </a:r>
            <a:r>
              <a:rPr lang="is-IS">
                <a:latin typeface="Arial" panose="020B0604020202020204" pitchFamily="34" charset="0"/>
                <a:cs typeface="Arial" panose="020B0604020202020204" pitchFamily="34" charset="0"/>
              </a:rPr>
              <a:t> frá 1904. Hann, ásamt </a:t>
            </a:r>
            <a:r>
              <a:rPr lang="is-IS" b="1">
                <a:latin typeface="Arial" panose="020B0604020202020204" pitchFamily="34" charset="0"/>
                <a:cs typeface="Arial" panose="020B0604020202020204" pitchFamily="34" charset="0"/>
              </a:rPr>
              <a:t>George Braque, </a:t>
            </a:r>
            <a:r>
              <a:rPr lang="is-IS">
                <a:latin typeface="Arial" panose="020B0604020202020204" pitchFamily="34" charset="0"/>
                <a:cs typeface="Arial" panose="020B0604020202020204" pitchFamily="34" charset="0"/>
              </a:rPr>
              <a:t>var upphafsmaður </a:t>
            </a:r>
            <a:r>
              <a:rPr lang="is-IS" b="1">
                <a:latin typeface="Arial" panose="020B0604020202020204" pitchFamily="34" charset="0"/>
                <a:cs typeface="Arial" panose="020B0604020202020204" pitchFamily="34" charset="0"/>
              </a:rPr>
              <a:t>kúbisma</a:t>
            </a:r>
            <a:r>
              <a:rPr lang="is-IS">
                <a:latin typeface="Arial" panose="020B0604020202020204" pitchFamily="34" charset="0"/>
                <a:cs typeface="Arial" panose="020B0604020202020204" pitchFamily="34" charset="0"/>
              </a:rPr>
              <a:t> en breytti þó oft um stíl. Tímabilið 1901-1904 hefur verið kallað </a:t>
            </a:r>
            <a:r>
              <a:rPr lang="is-IS" b="1">
                <a:latin typeface="Arial" panose="020B0604020202020204" pitchFamily="34" charset="0"/>
                <a:cs typeface="Arial" panose="020B0604020202020204" pitchFamily="34" charset="0"/>
              </a:rPr>
              <a:t>bláa tímabilið</a:t>
            </a:r>
            <a:r>
              <a:rPr lang="is-IS">
                <a:latin typeface="Arial" panose="020B0604020202020204" pitchFamily="34" charset="0"/>
                <a:cs typeface="Arial" panose="020B0604020202020204" pitchFamily="34" charset="0"/>
              </a:rPr>
              <a:t>; en þá málaði hann oft utangarðsfólk í bláum lit; en 1905-1906 verið kallað </a:t>
            </a:r>
            <a:r>
              <a:rPr lang="is-IS" b="1">
                <a:latin typeface="Arial" panose="020B0604020202020204" pitchFamily="34" charset="0"/>
                <a:cs typeface="Arial" panose="020B0604020202020204" pitchFamily="34" charset="0"/>
              </a:rPr>
              <a:t>bleika tímabilið </a:t>
            </a:r>
            <a:r>
              <a:rPr lang="is-IS">
                <a:latin typeface="Arial" panose="020B0604020202020204" pitchFamily="34" charset="0"/>
                <a:cs typeface="Arial" panose="020B0604020202020204" pitchFamily="34" charset="0"/>
              </a:rPr>
              <a:t>og var þá léttara yfir myndunum. Viðfangsefnið var oft hringleikahús, trúðar og leikarar. Árið 1907 málaði hann </a:t>
            </a:r>
            <a:r>
              <a:rPr lang="is-IS" b="1">
                <a:latin typeface="Arial" panose="020B0604020202020204" pitchFamily="34" charset="0"/>
                <a:cs typeface="Arial" panose="020B0604020202020204" pitchFamily="34" charset="0"/>
              </a:rPr>
              <a:t>Ungfrúrnar frá Avignon</a:t>
            </a:r>
            <a:r>
              <a:rPr lang="is-IS">
                <a:latin typeface="Arial" panose="020B0604020202020204" pitchFamily="34" charset="0"/>
                <a:cs typeface="Arial" panose="020B0604020202020204" pitchFamily="34" charset="0"/>
              </a:rPr>
              <a:t>, tímamótaverk sem markað upphaf kúbismans. Á árunum 1917-1924 gerði Picasso sviðsmyndir fyrir listdanshóp Diaghilev og á sama tíma málaði hann tilkomumiklar myndir af nöktum konum í klassískum stíl. Um 1926 fór að gæta súrrealískra áhrifa í verkum hans, m.a. Í málverkinu </a:t>
            </a:r>
            <a:r>
              <a:rPr lang="is-IS" b="1">
                <a:latin typeface="Arial" panose="020B0604020202020204" pitchFamily="34" charset="0"/>
                <a:cs typeface="Arial" panose="020B0604020202020204" pitchFamily="34" charset="0"/>
              </a:rPr>
              <a:t>Guernica</a:t>
            </a:r>
            <a:r>
              <a:rPr lang="is-IS">
                <a:latin typeface="Arial" panose="020B0604020202020204" pitchFamily="34" charset="0"/>
                <a:cs typeface="Arial" panose="020B0604020202020204" pitchFamily="34" charset="0"/>
              </a:rPr>
              <a:t> (1937) þar sem andstyggð hans á ofbeldisverkum fasista í borgarastríðinu á Spáni er mótmælt. Seinni tíma verk hans snúast meira um goðafræðileg efni og sjálfa listasöguna.</a:t>
            </a:r>
          </a:p>
        </p:txBody>
      </p:sp>
    </p:spTree>
    <p:extLst>
      <p:ext uri="{BB962C8B-B14F-4D97-AF65-F5344CB8AC3E}">
        <p14:creationId xmlns:p14="http://schemas.microsoft.com/office/powerpoint/2010/main" val="2665180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185737"/>
            <a:ext cx="10515600" cy="1325563"/>
          </a:xfrm>
        </p:spPr>
        <p:txBody>
          <a:bodyPr/>
          <a:lstStyle/>
          <a:p>
            <a:r>
              <a:rPr lang="en-GB">
                <a:latin typeface="Arial Black" panose="020B0A04020102020204" pitchFamily="34" charset="0"/>
              </a:rPr>
              <a:t>Benito Mussolini </a:t>
            </a:r>
            <a:endParaRPr lang="is-IS">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80135" y="1166957"/>
            <a:ext cx="3862388" cy="5145657"/>
          </a:xfrm>
        </p:spPr>
      </p:pic>
      <p:sp>
        <p:nvSpPr>
          <p:cNvPr id="5" name="TextBox 4"/>
          <p:cNvSpPr txBox="1"/>
          <p:nvPr/>
        </p:nvSpPr>
        <p:spPr>
          <a:xfrm>
            <a:off x="253999" y="1347537"/>
            <a:ext cx="7826136"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Benito Mussolini </a:t>
            </a:r>
            <a:r>
              <a:rPr lang="is-IS">
                <a:latin typeface="Arial" panose="020B0604020202020204" pitchFamily="34" charset="0"/>
                <a:cs typeface="Arial" panose="020B0604020202020204" pitchFamily="34" charset="0"/>
              </a:rPr>
              <a:t>(1883-1945) var sonur járnsmiðs, fæddur í smábænum Dovia di Predappio. Hann var nefndur (ekki skírður) eftir hinu frjálslynda forseta Mexíkó, </a:t>
            </a:r>
            <a:r>
              <a:rPr lang="is-IS" b="1">
                <a:latin typeface="Arial" panose="020B0604020202020204" pitchFamily="34" charset="0"/>
                <a:cs typeface="Arial" panose="020B0604020202020204" pitchFamily="34" charset="0"/>
              </a:rPr>
              <a:t>Benito Juárez</a:t>
            </a:r>
            <a:r>
              <a:rPr lang="is-IS">
                <a:latin typeface="Arial" panose="020B0604020202020204" pitchFamily="34" charset="0"/>
                <a:cs typeface="Arial" panose="020B0604020202020204" pitchFamily="34" charset="0"/>
              </a:rPr>
              <a:t>. Mussolini hóf stjórnmálaferill sinn sem </a:t>
            </a:r>
            <a:r>
              <a:rPr lang="is-IS" b="1">
                <a:latin typeface="Arial" panose="020B0604020202020204" pitchFamily="34" charset="0"/>
                <a:cs typeface="Arial" panose="020B0604020202020204" pitchFamily="34" charset="0"/>
              </a:rPr>
              <a:t>sósaílisti, </a:t>
            </a:r>
            <a:r>
              <a:rPr lang="is-IS">
                <a:latin typeface="Arial" panose="020B0604020202020204" pitchFamily="34" charset="0"/>
                <a:cs typeface="Arial" panose="020B0604020202020204" pitchFamily="34" charset="0"/>
              </a:rPr>
              <a:t> hitti m.a. </a:t>
            </a:r>
            <a:r>
              <a:rPr lang="is-IS" b="1">
                <a:latin typeface="Arial" panose="020B0604020202020204" pitchFamily="34" charset="0"/>
                <a:cs typeface="Arial" panose="020B0604020202020204" pitchFamily="34" charset="0"/>
              </a:rPr>
              <a:t>Lenín</a:t>
            </a:r>
            <a:r>
              <a:rPr lang="is-IS">
                <a:latin typeface="Arial" panose="020B0604020202020204" pitchFamily="34" charset="0"/>
                <a:cs typeface="Arial" panose="020B0604020202020204" pitchFamily="34" charset="0"/>
              </a:rPr>
              <a:t> og blaðamaður auk þess að gefa út skáldsögu, sem hét </a:t>
            </a:r>
            <a:r>
              <a:rPr lang="is-IS" i="1">
                <a:latin typeface="Arial" panose="020B0604020202020204" pitchFamily="34" charset="0"/>
                <a:cs typeface="Arial" panose="020B0604020202020204" pitchFamily="34" charset="0"/>
              </a:rPr>
              <a:t>Hjákona kardinálans</a:t>
            </a:r>
            <a:r>
              <a:rPr lang="is-IS">
                <a:latin typeface="Arial" panose="020B0604020202020204" pitchFamily="34" charset="0"/>
                <a:cs typeface="Arial" panose="020B0604020202020204" pitchFamily="34" charset="0"/>
              </a:rPr>
              <a:t>. Eftir að fyrri heimsstyrjöldin braust út gerðist hann </a:t>
            </a:r>
            <a:r>
              <a:rPr lang="is-IS" b="1">
                <a:latin typeface="Arial" panose="020B0604020202020204" pitchFamily="34" charset="0"/>
                <a:cs typeface="Arial" panose="020B0604020202020204" pitchFamily="34" charset="0"/>
              </a:rPr>
              <a:t>fasisti</a:t>
            </a:r>
            <a:r>
              <a:rPr lang="is-IS">
                <a:latin typeface="Arial" panose="020B0604020202020204" pitchFamily="34" charset="0"/>
                <a:cs typeface="Arial" panose="020B0604020202020204" pitchFamily="34" charset="0"/>
              </a:rPr>
              <a:t> og stofnaði síðar fasistaflokk Ítalíu. Hann var kallaður leiðtoginn eða </a:t>
            </a:r>
            <a:r>
              <a:rPr lang="is-IS" b="1">
                <a:latin typeface="Arial" panose="020B0604020202020204" pitchFamily="34" charset="0"/>
                <a:cs typeface="Arial" panose="020B0604020202020204" pitchFamily="34" charset="0"/>
              </a:rPr>
              <a:t>Il Duce</a:t>
            </a:r>
            <a:r>
              <a:rPr lang="is-IS">
                <a:latin typeface="Arial" panose="020B0604020202020204" pitchFamily="34" charset="0"/>
                <a:cs typeface="Arial" panose="020B0604020202020204" pitchFamily="34" charset="0"/>
              </a:rPr>
              <a:t>. Árið </a:t>
            </a:r>
            <a:r>
              <a:rPr lang="is-IS" b="1">
                <a:latin typeface="Arial" panose="020B0604020202020204" pitchFamily="34" charset="0"/>
                <a:cs typeface="Arial" panose="020B0604020202020204" pitchFamily="34" charset="0"/>
              </a:rPr>
              <a:t>1922</a:t>
            </a:r>
            <a:r>
              <a:rPr lang="is-IS">
                <a:latin typeface="Arial" panose="020B0604020202020204" pitchFamily="34" charset="0"/>
                <a:cs typeface="Arial" panose="020B0604020202020204" pitchFamily="34" charset="0"/>
              </a:rPr>
              <a:t> leiddi hann göngu svartstakka til </a:t>
            </a:r>
            <a:r>
              <a:rPr lang="is-IS" b="1">
                <a:latin typeface="Arial" panose="020B0604020202020204" pitchFamily="34" charset="0"/>
                <a:cs typeface="Arial" panose="020B0604020202020204" pitchFamily="34" charset="0"/>
              </a:rPr>
              <a:t>Rómar</a:t>
            </a:r>
            <a:r>
              <a:rPr lang="is-IS">
                <a:latin typeface="Arial" panose="020B0604020202020204" pitchFamily="34" charset="0"/>
                <a:cs typeface="Arial" panose="020B0604020202020204" pitchFamily="34" charset="0"/>
              </a:rPr>
              <a:t> og af ótta við þessu nýju hreyfingu skipaði </a:t>
            </a:r>
            <a:r>
              <a:rPr lang="is-IS" b="1">
                <a:latin typeface="Arial" panose="020B0604020202020204" pitchFamily="34" charset="0"/>
                <a:cs typeface="Arial" panose="020B0604020202020204" pitchFamily="34" charset="0"/>
              </a:rPr>
              <a:t>Viktor Emmanúel </a:t>
            </a:r>
            <a:r>
              <a:rPr lang="is-IS">
                <a:latin typeface="Arial" panose="020B0604020202020204" pitchFamily="34" charset="0"/>
                <a:cs typeface="Arial" panose="020B0604020202020204" pitchFamily="34" charset="0"/>
              </a:rPr>
              <a:t>konungur Ítalíu hann forsætisráðherra. Hann stjórnaði í fyrstu í samræmi við lýðræðisreglur en árið 1925 hóf flokkurinn að brjóta niður andstöðu og varð Ítalía </a:t>
            </a:r>
            <a:r>
              <a:rPr lang="is-IS" b="1">
                <a:latin typeface="Arial" panose="020B0604020202020204" pitchFamily="34" charset="0"/>
                <a:cs typeface="Arial" panose="020B0604020202020204" pitchFamily="34" charset="0"/>
              </a:rPr>
              <a:t>einræðisríki</a:t>
            </a:r>
            <a:r>
              <a:rPr lang="is-IS">
                <a:latin typeface="Arial" panose="020B0604020202020204" pitchFamily="34" charset="0"/>
                <a:cs typeface="Arial" panose="020B0604020202020204" pitchFamily="34" charset="0"/>
              </a:rPr>
              <a:t> í kjölfarið.</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Í seinni heimsstyrjöldinni studdi Mussolini </a:t>
            </a:r>
            <a:r>
              <a:rPr lang="is-IS" b="1">
                <a:latin typeface="Arial" panose="020B0604020202020204" pitchFamily="34" charset="0"/>
                <a:cs typeface="Arial" panose="020B0604020202020204" pitchFamily="34" charset="0"/>
              </a:rPr>
              <a:t>Þýskaland</a:t>
            </a:r>
            <a:r>
              <a:rPr lang="is-IS">
                <a:latin typeface="Arial" panose="020B0604020202020204" pitchFamily="34" charset="0"/>
                <a:cs typeface="Arial" panose="020B0604020202020204" pitchFamily="34" charset="0"/>
              </a:rPr>
              <a:t> og tók virkan þátt í stríðinu en með misjöfnun árangri. Árið 1943 hófu Bandamenn innrás á Ítalíuskaganum og var Mussolini vikið frá völdum og handtekinn af konungnum. Þýskar sveitir björguðu honum en hann var í raun í stofufangelsi hjá Þjóðverjum. Árið 1945 reyndi hann að flýja norður en var handsamaður og </a:t>
            </a:r>
            <a:r>
              <a:rPr lang="is-IS" b="1">
                <a:latin typeface="Arial" panose="020B0604020202020204" pitchFamily="34" charset="0"/>
                <a:cs typeface="Arial" panose="020B0604020202020204" pitchFamily="34" charset="0"/>
              </a:rPr>
              <a:t>hengdur</a:t>
            </a:r>
            <a:r>
              <a:rPr lang="is-IS">
                <a:latin typeface="Arial" panose="020B0604020202020204" pitchFamily="34" charset="0"/>
                <a:cs typeface="Arial" panose="020B0604020202020204" pitchFamily="34" charset="0"/>
              </a:rPr>
              <a:t> af ítölsku andspyrnuhreyfingunni.</a:t>
            </a:r>
          </a:p>
        </p:txBody>
      </p:sp>
    </p:spTree>
    <p:extLst>
      <p:ext uri="{BB962C8B-B14F-4D97-AF65-F5344CB8AC3E}">
        <p14:creationId xmlns:p14="http://schemas.microsoft.com/office/powerpoint/2010/main" val="12894157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61937"/>
            <a:ext cx="10515600" cy="1325563"/>
          </a:xfrm>
        </p:spPr>
        <p:txBody>
          <a:bodyPr/>
          <a:lstStyle/>
          <a:p>
            <a:r>
              <a:rPr lang="en-GB">
                <a:latin typeface="Arial Black" panose="020B0A04020102020204" pitchFamily="34" charset="0"/>
              </a:rPr>
              <a:t>Adolf Hitler</a:t>
            </a:r>
            <a:endParaRPr lang="is-IS">
              <a:latin typeface="Arial Black" panose="020B0A04020102020204" pitchFamily="34"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98492" y="684281"/>
            <a:ext cx="3644031" cy="5765508"/>
          </a:xfrm>
        </p:spPr>
      </p:pic>
      <p:sp>
        <p:nvSpPr>
          <p:cNvPr id="5" name="TextBox 4"/>
          <p:cNvSpPr txBox="1"/>
          <p:nvPr/>
        </p:nvSpPr>
        <p:spPr>
          <a:xfrm>
            <a:off x="304799" y="1415441"/>
            <a:ext cx="7636701"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Adolf Hitler </a:t>
            </a:r>
            <a:r>
              <a:rPr lang="is-IS">
                <a:latin typeface="Arial" panose="020B0604020202020204" pitchFamily="34" charset="0"/>
                <a:cs typeface="Arial" panose="020B0604020202020204" pitchFamily="34" charset="0"/>
              </a:rPr>
              <a:t>(1889-1945) var einræðisherra </a:t>
            </a:r>
            <a:r>
              <a:rPr lang="is-IS" b="1">
                <a:latin typeface="Arial" panose="020B0604020202020204" pitchFamily="34" charset="0"/>
                <a:cs typeface="Arial" panose="020B0604020202020204" pitchFamily="34" charset="0"/>
              </a:rPr>
              <a:t>Þýskalands</a:t>
            </a:r>
            <a:r>
              <a:rPr lang="is-IS">
                <a:latin typeface="Arial" panose="020B0604020202020204" pitchFamily="34" charset="0"/>
                <a:cs typeface="Arial" panose="020B0604020202020204" pitchFamily="34" charset="0"/>
              </a:rPr>
              <a:t> frá 1933 til 1945. Hann var fæddur í </a:t>
            </a:r>
            <a:r>
              <a:rPr lang="is-IS" b="1">
                <a:latin typeface="Arial" panose="020B0604020202020204" pitchFamily="34" charset="0"/>
                <a:cs typeface="Arial" panose="020B0604020202020204" pitchFamily="34" charset="0"/>
              </a:rPr>
              <a:t>austurríska</a:t>
            </a:r>
            <a:r>
              <a:rPr lang="is-IS">
                <a:latin typeface="Arial" panose="020B0604020202020204" pitchFamily="34" charset="0"/>
                <a:cs typeface="Arial" panose="020B0604020202020204" pitchFamily="34" charset="0"/>
              </a:rPr>
              <a:t> bænum </a:t>
            </a:r>
            <a:r>
              <a:rPr lang="is-IS" b="1">
                <a:latin typeface="Arial" panose="020B0604020202020204" pitchFamily="34" charset="0"/>
                <a:cs typeface="Arial" panose="020B0604020202020204" pitchFamily="34" charset="0"/>
              </a:rPr>
              <a:t>Braunau am-inn</a:t>
            </a:r>
            <a:r>
              <a:rPr lang="is-IS">
                <a:latin typeface="Arial" panose="020B0604020202020204" pitchFamily="34" charset="0"/>
                <a:cs typeface="Arial" panose="020B0604020202020204" pitchFamily="34" charset="0"/>
              </a:rPr>
              <a:t>. Hann reyndi fyrir sér með </a:t>
            </a:r>
            <a:r>
              <a:rPr lang="is-IS" b="1">
                <a:latin typeface="Arial" panose="020B0604020202020204" pitchFamily="34" charset="0"/>
                <a:cs typeface="Arial" panose="020B0604020202020204" pitchFamily="34" charset="0"/>
              </a:rPr>
              <a:t>listmálari</a:t>
            </a:r>
            <a:r>
              <a:rPr lang="is-IS">
                <a:latin typeface="Arial" panose="020B0604020202020204" pitchFamily="34" charset="0"/>
                <a:cs typeface="Arial" panose="020B0604020202020204" pitchFamily="34" charset="0"/>
              </a:rPr>
              <a:t> í Vínarborg en fór síðar yfir til Þýskalands og þjónaði í þýska hernum í fyrri heimsstyrjöldinni. Eftir stríðið gekk hann í raðir lítils hægri flokks og varð fljótlega leiðtogi hans, um var að ræða </a:t>
            </a:r>
            <a:r>
              <a:rPr lang="is-IS" b="1">
                <a:latin typeface="Arial" panose="020B0604020202020204" pitchFamily="34" charset="0"/>
                <a:cs typeface="Arial" panose="020B0604020202020204" pitchFamily="34" charset="0"/>
              </a:rPr>
              <a:t>Nasistaflokksins</a:t>
            </a:r>
            <a:r>
              <a:rPr lang="is-IS">
                <a:latin typeface="Arial" panose="020B0604020202020204" pitchFamily="34" charset="0"/>
                <a:cs typeface="Arial" panose="020B0604020202020204" pitchFamily="34" charset="0"/>
              </a:rPr>
              <a:t>. Árið 1923 freistaði hann þess að leika eftir sama leik og Mussolini ári áður og taka völdin í Bæjaralandi, en </a:t>
            </a:r>
            <a:r>
              <a:rPr lang="is-IS" b="1">
                <a:latin typeface="Arial" panose="020B0604020202020204" pitchFamily="34" charset="0"/>
                <a:cs typeface="Arial" panose="020B0604020202020204" pitchFamily="34" charset="0"/>
              </a:rPr>
              <a:t>Bjórkjallarauppreisnin</a:t>
            </a:r>
            <a:r>
              <a:rPr lang="is-IS">
                <a:latin typeface="Arial" panose="020B0604020202020204" pitchFamily="34" charset="0"/>
                <a:cs typeface="Arial" panose="020B0604020202020204" pitchFamily="34" charset="0"/>
              </a:rPr>
              <a:t> í Munchen misheppnaðist og var hann hnepptur í fangelsi. Þar ritaði hann testament sitt: </a:t>
            </a:r>
            <a:r>
              <a:rPr lang="is-IS" b="1">
                <a:latin typeface="Arial" panose="020B0604020202020204" pitchFamily="34" charset="0"/>
                <a:cs typeface="Arial" panose="020B0604020202020204" pitchFamily="34" charset="0"/>
              </a:rPr>
              <a:t>Mein Kampf</a:t>
            </a:r>
            <a:r>
              <a:rPr lang="is-IS">
                <a:latin typeface="Arial" panose="020B0604020202020204" pitchFamily="34" charset="0"/>
                <a:cs typeface="Arial" panose="020B0604020202020204" pitchFamily="34" charset="0"/>
              </a:rPr>
              <a:t>. </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Í kjölfar kreppunnar miklu tókst nasistaflokknum að auka fylgi sitt og árið 1933 var hann skipaður kanslari í samsteypustjórn hægri og mið flokka. Ári seinna varð hann leiðtogi Þýskalands, </a:t>
            </a:r>
            <a:r>
              <a:rPr lang="is-IS" b="1">
                <a:latin typeface="Arial" panose="020B0604020202020204" pitchFamily="34" charset="0"/>
                <a:cs typeface="Arial" panose="020B0604020202020204" pitchFamily="34" charset="0"/>
              </a:rPr>
              <a:t>Fuhrer</a:t>
            </a:r>
            <a:r>
              <a:rPr lang="is-IS">
                <a:latin typeface="Arial" panose="020B0604020202020204" pitchFamily="34" charset="0"/>
                <a:cs typeface="Arial" panose="020B0604020202020204" pitchFamily="34" charset="0"/>
              </a:rPr>
              <a:t>, og tók sér alræðisvald og vald forseta eftir lát Hindenburgs forseta Þýskalands. Hann hóf seinni heimsstyrjöldina með innrás inn í </a:t>
            </a:r>
            <a:r>
              <a:rPr lang="is-IS" b="1">
                <a:latin typeface="Arial" panose="020B0604020202020204" pitchFamily="34" charset="0"/>
                <a:cs typeface="Arial" panose="020B0604020202020204" pitchFamily="34" charset="0"/>
              </a:rPr>
              <a:t>Pólland</a:t>
            </a:r>
            <a:r>
              <a:rPr lang="is-IS">
                <a:latin typeface="Arial" panose="020B0604020202020204" pitchFamily="34" charset="0"/>
                <a:cs typeface="Arial" panose="020B0604020202020204" pitchFamily="34" charset="0"/>
              </a:rPr>
              <a:t> árið 1939. Eftir velgegni framan af snerist taflið með ósigri við Stalingrad árið 1943 og að lokum tók hann sitt eigið líf stuttu áður en Berlín féll. Hann giftist kærustu sinni til marga ára áður, </a:t>
            </a:r>
            <a:r>
              <a:rPr lang="is-IS" b="1">
                <a:latin typeface="Arial" panose="020B0604020202020204" pitchFamily="34" charset="0"/>
                <a:cs typeface="Arial" panose="020B0604020202020204" pitchFamily="34" charset="0"/>
              </a:rPr>
              <a:t>Evu Braun</a:t>
            </a:r>
            <a:r>
              <a:rPr lang="is-IS">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744601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Charles de Gaulle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92968" y="1690687"/>
            <a:ext cx="3961665" cy="4844487"/>
          </a:xfrm>
        </p:spPr>
      </p:pic>
      <p:sp>
        <p:nvSpPr>
          <p:cNvPr id="5" name="TextBox 4"/>
          <p:cNvSpPr txBox="1"/>
          <p:nvPr/>
        </p:nvSpPr>
        <p:spPr>
          <a:xfrm>
            <a:off x="838200" y="1552033"/>
            <a:ext cx="6258560" cy="4524315"/>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Charles de Gaulle </a:t>
            </a:r>
            <a:r>
              <a:rPr lang="is-IS">
                <a:latin typeface="Arial" panose="020B0604020202020204" pitchFamily="34" charset="0"/>
                <a:cs typeface="Arial" panose="020B0604020202020204" pitchFamily="34" charset="0"/>
              </a:rPr>
              <a:t>(1890-1970) var forseti </a:t>
            </a:r>
            <a:r>
              <a:rPr lang="is-IS" b="1">
                <a:latin typeface="Arial" panose="020B0604020202020204" pitchFamily="34" charset="0"/>
                <a:cs typeface="Arial" panose="020B0604020202020204" pitchFamily="34" charset="0"/>
              </a:rPr>
              <a:t>Frakklands</a:t>
            </a:r>
            <a:r>
              <a:rPr lang="is-IS">
                <a:latin typeface="Arial" panose="020B0604020202020204" pitchFamily="34" charset="0"/>
                <a:cs typeface="Arial" panose="020B0604020202020204" pitchFamily="34" charset="0"/>
              </a:rPr>
              <a:t> frá </a:t>
            </a:r>
            <a:r>
              <a:rPr lang="is-IS" b="1">
                <a:latin typeface="Arial" panose="020B0604020202020204" pitchFamily="34" charset="0"/>
                <a:cs typeface="Arial" panose="020B0604020202020204" pitchFamily="34" charset="0"/>
              </a:rPr>
              <a:t>1958-1969</a:t>
            </a:r>
            <a:r>
              <a:rPr lang="is-IS">
                <a:latin typeface="Arial" panose="020B0604020202020204" pitchFamily="34" charset="0"/>
                <a:cs typeface="Arial" panose="020B0604020202020204" pitchFamily="34" charset="0"/>
              </a:rPr>
              <a:t>. Hann hafði verið </a:t>
            </a:r>
            <a:r>
              <a:rPr lang="is-IS" b="1">
                <a:latin typeface="Arial" panose="020B0604020202020204" pitchFamily="34" charset="0"/>
                <a:cs typeface="Arial" panose="020B0604020202020204" pitchFamily="34" charset="0"/>
              </a:rPr>
              <a:t>hershöfðingi</a:t>
            </a:r>
            <a:r>
              <a:rPr lang="is-IS">
                <a:latin typeface="Arial" panose="020B0604020202020204" pitchFamily="34" charset="0"/>
                <a:cs typeface="Arial" panose="020B0604020202020204" pitchFamily="34" charset="0"/>
              </a:rPr>
              <a:t> í her Frakka í seinni heimsstyrjöldinni og eftir fall Frakklands varð leiðtogi </a:t>
            </a:r>
            <a:r>
              <a:rPr lang="is-IS" b="1">
                <a:latin typeface="Arial" panose="020B0604020202020204" pitchFamily="34" charset="0"/>
                <a:cs typeface="Arial" panose="020B0604020202020204" pitchFamily="34" charset="0"/>
              </a:rPr>
              <a:t>Frjálsra</a:t>
            </a:r>
            <a:r>
              <a:rPr lang="is-IS">
                <a:latin typeface="Arial" panose="020B0604020202020204" pitchFamily="34" charset="0"/>
                <a:cs typeface="Arial" panose="020B0604020202020204" pitchFamily="34" charset="0"/>
              </a:rPr>
              <a:t> </a:t>
            </a:r>
            <a:r>
              <a:rPr lang="is-IS" b="1">
                <a:latin typeface="Arial" panose="020B0604020202020204" pitchFamily="34" charset="0"/>
                <a:cs typeface="Arial" panose="020B0604020202020204" pitchFamily="34" charset="0"/>
              </a:rPr>
              <a:t>Frakka</a:t>
            </a:r>
            <a:r>
              <a:rPr lang="is-IS">
                <a:latin typeface="Arial" panose="020B0604020202020204" pitchFamily="34" charset="0"/>
                <a:cs typeface="Arial" panose="020B0604020202020204" pitchFamily="34" charset="0"/>
              </a:rPr>
              <a:t> sem höfðu bækistöð í London. Hann dró sig í hlé eftir stríð en eftir borgarastríð í Alsír og stjórnarkreppu snéri hann aftur og varð forseti í Frakklandi. Hann setti nýja stjórnarskrá, og stofnaði </a:t>
            </a:r>
            <a:r>
              <a:rPr lang="is-IS" b="1">
                <a:latin typeface="Arial" panose="020B0604020202020204" pitchFamily="34" charset="0"/>
                <a:cs typeface="Arial" panose="020B0604020202020204" pitchFamily="34" charset="0"/>
              </a:rPr>
              <a:t>fimmta lýðveldið </a:t>
            </a:r>
            <a:r>
              <a:rPr lang="is-IS">
                <a:latin typeface="Arial" panose="020B0604020202020204" pitchFamily="34" charset="0"/>
                <a:cs typeface="Arial" panose="020B0604020202020204" pitchFamily="34" charset="0"/>
              </a:rPr>
              <a:t>og efldi völd forseta landsins til muna.</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Þrátt fyrir að hafa verið náinn bandamaður Breta í stríðinu, reyndist hann þeim erfiður með því að neita tvívegis að hleypa þeim inn í </a:t>
            </a:r>
            <a:r>
              <a:rPr lang="is-IS" b="1">
                <a:latin typeface="Arial" panose="020B0604020202020204" pitchFamily="34" charset="0"/>
                <a:cs typeface="Arial" panose="020B0604020202020204" pitchFamily="34" charset="0"/>
              </a:rPr>
              <a:t>Evrópubandalagið</a:t>
            </a:r>
            <a:r>
              <a:rPr lang="is-IS">
                <a:latin typeface="Arial" panose="020B0604020202020204" pitchFamily="34" charset="0"/>
                <a:cs typeface="Arial" panose="020B0604020202020204" pitchFamily="34" charset="0"/>
              </a:rPr>
              <a:t> (nú ESB). Í heimsókn í </a:t>
            </a:r>
            <a:r>
              <a:rPr lang="is-IS" b="1">
                <a:latin typeface="Arial" panose="020B0604020202020204" pitchFamily="34" charset="0"/>
                <a:cs typeface="Arial" panose="020B0604020202020204" pitchFamily="34" charset="0"/>
              </a:rPr>
              <a:t>Quebec</a:t>
            </a:r>
            <a:r>
              <a:rPr lang="is-IS">
                <a:latin typeface="Arial" panose="020B0604020202020204" pitchFamily="34" charset="0"/>
                <a:cs typeface="Arial" panose="020B0604020202020204" pitchFamily="34" charset="0"/>
              </a:rPr>
              <a:t>, Kanada, árið 1967 vakti hann deilur með því að hvetja frönsku mælandi íbúa til að stofna sjálfstætt ríki. Árið 1968 urðu mikil mótmæli í Frakklandi. De Gaulle sagði af sér embætti árið 1969 og dó ári seinna.</a:t>
            </a:r>
          </a:p>
        </p:txBody>
      </p:sp>
    </p:spTree>
    <p:extLst>
      <p:ext uri="{BB962C8B-B14F-4D97-AF65-F5344CB8AC3E}">
        <p14:creationId xmlns:p14="http://schemas.microsoft.com/office/powerpoint/2010/main" val="5798364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7650" y="365124"/>
            <a:ext cx="10515600" cy="1325563"/>
          </a:xfrm>
        </p:spPr>
        <p:txBody>
          <a:bodyPr/>
          <a:lstStyle/>
          <a:p>
            <a:r>
              <a:rPr lang="en-GB">
                <a:latin typeface="Arial Black" panose="020B0A04020102020204" pitchFamily="34" charset="0"/>
              </a:rPr>
              <a:t>Mao Zedong (</a:t>
            </a:r>
            <a:r>
              <a:rPr lang="en-GB" err="1">
                <a:latin typeface="Arial Black" panose="020B0A04020102020204" pitchFamily="34" charset="0"/>
              </a:rPr>
              <a:t>Kína</a:t>
            </a:r>
            <a:r>
              <a:rPr lang="en-GB">
                <a:latin typeface="Arial Black" panose="020B0A04020102020204" pitchFamily="34" charset="0"/>
              </a:rPr>
              <a:t>)</a:t>
            </a:r>
            <a:endParaRPr lang="is-IS">
              <a:latin typeface="Arial Black" panose="020B0A04020102020204" pitchFamily="34" charset="0"/>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829550" y="855725"/>
            <a:ext cx="4165840" cy="5519738"/>
          </a:xfrm>
        </p:spPr>
      </p:pic>
      <p:sp>
        <p:nvSpPr>
          <p:cNvPr id="5" name="TextBox 4"/>
          <p:cNvSpPr txBox="1"/>
          <p:nvPr/>
        </p:nvSpPr>
        <p:spPr>
          <a:xfrm>
            <a:off x="247650" y="1493919"/>
            <a:ext cx="7581900" cy="5078313"/>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Mao Zedong </a:t>
            </a:r>
            <a:r>
              <a:rPr lang="is-IS">
                <a:latin typeface="Arial" panose="020B0604020202020204" pitchFamily="34" charset="0"/>
                <a:cs typeface="Arial" panose="020B0604020202020204" pitchFamily="34" charset="0"/>
              </a:rPr>
              <a:t>(1893-1976) var jafnan kallaður </a:t>
            </a:r>
            <a:r>
              <a:rPr lang="is-IS" b="1">
                <a:latin typeface="Arial" panose="020B0604020202020204" pitchFamily="34" charset="0"/>
                <a:cs typeface="Arial" panose="020B0604020202020204" pitchFamily="34" charset="0"/>
              </a:rPr>
              <a:t>Mao formaður</a:t>
            </a:r>
            <a:r>
              <a:rPr lang="is-IS">
                <a:latin typeface="Arial" panose="020B0604020202020204" pitchFamily="34" charset="0"/>
                <a:cs typeface="Arial" panose="020B0604020202020204" pitchFamily="34" charset="0"/>
              </a:rPr>
              <a:t>. Maó var meðal stofnenda kínverska </a:t>
            </a:r>
            <a:r>
              <a:rPr lang="is-IS" b="1">
                <a:latin typeface="Arial" panose="020B0604020202020204" pitchFamily="34" charset="0"/>
                <a:cs typeface="Arial" panose="020B0604020202020204" pitchFamily="34" charset="0"/>
              </a:rPr>
              <a:t>kommúnistaflokkinn</a:t>
            </a:r>
            <a:r>
              <a:rPr lang="is-IS">
                <a:latin typeface="Arial" panose="020B0604020202020204" pitchFamily="34" charset="0"/>
                <a:cs typeface="Arial" panose="020B0604020202020204" pitchFamily="34" charset="0"/>
              </a:rPr>
              <a:t> árið 1927.  Sama ár braust út borgarastyrjöld milli Kommúnistaflokksins og stuðningsmanna stjórnarflokksins </a:t>
            </a:r>
            <a:r>
              <a:rPr lang="is-IS" b="1">
                <a:latin typeface="Arial" panose="020B0604020202020204" pitchFamily="34" charset="0"/>
                <a:cs typeface="Arial" panose="020B0604020202020204" pitchFamily="34" charset="0"/>
              </a:rPr>
              <a:t>Kuomintang</a:t>
            </a:r>
            <a:r>
              <a:rPr lang="is-IS">
                <a:latin typeface="Arial" panose="020B0604020202020204" pitchFamily="34" charset="0"/>
                <a:cs typeface="Arial" panose="020B0604020202020204" pitchFamily="34" charset="0"/>
              </a:rPr>
              <a:t>. Í </a:t>
            </a:r>
            <a:r>
              <a:rPr lang="is-IS" b="1">
                <a:latin typeface="Arial" panose="020B0604020202020204" pitchFamily="34" charset="0"/>
                <a:cs typeface="Arial" panose="020B0604020202020204" pitchFamily="34" charset="0"/>
              </a:rPr>
              <a:t>Göngunni miklu </a:t>
            </a:r>
            <a:r>
              <a:rPr lang="is-IS">
                <a:latin typeface="Arial" panose="020B0604020202020204" pitchFamily="34" charset="0"/>
                <a:cs typeface="Arial" panose="020B0604020202020204" pitchFamily="34" charset="0"/>
              </a:rPr>
              <a:t>1935-37 var Maó leiðtogi kommúnista. Á árunum 1937-1945 sameinuðust Kuomintang og Kommúnistaflokkurinn í baráttunni gegn Japan, en eftir seinni heimsstyrjöld tókst Kommúnistum að sigra borgarastyrjöldina og árið </a:t>
            </a:r>
            <a:r>
              <a:rPr lang="is-IS" b="1">
                <a:latin typeface="Arial" panose="020B0604020202020204" pitchFamily="34" charset="0"/>
                <a:cs typeface="Arial" panose="020B0604020202020204" pitchFamily="34" charset="0"/>
              </a:rPr>
              <a:t>1949</a:t>
            </a:r>
            <a:r>
              <a:rPr lang="is-IS">
                <a:latin typeface="Arial" panose="020B0604020202020204" pitchFamily="34" charset="0"/>
                <a:cs typeface="Arial" panose="020B0604020202020204" pitchFamily="34" charset="0"/>
              </a:rPr>
              <a:t> var </a:t>
            </a:r>
            <a:r>
              <a:rPr lang="is-IS" b="1">
                <a:latin typeface="Arial" panose="020B0604020202020204" pitchFamily="34" charset="0"/>
                <a:cs typeface="Arial" panose="020B0604020202020204" pitchFamily="34" charset="0"/>
              </a:rPr>
              <a:t>Alþýðulýðveldið Kína </a:t>
            </a:r>
            <a:r>
              <a:rPr lang="is-IS">
                <a:latin typeface="Arial" panose="020B0604020202020204" pitchFamily="34" charset="0"/>
                <a:cs typeface="Arial" panose="020B0604020202020204" pitchFamily="34" charset="0"/>
              </a:rPr>
              <a:t>stofnað og Mao var leiðtogi þess til 1974.</a:t>
            </a:r>
          </a:p>
          <a:p>
            <a:r>
              <a:rPr lang="is-IS">
                <a:latin typeface="Arial" panose="020B0604020202020204" pitchFamily="34" charset="0"/>
                <a:cs typeface="Arial" panose="020B0604020202020204" pitchFamily="34" charset="0"/>
              </a:rPr>
              <a:t>Árið 1957 hóf Maó </a:t>
            </a:r>
            <a:r>
              <a:rPr lang="is-IS" b="1">
                <a:latin typeface="Arial" panose="020B0604020202020204" pitchFamily="34" charset="0"/>
                <a:cs typeface="Arial" panose="020B0604020202020204" pitchFamily="34" charset="0"/>
              </a:rPr>
              <a:t>Risastökkið</a:t>
            </a:r>
            <a:r>
              <a:rPr lang="is-IS">
                <a:latin typeface="Arial" panose="020B0604020202020204" pitchFamily="34" charset="0"/>
                <a:cs typeface="Arial" panose="020B0604020202020204" pitchFamily="34" charset="0"/>
              </a:rPr>
              <a:t> sem var ætlað að iðnvæða Kína á met tíma. Tilraunin misheppnaðist herfilega og ein mesta hungursneyð í sögunni fylgdi. Í kjölfarið minnkuðu völd Maó innan kommúnistaflokksins en árið 1966 sneri hann vörn í sókn þegar hann boðaði </a:t>
            </a:r>
            <a:r>
              <a:rPr lang="is-IS" b="1">
                <a:latin typeface="Arial" panose="020B0604020202020204" pitchFamily="34" charset="0"/>
                <a:cs typeface="Arial" panose="020B0604020202020204" pitchFamily="34" charset="0"/>
              </a:rPr>
              <a:t>Menningarbyltinguna</a:t>
            </a:r>
            <a:r>
              <a:rPr lang="is-IS">
                <a:latin typeface="Arial" panose="020B0604020202020204" pitchFamily="34" charset="0"/>
                <a:cs typeface="Arial" panose="020B0604020202020204" pitchFamily="34" charset="0"/>
              </a:rPr>
              <a:t>. Í kjölfarið upphófst mikil hreinsun innan kínverska menntakerfisins sem smitaði út frá sér. Hann gaf út um það leyti rit, sem jafnan er kallað </a:t>
            </a:r>
            <a:r>
              <a:rPr lang="is-IS" b="1">
                <a:latin typeface="Arial" panose="020B0604020202020204" pitchFamily="34" charset="0"/>
                <a:cs typeface="Arial" panose="020B0604020202020204" pitchFamily="34" charset="0"/>
              </a:rPr>
              <a:t>Rauða kverið</a:t>
            </a:r>
            <a:r>
              <a:rPr lang="is-IS">
                <a:latin typeface="Arial" panose="020B0604020202020204" pitchFamily="34" charset="0"/>
                <a:cs typeface="Arial" panose="020B0604020202020204" pitchFamily="34" charset="0"/>
              </a:rPr>
              <a:t>. Eiginkona hans </a:t>
            </a:r>
            <a:r>
              <a:rPr lang="is-IS" b="1">
                <a:latin typeface="Arial" panose="020B0604020202020204" pitchFamily="34" charset="0"/>
                <a:cs typeface="Arial" panose="020B0604020202020204" pitchFamily="34" charset="0"/>
              </a:rPr>
              <a:t>Jiang Qing </a:t>
            </a:r>
            <a:r>
              <a:rPr lang="is-IS">
                <a:latin typeface="Arial" panose="020B0604020202020204" pitchFamily="34" charset="0"/>
                <a:cs typeface="Arial" panose="020B0604020202020204" pitchFamily="34" charset="0"/>
              </a:rPr>
              <a:t>fór þar fremst í flokki og hún leiddi </a:t>
            </a:r>
            <a:r>
              <a:rPr lang="is-IS" b="1">
                <a:latin typeface="Arial" panose="020B0604020202020204" pitchFamily="34" charset="0"/>
                <a:cs typeface="Arial" panose="020B0604020202020204" pitchFamily="34" charset="0"/>
              </a:rPr>
              <a:t>fjórmenningaklíkuna</a:t>
            </a:r>
            <a:r>
              <a:rPr lang="is-IS">
                <a:latin typeface="Arial" panose="020B0604020202020204" pitchFamily="34" charset="0"/>
                <a:cs typeface="Arial" panose="020B0604020202020204" pitchFamily="34" charset="0"/>
              </a:rPr>
              <a:t> sem tók við völdum eftir lát hans 1976.</a:t>
            </a:r>
          </a:p>
        </p:txBody>
      </p:sp>
    </p:spTree>
    <p:extLst>
      <p:ext uri="{BB962C8B-B14F-4D97-AF65-F5344CB8AC3E}">
        <p14:creationId xmlns:p14="http://schemas.microsoft.com/office/powerpoint/2010/main" val="4230240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John</a:t>
            </a:r>
            <a:r>
              <a:rPr lang="is-IS" b="1"/>
              <a:t> F. </a:t>
            </a:r>
            <a:r>
              <a:rPr lang="is-IS">
                <a:latin typeface="Arial Black" panose="020B0A04020102020204" pitchFamily="34" charset="0"/>
              </a:rPr>
              <a:t>Kennedy</a:t>
            </a:r>
            <a:r>
              <a:rPr lang="is-IS" b="1"/>
              <a:t> </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31200" y="1690688"/>
            <a:ext cx="3379680" cy="4351338"/>
          </a:xfrm>
        </p:spPr>
      </p:pic>
      <p:sp>
        <p:nvSpPr>
          <p:cNvPr id="3" name="TextBox 2"/>
          <p:cNvSpPr txBox="1"/>
          <p:nvPr/>
        </p:nvSpPr>
        <p:spPr>
          <a:xfrm>
            <a:off x="838200" y="1690688"/>
            <a:ext cx="7110664" cy="3970318"/>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John Fitzgerald Kennedy </a:t>
            </a:r>
            <a:r>
              <a:rPr lang="is-IS">
                <a:latin typeface="Arial" panose="020B0604020202020204" pitchFamily="34" charset="0"/>
                <a:cs typeface="Arial" panose="020B0604020202020204" pitchFamily="34" charset="0"/>
              </a:rPr>
              <a:t>(f. 1917) var </a:t>
            </a:r>
            <a:r>
              <a:rPr lang="is-IS" b="1">
                <a:latin typeface="Arial" panose="020B0604020202020204" pitchFamily="34" charset="0"/>
                <a:cs typeface="Arial" panose="020B0604020202020204" pitchFamily="34" charset="0"/>
              </a:rPr>
              <a:t>yngsti forseti </a:t>
            </a:r>
            <a:r>
              <a:rPr lang="is-IS">
                <a:latin typeface="Arial" panose="020B0604020202020204" pitchFamily="34" charset="0"/>
                <a:cs typeface="Arial" panose="020B0604020202020204" pitchFamily="34" charset="0"/>
              </a:rPr>
              <a:t>Bandaríkjanna, til að vera </a:t>
            </a:r>
            <a:r>
              <a:rPr lang="is-IS" b="1">
                <a:latin typeface="Arial" panose="020B0604020202020204" pitchFamily="34" charset="0"/>
                <a:cs typeface="Arial" panose="020B0604020202020204" pitchFamily="34" charset="0"/>
              </a:rPr>
              <a:t>kjörinn</a:t>
            </a:r>
            <a:r>
              <a:rPr lang="is-IS">
                <a:latin typeface="Arial" panose="020B0604020202020204" pitchFamily="34" charset="0"/>
                <a:cs typeface="Arial" panose="020B0604020202020204" pitchFamily="34" charset="0"/>
              </a:rPr>
              <a:t> 43 ára gamall. (Roosevelt var yngri þegar hann varð forseti) og jafnframt fyrsti </a:t>
            </a:r>
            <a:r>
              <a:rPr lang="is-IS" b="1">
                <a:latin typeface="Arial" panose="020B0604020202020204" pitchFamily="34" charset="0"/>
                <a:cs typeface="Arial" panose="020B0604020202020204" pitchFamily="34" charset="0"/>
              </a:rPr>
              <a:t>kaþólski</a:t>
            </a:r>
            <a:r>
              <a:rPr lang="is-IS">
                <a:latin typeface="Arial" panose="020B0604020202020204" pitchFamily="34" charset="0"/>
                <a:cs typeface="Arial" panose="020B0604020202020204" pitchFamily="34" charset="0"/>
              </a:rPr>
              <a:t> forsetinn. Kennedy vann </a:t>
            </a:r>
            <a:r>
              <a:rPr lang="is-IS" b="1">
                <a:latin typeface="Arial" panose="020B0604020202020204" pitchFamily="34" charset="0"/>
                <a:cs typeface="Arial" panose="020B0604020202020204" pitchFamily="34" charset="0"/>
              </a:rPr>
              <a:t>Richard Nixon</a:t>
            </a:r>
            <a:r>
              <a:rPr lang="is-IS">
                <a:latin typeface="Arial" panose="020B0604020202020204" pitchFamily="34" charset="0"/>
                <a:cs typeface="Arial" panose="020B0604020202020204" pitchFamily="34" charset="0"/>
              </a:rPr>
              <a:t>, varaforseta Eisenhower árið 1960. Árið 1962 stóðu Bandaríkin og Sovétríkin á barmi kjarnorkustyrjaldar yfir </a:t>
            </a:r>
            <a:r>
              <a:rPr lang="is-IS" b="1">
                <a:latin typeface="Arial" panose="020B0604020202020204" pitchFamily="34" charset="0"/>
                <a:cs typeface="Arial" panose="020B0604020202020204" pitchFamily="34" charset="0"/>
              </a:rPr>
              <a:t>Kúbudeildunni</a:t>
            </a:r>
            <a:r>
              <a:rPr lang="is-IS">
                <a:latin typeface="Arial" panose="020B0604020202020204" pitchFamily="34" charset="0"/>
                <a:cs typeface="Arial" panose="020B0604020202020204" pitchFamily="34" charset="0"/>
              </a:rPr>
              <a:t> en þó leystist. Í tíð Kennedys hófu Bandaríkin afskipti af Víetnam stríðinu. </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Kennedy var </a:t>
            </a:r>
            <a:r>
              <a:rPr lang="is-IS" b="1">
                <a:latin typeface="Arial" panose="020B0604020202020204" pitchFamily="34" charset="0"/>
                <a:cs typeface="Arial" panose="020B0604020202020204" pitchFamily="34" charset="0"/>
              </a:rPr>
              <a:t>skotinn</a:t>
            </a:r>
            <a:r>
              <a:rPr lang="is-IS">
                <a:latin typeface="Arial" panose="020B0604020202020204" pitchFamily="34" charset="0"/>
                <a:cs typeface="Arial" panose="020B0604020202020204" pitchFamily="34" charset="0"/>
              </a:rPr>
              <a:t> til bana í </a:t>
            </a:r>
            <a:r>
              <a:rPr lang="is-IS" b="1">
                <a:latin typeface="Arial" panose="020B0604020202020204" pitchFamily="34" charset="0"/>
                <a:cs typeface="Arial" panose="020B0604020202020204" pitchFamily="34" charset="0"/>
              </a:rPr>
              <a:t>Dallas</a:t>
            </a:r>
            <a:r>
              <a:rPr lang="is-IS">
                <a:latin typeface="Arial" panose="020B0604020202020204" pitchFamily="34" charset="0"/>
                <a:cs typeface="Arial" panose="020B0604020202020204" pitchFamily="34" charset="0"/>
              </a:rPr>
              <a:t> í nóvember 1963. </a:t>
            </a:r>
            <a:r>
              <a:rPr lang="is-IS" b="1">
                <a:latin typeface="Arial" panose="020B0604020202020204" pitchFamily="34" charset="0"/>
                <a:cs typeface="Arial" panose="020B0604020202020204" pitchFamily="34" charset="0"/>
              </a:rPr>
              <a:t>Warren nefndin </a:t>
            </a:r>
            <a:r>
              <a:rPr lang="is-IS">
                <a:latin typeface="Arial" panose="020B0604020202020204" pitchFamily="34" charset="0"/>
                <a:cs typeface="Arial" panose="020B0604020202020204" pitchFamily="34" charset="0"/>
              </a:rPr>
              <a:t>komst að því að </a:t>
            </a:r>
            <a:r>
              <a:rPr lang="is-IS" b="1">
                <a:latin typeface="Arial" panose="020B0604020202020204" pitchFamily="34" charset="0"/>
                <a:cs typeface="Arial" panose="020B0604020202020204" pitchFamily="34" charset="0"/>
              </a:rPr>
              <a:t>Lee Harvey Oswald </a:t>
            </a:r>
            <a:r>
              <a:rPr lang="is-IS">
                <a:latin typeface="Arial" panose="020B0604020202020204" pitchFamily="34" charset="0"/>
                <a:cs typeface="Arial" panose="020B0604020202020204" pitchFamily="34" charset="0"/>
              </a:rPr>
              <a:t>hafi staðið á bak við morðið.</a:t>
            </a:r>
          </a:p>
          <a:p>
            <a:endParaRPr lang="is-IS">
              <a:latin typeface="Arial" panose="020B0604020202020204" pitchFamily="34" charset="0"/>
              <a:cs typeface="Arial" panose="020B0604020202020204" pitchFamily="34" charset="0"/>
            </a:endParaRPr>
          </a:p>
          <a:p>
            <a:r>
              <a:rPr lang="is-IS">
                <a:latin typeface="Arial" panose="020B0604020202020204" pitchFamily="34" charset="0"/>
                <a:cs typeface="Arial" panose="020B0604020202020204" pitchFamily="34" charset="0"/>
              </a:rPr>
              <a:t>Eiginkona hans </a:t>
            </a:r>
            <a:r>
              <a:rPr lang="is-IS" b="1">
                <a:latin typeface="Arial" panose="020B0604020202020204" pitchFamily="34" charset="0"/>
                <a:cs typeface="Arial" panose="020B0604020202020204" pitchFamily="34" charset="0"/>
              </a:rPr>
              <a:t>Jacqueline Kennedy </a:t>
            </a:r>
            <a:r>
              <a:rPr lang="is-IS">
                <a:latin typeface="Arial" panose="020B0604020202020204" pitchFamily="34" charset="0"/>
                <a:cs typeface="Arial" panose="020B0604020202020204" pitchFamily="34" charset="0"/>
              </a:rPr>
              <a:t>þótti með glæsilegustu forsetafrúm sögunnar.</a:t>
            </a:r>
          </a:p>
        </p:txBody>
      </p:sp>
    </p:spTree>
    <p:extLst>
      <p:ext uri="{BB962C8B-B14F-4D97-AF65-F5344CB8AC3E}">
        <p14:creationId xmlns:p14="http://schemas.microsoft.com/office/powerpoint/2010/main" val="10044874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is-IS">
                <a:latin typeface="Arial Black" panose="020B0A04020102020204" pitchFamily="34" charset="0"/>
              </a:rPr>
              <a:t>Nelson</a:t>
            </a:r>
            <a:r>
              <a:rPr lang="is-IS"/>
              <a:t> </a:t>
            </a:r>
            <a:r>
              <a:rPr lang="is-IS">
                <a:latin typeface="Arial Black" panose="020B0A04020102020204" pitchFamily="34" charset="0"/>
              </a:rPr>
              <a:t>Mandela</a:t>
            </a:r>
          </a:p>
        </p:txBody>
      </p:sp>
      <p:pic>
        <p:nvPicPr>
          <p:cNvPr id="2050" name="Picture 2" descr="File:Nelson Mandela-2008 (edit).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442200" y="846798"/>
            <a:ext cx="4276036" cy="55822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838200" y="1690688"/>
            <a:ext cx="6121896" cy="3970318"/>
          </a:xfrm>
          <a:prstGeom prst="rect">
            <a:avLst/>
          </a:prstGeom>
          <a:noFill/>
        </p:spPr>
        <p:txBody>
          <a:bodyPr wrap="square" rtlCol="0">
            <a:spAutoFit/>
          </a:bodyPr>
          <a:lstStyle/>
          <a:p>
            <a:r>
              <a:rPr lang="is-IS" b="1">
                <a:latin typeface="Arial" panose="020B0604020202020204" pitchFamily="34" charset="0"/>
                <a:cs typeface="Arial" panose="020B0604020202020204" pitchFamily="34" charset="0"/>
              </a:rPr>
              <a:t>Nelson Mandela </a:t>
            </a:r>
            <a:r>
              <a:rPr lang="is-IS">
                <a:latin typeface="Arial" panose="020B0604020202020204" pitchFamily="34" charset="0"/>
                <a:cs typeface="Arial" panose="020B0604020202020204" pitchFamily="34" charset="0"/>
              </a:rPr>
              <a:t>(1918-2013) var fyrsti forseti </a:t>
            </a:r>
            <a:r>
              <a:rPr lang="is-IS" b="1">
                <a:latin typeface="Arial" panose="020B0604020202020204" pitchFamily="34" charset="0"/>
                <a:cs typeface="Arial" panose="020B0604020202020204" pitchFamily="34" charset="0"/>
              </a:rPr>
              <a:t>Suður-Afríku</a:t>
            </a:r>
            <a:r>
              <a:rPr lang="is-IS">
                <a:latin typeface="Arial" panose="020B0604020202020204" pitchFamily="34" charset="0"/>
                <a:cs typeface="Arial" panose="020B0604020202020204" pitchFamily="34" charset="0"/>
              </a:rPr>
              <a:t> eftir að aðskilnaðarstefnu hvíta minnihlutans leið undir lok árið 1993. Hann var forseti frá 1994 til 1999. Mandela var af ættbálki </a:t>
            </a:r>
            <a:r>
              <a:rPr lang="is-IS" b="1">
                <a:latin typeface="Arial" panose="020B0604020202020204" pitchFamily="34" charset="0"/>
                <a:cs typeface="Arial" panose="020B0604020202020204" pitchFamily="34" charset="0"/>
              </a:rPr>
              <a:t>Xhosa</a:t>
            </a:r>
            <a:r>
              <a:rPr lang="is-IS">
                <a:latin typeface="Arial" panose="020B0604020202020204" pitchFamily="34" charset="0"/>
                <a:cs typeface="Arial" panose="020B0604020202020204" pitchFamily="34" charset="0"/>
              </a:rPr>
              <a:t>. Hann lærði lögfræði og gekk ungur til liðs við </a:t>
            </a:r>
            <a:r>
              <a:rPr lang="is-IS" b="1">
                <a:latin typeface="Arial" panose="020B0604020202020204" pitchFamily="34" charset="0"/>
                <a:cs typeface="Arial" panose="020B0604020202020204" pitchFamily="34" charset="0"/>
              </a:rPr>
              <a:t>Afríska þjóðarráðið </a:t>
            </a:r>
            <a:r>
              <a:rPr lang="is-IS">
                <a:latin typeface="Arial" panose="020B0604020202020204" pitchFamily="34" charset="0"/>
                <a:cs typeface="Arial" panose="020B0604020202020204" pitchFamily="34" charset="0"/>
              </a:rPr>
              <a:t>(ANC) sem barðist gegn aðskilnaðarstefnu hvíta minnihlutans (</a:t>
            </a:r>
            <a:r>
              <a:rPr lang="is-IS" b="1">
                <a:latin typeface="Arial" panose="020B0604020202020204" pitchFamily="34" charset="0"/>
                <a:cs typeface="Arial" panose="020B0604020202020204" pitchFamily="34" charset="0"/>
              </a:rPr>
              <a:t>Apartheid</a:t>
            </a:r>
            <a:r>
              <a:rPr lang="is-IS">
                <a:latin typeface="Arial" panose="020B0604020202020204" pitchFamily="34" charset="0"/>
                <a:cs typeface="Arial" panose="020B0604020202020204" pitchFamily="34" charset="0"/>
              </a:rPr>
              <a:t>). Þó hann hafi í upphafi staðið fyrir friðsamlegum mótmælum þá gerðist hann róttækari og tók þátt í skemmdarverkum sem leiddu til fangelsunar árið 1962. Hann sat inni í 27 ár lengst af í fangelsi á </a:t>
            </a:r>
            <a:r>
              <a:rPr lang="is-IS" b="1">
                <a:latin typeface="Arial" panose="020B0604020202020204" pitchFamily="34" charset="0"/>
                <a:cs typeface="Arial" panose="020B0604020202020204" pitchFamily="34" charset="0"/>
              </a:rPr>
              <a:t>Robben eyju</a:t>
            </a:r>
            <a:r>
              <a:rPr lang="is-IS">
                <a:latin typeface="Arial" panose="020B0604020202020204" pitchFamily="34" charset="0"/>
                <a:cs typeface="Arial" panose="020B0604020202020204" pitchFamily="34" charset="0"/>
              </a:rPr>
              <a:t>. Honum var sleppt árið 1990 og vann </a:t>
            </a:r>
            <a:r>
              <a:rPr lang="is-IS" b="1">
                <a:latin typeface="Arial" panose="020B0604020202020204" pitchFamily="34" charset="0"/>
                <a:cs typeface="Arial" panose="020B0604020202020204" pitchFamily="34" charset="0"/>
              </a:rPr>
              <a:t>F.W. De Klerk </a:t>
            </a:r>
            <a:r>
              <a:rPr lang="is-IS">
                <a:latin typeface="Arial" panose="020B0604020202020204" pitchFamily="34" charset="0"/>
                <a:cs typeface="Arial" panose="020B0604020202020204" pitchFamily="34" charset="0"/>
              </a:rPr>
              <a:t>í forseta kosningum árið 1994 þar sem blökkumenn máttu í fyrsta sinn kjósa. Hann hlaut </a:t>
            </a:r>
            <a:r>
              <a:rPr lang="is-IS" b="1">
                <a:latin typeface="Arial" panose="020B0604020202020204" pitchFamily="34" charset="0"/>
                <a:cs typeface="Arial" panose="020B0604020202020204" pitchFamily="34" charset="0"/>
              </a:rPr>
              <a:t>friðarverðlaun Nóbels </a:t>
            </a:r>
            <a:r>
              <a:rPr lang="is-IS">
                <a:latin typeface="Arial" panose="020B0604020202020204" pitchFamily="34" charset="0"/>
                <a:cs typeface="Arial" panose="020B0604020202020204" pitchFamily="34" charset="0"/>
              </a:rPr>
              <a:t>árið 1993.</a:t>
            </a:r>
          </a:p>
        </p:txBody>
      </p:sp>
    </p:spTree>
    <p:extLst>
      <p:ext uri="{BB962C8B-B14F-4D97-AF65-F5344CB8AC3E}">
        <p14:creationId xmlns:p14="http://schemas.microsoft.com/office/powerpoint/2010/main" val="68173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s-IS">
                <a:latin typeface="Arial Black" panose="020B0A04020102020204" pitchFamily="34" charset="0"/>
              </a:rPr>
              <a:t>Martin Luther King jr.</a:t>
            </a:r>
          </a:p>
        </p:txBody>
      </p:sp>
      <p:sp>
        <p:nvSpPr>
          <p:cNvPr id="3" name="Content Placeholder 2"/>
          <p:cNvSpPr>
            <a:spLocks noGrp="1"/>
          </p:cNvSpPr>
          <p:nvPr>
            <p:ph idx="1"/>
          </p:nvPr>
        </p:nvSpPr>
        <p:spPr>
          <a:xfrm>
            <a:off x="838200" y="1825625"/>
            <a:ext cx="7375634" cy="4417520"/>
          </a:xfrm>
        </p:spPr>
        <p:txBody>
          <a:bodyPr>
            <a:normAutofit/>
          </a:bodyPr>
          <a:lstStyle/>
          <a:p>
            <a:pPr marL="0" indent="0">
              <a:buNone/>
            </a:pPr>
            <a:r>
              <a:rPr lang="is-IS" sz="1800" b="1">
                <a:latin typeface="Arial" panose="020B0604020202020204" pitchFamily="34" charset="0"/>
                <a:cs typeface="Arial" panose="020B0604020202020204" pitchFamily="34" charset="0"/>
              </a:rPr>
              <a:t>Martin Luther King Jr. </a:t>
            </a:r>
            <a:r>
              <a:rPr lang="is-IS" sz="1800">
                <a:latin typeface="Arial" panose="020B0604020202020204" pitchFamily="34" charset="0"/>
                <a:cs typeface="Arial" panose="020B0604020202020204" pitchFamily="34" charset="0"/>
              </a:rPr>
              <a:t>(1929-1968) var </a:t>
            </a:r>
            <a:r>
              <a:rPr lang="is-IS" sz="1800" b="1">
                <a:latin typeface="Arial" panose="020B0604020202020204" pitchFamily="34" charset="0"/>
                <a:cs typeface="Arial" panose="020B0604020202020204" pitchFamily="34" charset="0"/>
              </a:rPr>
              <a:t>bandarískur</a:t>
            </a:r>
            <a:r>
              <a:rPr lang="is-IS" sz="1800">
                <a:latin typeface="Arial" panose="020B0604020202020204" pitchFamily="34" charset="0"/>
                <a:cs typeface="Arial" panose="020B0604020202020204" pitchFamily="34" charset="0"/>
              </a:rPr>
              <a:t> baptista prestur og mannréttindafrömuður, sérstaklega réttindabaráttu svartra í Bandaríkjunum. Hann vakti fyrst athygli fyrir að leiða mótmæli í tengslum við það það þegar </a:t>
            </a:r>
            <a:r>
              <a:rPr lang="is-IS" sz="1800" b="1">
                <a:latin typeface="Arial" panose="020B0604020202020204" pitchFamily="34" charset="0"/>
                <a:cs typeface="Arial" panose="020B0604020202020204" pitchFamily="34" charset="0"/>
              </a:rPr>
              <a:t>Rosa Parks </a:t>
            </a:r>
            <a:r>
              <a:rPr lang="is-IS" sz="1800">
                <a:latin typeface="Arial" panose="020B0604020202020204" pitchFamily="34" charset="0"/>
                <a:cs typeface="Arial" panose="020B0604020202020204" pitchFamily="34" charset="0"/>
              </a:rPr>
              <a:t>settist í sæti „hvítra“ í strætisvagni í </a:t>
            </a:r>
            <a:r>
              <a:rPr lang="is-IS" sz="1800" b="1">
                <a:latin typeface="Arial" panose="020B0604020202020204" pitchFamily="34" charset="0"/>
                <a:cs typeface="Arial" panose="020B0604020202020204" pitchFamily="34" charset="0"/>
              </a:rPr>
              <a:t>Montgomery</a:t>
            </a:r>
            <a:r>
              <a:rPr lang="is-IS" sz="1800">
                <a:latin typeface="Arial" panose="020B0604020202020204" pitchFamily="34" charset="0"/>
                <a:cs typeface="Arial" panose="020B0604020202020204" pitchFamily="34" charset="0"/>
              </a:rPr>
              <a:t> í </a:t>
            </a:r>
            <a:r>
              <a:rPr lang="is-IS" sz="1800" b="1">
                <a:latin typeface="Arial" panose="020B0604020202020204" pitchFamily="34" charset="0"/>
                <a:cs typeface="Arial" panose="020B0604020202020204" pitchFamily="34" charset="0"/>
              </a:rPr>
              <a:t>Alabama</a:t>
            </a:r>
            <a:r>
              <a:rPr lang="is-IS" sz="1800">
                <a:latin typeface="Arial" panose="020B0604020202020204" pitchFamily="34" charset="0"/>
                <a:cs typeface="Arial" panose="020B0604020202020204" pitchFamily="34" charset="0"/>
              </a:rPr>
              <a:t>. Árið 1963 leiddi hann </a:t>
            </a:r>
            <a:r>
              <a:rPr lang="is-IS" sz="1800" b="1">
                <a:latin typeface="Arial" panose="020B0604020202020204" pitchFamily="34" charset="0"/>
                <a:cs typeface="Arial" panose="020B0604020202020204" pitchFamily="34" charset="0"/>
              </a:rPr>
              <a:t>Gönguna til Washington </a:t>
            </a:r>
            <a:r>
              <a:rPr lang="is-IS" sz="1800">
                <a:latin typeface="Arial" panose="020B0604020202020204" pitchFamily="34" charset="0"/>
                <a:cs typeface="Arial" panose="020B0604020202020204" pitchFamily="34" charset="0"/>
              </a:rPr>
              <a:t>(March on Washington) þar sem hann hélt sína frægu ræðu: I have a Dream eða </a:t>
            </a:r>
            <a:r>
              <a:rPr lang="is-IS" sz="1800" b="1">
                <a:latin typeface="Arial" panose="020B0604020202020204" pitchFamily="34" charset="0"/>
                <a:cs typeface="Arial" panose="020B0604020202020204" pitchFamily="34" charset="0"/>
              </a:rPr>
              <a:t>Ég á mér draum</a:t>
            </a:r>
            <a:r>
              <a:rPr lang="is-IS" sz="1800">
                <a:latin typeface="Arial" panose="020B0604020202020204" pitchFamily="34" charset="0"/>
                <a:cs typeface="Arial" panose="020B0604020202020204" pitchFamily="34" charset="0"/>
              </a:rPr>
              <a:t>. Fyrir ofbeldislausa réttindabaráttu sína hlaut hann </a:t>
            </a:r>
            <a:r>
              <a:rPr lang="is-IS" sz="1800" b="1">
                <a:latin typeface="Arial" panose="020B0604020202020204" pitchFamily="34" charset="0"/>
                <a:cs typeface="Arial" panose="020B0604020202020204" pitchFamily="34" charset="0"/>
              </a:rPr>
              <a:t>Friðarverðlaun Nóbels </a:t>
            </a:r>
            <a:r>
              <a:rPr lang="is-IS" sz="1800">
                <a:latin typeface="Arial" panose="020B0604020202020204" pitchFamily="34" charset="0"/>
                <a:cs typeface="Arial" panose="020B0604020202020204" pitchFamily="34" charset="0"/>
              </a:rPr>
              <a:t>árið 1964.</a:t>
            </a:r>
          </a:p>
          <a:p>
            <a:pPr marL="0" indent="0">
              <a:buNone/>
            </a:pPr>
            <a:r>
              <a:rPr lang="is-IS" sz="1800">
                <a:latin typeface="Arial" panose="020B0604020202020204" pitchFamily="34" charset="0"/>
                <a:cs typeface="Arial" panose="020B0604020202020204" pitchFamily="34" charset="0"/>
              </a:rPr>
              <a:t>Þann 4. apríl 1968 var hann </a:t>
            </a:r>
            <a:r>
              <a:rPr lang="is-IS" sz="1800" b="1">
                <a:latin typeface="Arial" panose="020B0604020202020204" pitchFamily="34" charset="0"/>
                <a:cs typeface="Arial" panose="020B0604020202020204" pitchFamily="34" charset="0"/>
              </a:rPr>
              <a:t>skotinn</a:t>
            </a:r>
            <a:r>
              <a:rPr lang="is-IS" sz="1800">
                <a:latin typeface="Arial" panose="020B0604020202020204" pitchFamily="34" charset="0"/>
                <a:cs typeface="Arial" panose="020B0604020202020204" pitchFamily="34" charset="0"/>
              </a:rPr>
              <a:t> til bana í </a:t>
            </a:r>
            <a:r>
              <a:rPr lang="is-IS" sz="1800" b="1">
                <a:latin typeface="Arial" panose="020B0604020202020204" pitchFamily="34" charset="0"/>
                <a:cs typeface="Arial" panose="020B0604020202020204" pitchFamily="34" charset="0"/>
              </a:rPr>
              <a:t>Memphis Teennessee</a:t>
            </a:r>
            <a:r>
              <a:rPr lang="is-IS" sz="1800">
                <a:latin typeface="Arial" panose="020B0604020202020204" pitchFamily="34" charset="0"/>
                <a:cs typeface="Arial" panose="020B0604020202020204" pitchFamily="34" charset="0"/>
              </a:rPr>
              <a:t>. </a:t>
            </a:r>
            <a:r>
              <a:rPr lang="is-IS" sz="1800" b="1">
                <a:latin typeface="Arial" panose="020B0604020202020204" pitchFamily="34" charset="0"/>
                <a:cs typeface="Arial" panose="020B0604020202020204" pitchFamily="34" charset="0"/>
              </a:rPr>
              <a:t>James Earl Ray </a:t>
            </a:r>
            <a:r>
              <a:rPr lang="is-IS" sz="1800">
                <a:latin typeface="Arial" panose="020B0604020202020204" pitchFamily="34" charset="0"/>
                <a:cs typeface="Arial" panose="020B0604020202020204" pitchFamily="34" charset="0"/>
              </a:rPr>
              <a:t>var dæmdur fyrir morðið. Bandaríkjamenn minnast hans þriðja mánudaginn í janúar, Martin Luther King day.</a:t>
            </a:r>
          </a:p>
        </p:txBody>
      </p:sp>
      <p:pic>
        <p:nvPicPr>
          <p:cNvPr id="11266" name="Picture 2" descr="Martin Luther King, J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944" y="1411178"/>
            <a:ext cx="3539162" cy="5005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421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51</Slides>
  <Notes>0</Notes>
  <HiddenSlides>0</HiddenSlide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Office Theme</vt:lpstr>
      <vt:lpstr>50 ÁHRIFAMIKLIR  EINSTAKLINGAR Í SÖGUNNI</vt:lpstr>
      <vt:lpstr>Sókrates</vt:lpstr>
      <vt:lpstr>Platón</vt:lpstr>
      <vt:lpstr>Aristóteles</vt:lpstr>
      <vt:lpstr>Alexander mikli</vt:lpstr>
      <vt:lpstr>Hannibal</vt:lpstr>
      <vt:lpstr>Júlíus Sesar</vt:lpstr>
      <vt:lpstr>Ágústus</vt:lpstr>
      <vt:lpstr>Jesús kristur</vt:lpstr>
      <vt:lpstr>Múhameð</vt:lpstr>
      <vt:lpstr>Búddha</vt:lpstr>
      <vt:lpstr>Atli Húnakonungur</vt:lpstr>
      <vt:lpstr>Karlamagnús</vt:lpstr>
      <vt:lpstr>Djengis Khan</vt:lpstr>
      <vt:lpstr>Jóhannes Gutenberg</vt:lpstr>
      <vt:lpstr>Jóhanna af Örk</vt:lpstr>
      <vt:lpstr>Vasco da Gama</vt:lpstr>
      <vt:lpstr>Kristófer Kólumbus</vt:lpstr>
      <vt:lpstr>Leonardo Da Vinci</vt:lpstr>
      <vt:lpstr>Michelangelo</vt:lpstr>
      <vt:lpstr>Marteinn Lúther</vt:lpstr>
      <vt:lpstr>Elísabet I</vt:lpstr>
      <vt:lpstr>Galileo Galilei</vt:lpstr>
      <vt:lpstr>Loðvík XIV</vt:lpstr>
      <vt:lpstr>Isaac Newton</vt:lpstr>
      <vt:lpstr>Pétur mikli</vt:lpstr>
      <vt:lpstr>Katrín II mikla</vt:lpstr>
      <vt:lpstr>George Washington </vt:lpstr>
      <vt:lpstr>Wolfgang Amadeus Mozart</vt:lpstr>
      <vt:lpstr>Maximilien de Robespierre</vt:lpstr>
      <vt:lpstr>Napóleon Bónaparte</vt:lpstr>
      <vt:lpstr>Ludwig van Beethoven</vt:lpstr>
      <vt:lpstr>Garibaldi</vt:lpstr>
      <vt:lpstr>Charles Darwin</vt:lpstr>
      <vt:lpstr>Otto von Bismarck</vt:lpstr>
      <vt:lpstr>James Maxwell</vt:lpstr>
      <vt:lpstr>Marie Curie</vt:lpstr>
      <vt:lpstr>Mohandas Gandhi</vt:lpstr>
      <vt:lpstr>Vladimir Lenin </vt:lpstr>
      <vt:lpstr>Roald Amundsen</vt:lpstr>
      <vt:lpstr>Winston Churchill</vt:lpstr>
      <vt:lpstr>Josef Stalín</vt:lpstr>
      <vt:lpstr>Albert Einstein</vt:lpstr>
      <vt:lpstr>Pablo Picasso</vt:lpstr>
      <vt:lpstr>Benito Mussolini </vt:lpstr>
      <vt:lpstr>Adolf Hitler</vt:lpstr>
      <vt:lpstr>Charles de Gaulle</vt:lpstr>
      <vt:lpstr>Mao Zedong (Kína)</vt:lpstr>
      <vt:lpstr>John F. Kennedy </vt:lpstr>
      <vt:lpstr>Nelson Mandela</vt:lpstr>
      <vt:lpstr>Martin Luther King jr.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 ÁHRIFAMIKLAR  PERSÓNUR Í SÖGUNNI</dc:title>
  <dc:creator>Sigurlaugur Ingólfsson</dc:creator>
  <cp:revision>8</cp:revision>
  <dcterms:created xsi:type="dcterms:W3CDTF">2020-10-27T00:08:29Z</dcterms:created>
  <dcterms:modified xsi:type="dcterms:W3CDTF">2025-12-04T17:13:11Z</dcterms:modified>
</cp:coreProperties>
</file>